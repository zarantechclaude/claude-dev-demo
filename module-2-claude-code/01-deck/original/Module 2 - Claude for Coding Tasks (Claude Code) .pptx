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1" y="3333132"/>
            <a:ext cx="9226185" cy="2410822"/>
            <a:chOff x="9645114" y="217380"/>
            <a:chExt cx="9371989" cy="241082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4" y="217380"/>
              <a:ext cx="9371989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Claude for Coding Tasks (Claude Code) 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2214596"/>
              <a:ext cx="3735772" cy="413606"/>
              <a:chOff x="9870618" y="2813623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2813623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2827271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531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Welcome to Module Two focusing on Claude for coding tasks and workflows.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how Claude Code accelerates modern software development and improves project outcomes.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to establish productive workflows for coding, refactoring, and generating thorough documentation.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essential techniques to streamline complex coding processes using advanced AI capabilities.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Productive Coding Workflows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the fundamental overview of Claude Code for modern software engineering projects.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 how AI-assisted development drastically reduces time spent on repetitive boilerplate coding.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Integrate code-focused workflows directly into your existing development environment with minimal friction.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Unlock higher developer productivity by automating routine project setup and scaffolding tasks.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Overview of Claude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502391" y="2446064"/>
            <a:ext cx="1068376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Code functions as an intelligent partner for your daily complex programming challenges.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navigates sophisticated codebases quickly to identify potential bugs and logical errors.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specialized prompt engineering to extract optimized code solutions from the language model.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Seamlessly transition from basic scripting tasks to designing enterprise-level software architecture systems.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71695" y="2446064"/>
            <a:ext cx="5550802" cy="4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Organizing Project Context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476592" y="2205945"/>
            <a:ext cx="14858611" cy="1382806"/>
            <a:chOff x="2292567" y="3922998"/>
            <a:chExt cx="13991635" cy="1583760"/>
          </a:xfrm>
        </p:grpSpPr>
        <p:sp>
          <p:nvSpPr>
            <p:cNvPr id="168" name="Google Shape;168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Context organization is critical for ensuring Claude generates accurate and highly relevant code.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76592" y="4110306"/>
            <a:ext cx="14858611" cy="1382806"/>
            <a:chOff x="2292567" y="5702612"/>
            <a:chExt cx="13991635" cy="1583760"/>
          </a:xfrm>
        </p:grpSpPr>
        <p:sp>
          <p:nvSpPr>
            <p:cNvPr id="171" name="Google Shape;171;p18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Share relevant project files and code snippets clearly using proper structural markdown formatting.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476592" y="6014667"/>
            <a:ext cx="14858611" cy="1382806"/>
            <a:chOff x="2292567" y="7564986"/>
            <a:chExt cx="13991635" cy="1583760"/>
          </a:xfrm>
        </p:grpSpPr>
        <p:sp>
          <p:nvSpPr>
            <p:cNvPr id="174" name="Google Shape;174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Avoid overwhelming the model by providing only the strictly necessary files and functions.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77" name="Google Shape;177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Define directory structures clearly so the AI understands your overarching application architecture layout.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Effective File Sharing Strategies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7" name="Google Shape;187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858692" y="399089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clear and descriptive file naming conventions when passing multiple documents for context.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58692" y="24065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Upload highly focused code snippets rather than entire unrelated directories to maintain clarity.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858692" y="5575258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Highlight specific script line numbers or functions where you want Claude to focus.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754532" y="71596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sample input and output data alongside your shared codebase for better context.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Giving the Big Picture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1" name="Google Shape;201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477775" y="2104355"/>
            <a:ext cx="17019300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Supply architecture notes early to align Claude with your overarching project design patterns.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your main README file to establish the core project purpose and dependencies.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Explain your chosen technology stack and framework versions to prevent outdated code suggestions.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overarching business logic rules to ensure generated code precisely meets domain requirements.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753" y="4890707"/>
            <a:ext cx="517207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Context Best Practices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1447801" y="247560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Combine system architecture diagrams with descriptive text to build stronger contextual AI understanding.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474557" y="2482332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Remind Claude of critical security constraints before asking for backend system logic generation.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807795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Explicitly state any strict coding standards or styling guides your development team follows.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1824767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Regularly reset the conversation context if the programming topic shifts entirely in direction.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Code Generation and Refactoring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7" name="Google Shape;227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2"/>
          <p:cNvSpPr txBox="1"/>
          <p:nvPr/>
        </p:nvSpPr>
        <p:spPr>
          <a:xfrm>
            <a:off x="502391" y="2294510"/>
            <a:ext cx="104704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Transition directly from design specifications into highly functional code using AI generation tools.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Explore practical strategies for safely modernizing and refactoring fragile legacy software architecture systems.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the key differences between language-agnostic logic patterns and highly specific syntax features.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Accelerate component creation by translating user stories into ready-to-deploy frontend and backend elements.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98696" y="2379235"/>
            <a:ext cx="56959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Code from Specs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9" name="Google Shape;239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3"/>
          <p:cNvSpPr txBox="1"/>
          <p:nvPr/>
        </p:nvSpPr>
        <p:spPr>
          <a:xfrm>
            <a:off x="6808818" y="2817281"/>
            <a:ext cx="1048582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detailed technical specifications directly into Claude to quickly scaffold new class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 plain English user stories into complete and functional software components effortlessly today.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generate multiple implementation options to choose the best architectural approach.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strict input parameters and expected return types to ensure highly precise generation.</a:t>
            </a:r>
            <a:endParaRPr/>
          </a:p>
        </p:txBody>
      </p:sp>
      <p:grpSp>
        <p:nvGrpSpPr>
          <p:cNvPr id="242" name="Google Shape;242;p23"/>
          <p:cNvGrpSpPr/>
          <p:nvPr/>
        </p:nvGrpSpPr>
        <p:grpSpPr>
          <a:xfrm>
            <a:off x="323850" y="2204656"/>
            <a:ext cx="5756909" cy="5509500"/>
            <a:chOff x="323850" y="2204656"/>
            <a:chExt cx="5756909" cy="5509500"/>
          </a:xfrm>
        </p:grpSpPr>
        <p:pic>
          <p:nvPicPr>
            <p:cNvPr id="243" name="Google Shape;24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390" y="2204656"/>
              <a:ext cx="5578369" cy="55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3"/>
            <p:cNvSpPr/>
            <p:nvPr/>
          </p:nvSpPr>
          <p:spPr>
            <a:xfrm>
              <a:off x="323850" y="2204656"/>
              <a:ext cx="819150" cy="8125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Component Creation Strategies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3" name="Google Shape;253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24"/>
          <p:cNvSpPr txBox="1"/>
          <p:nvPr/>
        </p:nvSpPr>
        <p:spPr>
          <a:xfrm>
            <a:off x="502391" y="2275022"/>
            <a:ext cx="1063910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Break down massive monolithic features into smaller manageable components before requesting AI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reusable frontend UI elements by comprehensively describing the desired state and props.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include necessary error handling logic during the initial code generation.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Iteratively refine the generated output by providing highly specific feedback on failed tests.</a:t>
            </a:r>
            <a:endParaRPr/>
          </a:p>
        </p:txBody>
      </p:sp>
      <p:pic>
        <p:nvPicPr>
          <p:cNvPr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4816" y="2078759"/>
            <a:ext cx="66294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Refactoring Legacy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25"/>
          <p:cNvSpPr txBox="1"/>
          <p:nvPr/>
        </p:nvSpPr>
        <p:spPr>
          <a:xfrm>
            <a:off x="6808819" y="2377421"/>
            <a:ext cx="1048582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outdated legacy functions and ask Claude to modernize the programming syntax completely.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Improve overall code readability by requesting better variable naming and logical code grouping.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Extract complex nested conditionals into separate cleaner helper functions for much easier maintenance.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hidden performance bottlenecks and let the AI suggest optimized algorithmic structural alternatives.</a:t>
            </a:r>
            <a:endParaRPr/>
          </a:p>
        </p:txBody>
      </p:sp>
      <p:pic>
        <p:nvPicPr>
          <p:cNvPr id="268" name="Google Shape;2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573477"/>
            <a:ext cx="5668374" cy="3846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Improving Modularization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7" name="Google Shape;277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6"/>
          <p:cNvSpPr/>
          <p:nvPr/>
        </p:nvSpPr>
        <p:spPr>
          <a:xfrm>
            <a:off x="1187465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Deconstruct large monolithic classes into smaller isolated modules following strict single responsibility principles.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7970858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Claude to map out complicated dependency graphs before beginning extensive refactoring procedures.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4036735" y="5823196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Request architectural suggestions to decouple tightly integrated components within your older legacy system.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11034196" y="5807635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Ensure backward compatibility while transitioning logic into modern microservice-oriented architectural design patterns.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Implementing Design Patterns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91" name="Google Shape;291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27"/>
          <p:cNvSpPr txBox="1"/>
          <p:nvPr/>
        </p:nvSpPr>
        <p:spPr>
          <a:xfrm>
            <a:off x="502391" y="2167708"/>
            <a:ext cx="103688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refactor repetitive code blocks using established structural and behavioral patterns.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 the factory or singleton pattern correctly to optimize complex resource management issues.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basic procedural scripts into robust object-oriented systems with clear inheritance hierarchy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that newly applied design patterns align perfectly with your specific project requirements.</a:t>
            </a:r>
            <a:endParaRPr/>
          </a:p>
        </p:txBody>
      </p:sp>
      <p:pic>
        <p:nvPicPr>
          <p:cNvPr id="294" name="Google Shape;29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6984" y="1902788"/>
            <a:ext cx="5146358" cy="509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Language-Agnostic Patterns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3" name="Google Shape;303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28"/>
          <p:cNvSpPr txBox="1"/>
          <p:nvPr/>
        </p:nvSpPr>
        <p:spPr>
          <a:xfrm>
            <a:off x="7223053" y="2513473"/>
            <a:ext cx="1033703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Focus on core algorithmic logic that applies uniformly across multiple different programming languages.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high-level system design concepts before writing complex syntax for a specific framework.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simple pseudo-code to design complex business logic with Claude before implementation begins.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Translate core algorithmic logic between different paradigms like functional and object-oriented programming approaches.</a:t>
            </a:r>
            <a:endParaRPr/>
          </a:p>
        </p:txBody>
      </p:sp>
      <p:pic>
        <p:nvPicPr>
          <p:cNvPr id="306" name="Google Shape;3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64777"/>
            <a:ext cx="6071127" cy="4693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Language-Specific Tips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5" name="Google Shape;315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29"/>
          <p:cNvSpPr/>
          <p:nvPr/>
        </p:nvSpPr>
        <p:spPr>
          <a:xfrm>
            <a:off x="809580" y="2393282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Leverage Python list comprehensions and generators for highly concise and memory-efficient data processing.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809580" y="3935593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advanced JavaScript asynchronous patterns to handle complex remote API fetching scenarios effectively.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809580" y="5477904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strong typing and interface definitions when generating robust enterprise-level Java server applications.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809583" y="7020211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for language-specific standard library functions instead of writing unnecessary custom utilities.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Documentation and Tests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9" name="Google Shape;329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30"/>
          <p:cNvSpPr txBox="1"/>
          <p:nvPr/>
        </p:nvSpPr>
        <p:spPr>
          <a:xfrm>
            <a:off x="502391" y="2234258"/>
            <a:ext cx="10342624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 the creation of comprehensive documentation to keep your development teams perfectly aligned.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extensive unit and integration tests to proactively ensure software reliability and stability.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 practical strategies to maintain absolute consistency between deployed code and project documentation.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developer fatigue by offloading tedious code commenting and testing tasks to AI.</a:t>
            </a:r>
            <a:endParaRPr/>
          </a:p>
        </p:txBody>
      </p:sp>
      <p:pic>
        <p:nvPicPr>
          <p:cNvPr id="332" name="Google Shape;33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23332" y="2023231"/>
            <a:ext cx="6058249" cy="470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Auto-Generating Documentation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41" name="Google Shape;341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31"/>
          <p:cNvSpPr/>
          <p:nvPr/>
        </p:nvSpPr>
        <p:spPr>
          <a:xfrm>
            <a:off x="1525845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Instantly generate precise docstrings for complex mathematical functions and highly intricate business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8948470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Produce helpful inline code comments that thoroughly explain reasoning behind complex algorithmic choices.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4486633" y="6050117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structured README sections detailing required installation steps and critical configuration requirements.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11704370" y="6007744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comprehensive API reference documentation based on your newly defined routing architecture files.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Structuring the README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5" name="Google Shape;355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32"/>
          <p:cNvSpPr txBox="1"/>
          <p:nvPr/>
        </p:nvSpPr>
        <p:spPr>
          <a:xfrm>
            <a:off x="6122793" y="2530719"/>
            <a:ext cx="10695603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systematically organize your README with clear prerequisites and deployment instructions.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Automatically extract package dependencies from configuration files to generate accurate environment setup guides.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highly engaging project overviews that help new contributors completely understand the mission.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incredibly clear troubleshooting sections based on common syntax errors found during development.</a:t>
            </a:r>
            <a:endParaRPr/>
          </a:p>
        </p:txBody>
      </p:sp>
      <p:pic>
        <p:nvPicPr>
          <p:cNvPr id="358" name="Google Shape;35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59330"/>
            <a:ext cx="5121169" cy="462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Unit Tests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7" name="Google Shape;367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33"/>
          <p:cNvSpPr txBox="1"/>
          <p:nvPr/>
        </p:nvSpPr>
        <p:spPr>
          <a:xfrm>
            <a:off x="502391" y="2446064"/>
            <a:ext cx="1086664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Submit complex individual functions to Claude to generate incredibly comprehensive and isolated tests.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tests proactively cover standard inputs alongside unexpected edge cases and boundary conditions.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automated mock objects to easily simulate external database connections or API responses.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Specify your preferred modern testing framework like PyTest or Jest for accurate syntax.</a:t>
            </a:r>
            <a:endParaRPr/>
          </a:p>
        </p:txBody>
      </p:sp>
      <p:pic>
        <p:nvPicPr>
          <p:cNvPr id="370" name="Google Shape;37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8771" y="2487926"/>
            <a:ext cx="50958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Integration Tests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9" name="Google Shape;379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34"/>
          <p:cNvSpPr/>
          <p:nvPr/>
        </p:nvSpPr>
        <p:spPr>
          <a:xfrm>
            <a:off x="861347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 robust integration tests that verify critical interactions between multiple independent software modules.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8138952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Verify that specific API endpoints correctly process web requests and update database records.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3238459" y="5875523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Claude to intelligently simulate complex user flows directly through your frontend components.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10783356" y="5875522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 automated setup and teardown scripts to consistently maintain a clean testing environment.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Maintaining Consistency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93" name="Google Shape;393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35"/>
          <p:cNvSpPr/>
          <p:nvPr/>
        </p:nvSpPr>
        <p:spPr>
          <a:xfrm>
            <a:off x="1343220" y="25721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Regularly feed updated source code back into Claude to accurately refresh outdated documentation.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1343220" y="4143071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automated verification checks to ensure that text comments match underlying function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1343220" y="5714038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that generated software test cases accurately reflect the latest agile story requirements.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1343220" y="72850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synchronized workflows where source code changes immediately trigger targeted documentation update prompts.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7" name="Google Shape;407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36"/>
          <p:cNvSpPr txBox="1"/>
          <p:nvPr/>
        </p:nvSpPr>
        <p:spPr>
          <a:xfrm>
            <a:off x="502391" y="2227530"/>
            <a:ext cx="9937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Established highly effective workflows by correctly organizing context and sharing the big picture.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Generated entirely new software components and expertly refactored legacy code using AI techniques.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Applied both language-agnostic foundational logic and language-specific framework features to optimize performance.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Automated comprehensive project documentation and rigorous testing to maintain high-quality coding standards.</a:t>
            </a:r>
            <a:endParaRPr/>
          </a:p>
        </p:txBody>
      </p:sp>
      <p:pic>
        <p:nvPicPr>
          <p:cNvPr id="410" name="Google Shape;41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368" y="2317993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17" name="Google Shape;417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18" name="Google Shape;418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