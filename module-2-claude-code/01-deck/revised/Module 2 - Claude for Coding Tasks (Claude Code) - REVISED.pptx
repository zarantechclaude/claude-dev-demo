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81" r:id="rId39"/>
    <p:sldId id="259" r:id="rId9"/>
    <p:sldId id="260" r:id="rId10"/>
    <p:sldId id="261" r:id="rId11"/>
    <p:sldId id="282" r:id="rId40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10287000" cx="18288000"/>
  <p:notesSz cx="6858000" cy="9144000"/>
  <p:embeddedFontLst>
    <p:embeddedFont>
      <p:font typeface="Lato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font" Target="fonts/Lato-regular.fntdata"/><Relationship Id="rId32" Type="http://schemas.openxmlformats.org/officeDocument/2006/relationships/font" Target="fonts/Lato-bold.fntdata"/><Relationship Id="rId33" Type="http://schemas.openxmlformats.org/officeDocument/2006/relationships/font" Target="fonts/Lato-italic.fntdata"/><Relationship Id="rId34" Type="http://schemas.openxmlformats.org/officeDocument/2006/relationships/font" Target="fonts/Lato-boldItalic.fntdata"/><Relationship Id="rId35" Type="http://schemas.openxmlformats.org/officeDocument/2006/relationships/font" Target="fonts/OpenSans-regular.fntdata"/><Relationship Id="rId36" Type="http://schemas.openxmlformats.org/officeDocument/2006/relationships/font" Target="fonts/OpenSans-bold.fntdata"/><Relationship Id="rId37" Type="http://schemas.openxmlformats.org/officeDocument/2006/relationships/font" Target="fonts/OpenSans-italic.fntdata"/><Relationship Id="rId38" Type="http://schemas.openxmlformats.org/officeDocument/2006/relationships/font" Target="fonts/OpenSans-boldItalic.fntdata"/><Relationship Id="rId39" Type="http://schemas.openxmlformats.org/officeDocument/2006/relationships/slide" Target="slides/slide26.xml"/><Relationship Id="rId40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2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2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2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2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2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2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9" name="Google Shape;19;p2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20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2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3"/>
          <p:cNvGrpSpPr/>
          <p:nvPr/>
        </p:nvGrpSpPr>
        <p:grpSpPr>
          <a:xfrm>
            <a:off x="-448267" y="0"/>
            <a:ext cx="19123574" cy="10605878"/>
            <a:chOff x="0" y="0"/>
            <a:chExt cx="24451818" cy="13783818"/>
          </a:xfrm>
        </p:grpSpPr>
        <p:sp>
          <p:nvSpPr>
            <p:cNvPr id="93" name="Google Shape;93;p13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94" name="Google Shape;94;p13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13"/>
          <p:cNvGrpSpPr/>
          <p:nvPr/>
        </p:nvGrpSpPr>
        <p:grpSpPr>
          <a:xfrm>
            <a:off x="9395641" y="3333132"/>
            <a:ext cx="9226185" cy="2410822"/>
            <a:chOff x="9645114" y="217380"/>
            <a:chExt cx="9371989" cy="2410822"/>
          </a:xfrm>
        </p:grpSpPr>
        <p:sp>
          <p:nvSpPr>
            <p:cNvPr id="96" name="Google Shape;96;p13"/>
            <p:cNvSpPr txBox="1"/>
            <p:nvPr/>
          </p:nvSpPr>
          <p:spPr>
            <a:xfrm>
              <a:off x="9645114" y="217380"/>
              <a:ext cx="9371989" cy="190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00"/>
                <a:buFont typeface="Arial"/>
                <a:buNone/>
              </a:pPr>
              <a:r>
                <a:rPr b="1" i="0" lang="en-US" sz="6200" u="none" cap="none" strike="noStrike">
                  <a:solidFill>
                    <a:srgbClr val="FFC000"/>
                  </a:solidFill>
                  <a:latin typeface="Open Sans"/>
                  <a:ea typeface="Open Sans"/>
                  <a:cs typeface="Open Sans"/>
                  <a:sym typeface="Open Sans"/>
                </a:rPr>
                <a:t>Claude for Coding Tasks (Claude Code) </a:t>
              </a:r>
              <a:endParaRPr b="1" i="0" sz="62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97" name="Google Shape;97;p13"/>
            <p:cNvGrpSpPr/>
            <p:nvPr/>
          </p:nvGrpSpPr>
          <p:grpSpPr>
            <a:xfrm>
              <a:off x="9729879" y="2214596"/>
              <a:ext cx="3735772" cy="413606"/>
              <a:chOff x="9870618" y="2813623"/>
              <a:chExt cx="3735772" cy="413606"/>
            </a:xfrm>
          </p:grpSpPr>
          <p:sp>
            <p:nvSpPr>
              <p:cNvPr id="98" name="Google Shape;98;p13"/>
              <p:cNvSpPr txBox="1"/>
              <p:nvPr/>
            </p:nvSpPr>
            <p:spPr>
              <a:xfrm>
                <a:off x="10410190" y="2813623"/>
                <a:ext cx="31962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995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www.zarantech.com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9870618" y="2827271"/>
                <a:ext cx="381880" cy="399958"/>
              </a:xfrm>
              <a:custGeom>
                <a:rect b="b" l="l" r="r" t="t"/>
                <a:pathLst>
                  <a:path extrusionOk="0" h="399958" w="381880">
                    <a:moveTo>
                      <a:pt x="0" y="0"/>
                    </a:moveTo>
                    <a:lnTo>
                      <a:pt x="381880" y="0"/>
                    </a:lnTo>
                    <a:lnTo>
                      <a:pt x="381880" y="399958"/>
                    </a:lnTo>
                    <a:lnTo>
                      <a:pt x="0" y="399958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1">
                <a:blip r:embed="rId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</p:sp>
        </p:grpSp>
      </p:grpSp>
      <p:sp>
        <p:nvSpPr>
          <p:cNvPr id="100" name="Google Shape;100;p13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3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3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508831" y="-1"/>
            <a:ext cx="9255542" cy="1060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9144000" y="583020"/>
            <a:ext cx="9448800" cy="9710538"/>
          </a:xfrm>
          <a:custGeom>
            <a:rect b="b" l="l" r="r" t="t"/>
            <a:pathLst>
              <a:path extrusionOk="0" h="12689306" w="12689306">
                <a:moveTo>
                  <a:pt x="0" y="0"/>
                </a:moveTo>
                <a:lnTo>
                  <a:pt x="12689306" y="0"/>
                </a:lnTo>
                <a:lnTo>
                  <a:pt x="12689306" y="12689306"/>
                </a:lnTo>
                <a:lnTo>
                  <a:pt x="0" y="12689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28" l="-22357" r="-16672" t="-15062"/>
            </a:stretch>
          </a:blipFill>
          <a:ln>
            <a:noFill/>
          </a:ln>
        </p:spPr>
      </p:sp>
      <p:grpSp>
        <p:nvGrpSpPr>
          <p:cNvPr id="110" name="Google Shape;110;p14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11" name="Google Shape;111;p14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4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Disclaimer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323850" y="1460370"/>
            <a:ext cx="8820150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presentation, including examples, images, and references are provided for informational purposes only.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Complying with all applicable copyrights laws is the responsibility of the user.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Without limiting the rights under copyright, no part of this document may be  reproduced, stored or introduced into a retrieval system, or transmitted in any form or by any means.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Credits shall be given to the images taken from the open-source and cannot be used for promotional activities.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16" name="Google Shape;116;p1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17114219" y="9163493"/>
            <a:ext cx="34324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24" name="Google Shape;124;p15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15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02391" y="2066255"/>
            <a:ext cx="10209152" cy="5318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Welcome to Module Two focusing on Claude for coding tasks and workflows.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Discover how Claude Code accelerates modern software development and improves project outcomes.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Learn to establish productive workflows for coding, refactoring, and generating thorough documentation.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Master essential techniques to streamline complex coding processes using advanced AI capabilities.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10893284" y="-38176"/>
            <a:ext cx="7187978" cy="10325176"/>
          </a:xfrm>
          <a:custGeom>
            <a:rect b="b" l="l" r="r" t="t"/>
            <a:pathLst>
              <a:path extrusionOk="0" h="10325176" w="7187978">
                <a:moveTo>
                  <a:pt x="0" y="0"/>
                </a:moveTo>
                <a:lnTo>
                  <a:pt x="7187978" y="0"/>
                </a:lnTo>
                <a:lnTo>
                  <a:pt x="7187978" y="10325176"/>
                </a:lnTo>
                <a:lnTo>
                  <a:pt x="0" y="10325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30" name="Google Shape;130;p1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02391" y="1458435"/>
            <a:ext cx="2507429" cy="45719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5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Productive Coding Workflows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Understand the fundamental overview of Claude Code for modern software engineering projects.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Learn how AI-assisted development drastically reduces time spent on repetitive boilerplate coding.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Integrate code-focused workflows directly into your existing development environment with minimal friction.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Unlock higher developer productivity by automating routine project setup and scaffolding tasks.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Overview of Claude Code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53" name="Google Shape;153;p1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7"/>
          <p:cNvSpPr txBox="1"/>
          <p:nvPr/>
        </p:nvSpPr>
        <p:spPr>
          <a:xfrm>
            <a:off x="502391" y="2446064"/>
            <a:ext cx="1068376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 Code functions as an intelligent partner for your daily complex programming challenges.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navigates sophisticated codebases quickly to identify potential bugs and logical errors.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specialized prompt engineering to extract optimized code solutions from the language model.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Seamlessly transition from basic scripting tasks to designing enterprise-level software architecture systems.</a:t>
            </a:r>
            <a:endParaRPr/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71695" y="2446064"/>
            <a:ext cx="5550802" cy="42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Organizing Project Context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1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65" name="Google Shape;165;p1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7" name="Google Shape;167;p18"/>
          <p:cNvGrpSpPr/>
          <p:nvPr/>
        </p:nvGrpSpPr>
        <p:grpSpPr>
          <a:xfrm>
            <a:off x="1476592" y="2205945"/>
            <a:ext cx="14858611" cy="1382806"/>
            <a:chOff x="2292567" y="3922998"/>
            <a:chExt cx="13991635" cy="1583760"/>
          </a:xfrm>
        </p:grpSpPr>
        <p:sp>
          <p:nvSpPr>
            <p:cNvPr id="168" name="Google Shape;168;p18"/>
            <p:cNvSpPr/>
            <p:nvPr/>
          </p:nvSpPr>
          <p:spPr>
            <a:xfrm>
              <a:off x="2292567" y="3922998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2458402" y="4075398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Context organization is critical for ensuring Claude generates accurate and highly relevant code.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0" name="Google Shape;170;p18"/>
          <p:cNvGrpSpPr/>
          <p:nvPr/>
        </p:nvGrpSpPr>
        <p:grpSpPr>
          <a:xfrm>
            <a:off x="1476592" y="4110306"/>
            <a:ext cx="14858611" cy="1382806"/>
            <a:chOff x="2292567" y="5702612"/>
            <a:chExt cx="13991635" cy="1583760"/>
          </a:xfrm>
        </p:grpSpPr>
        <p:sp>
          <p:nvSpPr>
            <p:cNvPr id="171" name="Google Shape;171;p18"/>
            <p:cNvSpPr/>
            <p:nvPr/>
          </p:nvSpPr>
          <p:spPr>
            <a:xfrm>
              <a:off x="2292567" y="5702612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2458402" y="5855012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Let Claude Code read the repository directly rather than pasting files into a chat.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1476592" y="6014667"/>
            <a:ext cx="14858611" cy="1382806"/>
            <a:chOff x="2292567" y="7564986"/>
            <a:chExt cx="13991635" cy="1583760"/>
          </a:xfrm>
        </p:grpSpPr>
        <p:sp>
          <p:nvSpPr>
            <p:cNvPr id="174" name="Google Shape;174;p18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Avoid overwhelming the model by providing only the strictly necessary files and functions.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6" name="Google Shape;176;p18"/>
          <p:cNvGrpSpPr/>
          <p:nvPr/>
        </p:nvGrpSpPr>
        <p:grpSpPr>
          <a:xfrm>
            <a:off x="1476591" y="7919027"/>
            <a:ext cx="14858611" cy="1382806"/>
            <a:chOff x="2292567" y="7564986"/>
            <a:chExt cx="13991635" cy="1583760"/>
          </a:xfrm>
        </p:grpSpPr>
        <p:sp>
          <p:nvSpPr>
            <p:cNvPr id="177" name="Google Shape;177;p18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Define directory structures clearly so the AI understands your overarching application architecture layout.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/>
        </p:nvSpPr>
        <p:spPr>
          <a:xfrm>
            <a:off x="502391" y="637523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Effective File Sharing Strategies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1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87" name="Google Shape;187;p1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9"/>
          <p:cNvSpPr/>
          <p:nvPr/>
        </p:nvSpPr>
        <p:spPr>
          <a:xfrm>
            <a:off x="1858692" y="3990891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clear and descriptive file naming conventions when passing multiple documents for context.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1858692" y="2406524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Point Claude at the specific files that matter rather than the whole tree.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1858692" y="5575258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Highlight specific script line numbers or functions where you want Claude to focus.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1754532" y="7159624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Provide sample input and output data alongside your shared codebase for better context.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Giving the Big Picture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01" name="Google Shape;201;p2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20"/>
          <p:cNvSpPr txBox="1"/>
          <p:nvPr/>
        </p:nvSpPr>
        <p:spPr>
          <a:xfrm>
            <a:off x="477775" y="2104355"/>
            <a:ext cx="17019300" cy="214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Supply architecture notes early to align Claude with your overarching project design patterns.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Share your main README file to establish the core project purpose and dependencies.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Explain your chosen technology stack and framework versions to prevent outdated code suggestions.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Define overarching business logic rules to ensure generated code precisely meets domain requirements.</a:t>
            </a:r>
            <a:endParaRPr/>
          </a:p>
        </p:txBody>
      </p:sp>
      <p:pic>
        <p:nvPicPr>
          <p:cNvPr id="204" name="Google Shape;2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753" y="4890707"/>
            <a:ext cx="5172075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Context Best Practices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2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13" name="Google Shape;213;p2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21"/>
          <p:cNvSpPr/>
          <p:nvPr/>
        </p:nvSpPr>
        <p:spPr>
          <a:xfrm>
            <a:off x="1447801" y="247560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Combine system architecture diagrams with descriptive text to build stronger contextual AI understanding.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8474557" y="2482332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Remind Claude of critical security constraints before asking for backend system logic generation.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3807795" y="592708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Explicitly state any strict coding standards or styling guides your development team follows.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11824767" y="592708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Regularly reset the conversation context if the programming topic shifts entirely in direction.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Code Generation and Refactoring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5" name="Google Shape;225;p2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27" name="Google Shape;227;p2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22"/>
          <p:cNvSpPr txBox="1"/>
          <p:nvPr/>
        </p:nvSpPr>
        <p:spPr>
          <a:xfrm>
            <a:off x="502391" y="2294510"/>
            <a:ext cx="1047040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Transition directly from design specifications into highly functional code using AI generation tools.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Explore practical strategies for safely modernizing and refactoring fragile legacy software architecture systems.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Understand the key differences between language-agnostic logic patterns and highly specific syntax features.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Accelerate component creation by translating user stories into ready-to-deploy frontend and backend elements.</a:t>
            </a:r>
            <a:endParaRPr/>
          </a:p>
        </p:txBody>
      </p:sp>
      <p:pic>
        <p:nvPicPr>
          <p:cNvPr id="230" name="Google Shape;23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98696" y="2379235"/>
            <a:ext cx="569595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Generating Code from Specs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2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39" name="Google Shape;239;p2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23"/>
          <p:cNvSpPr txBox="1"/>
          <p:nvPr/>
        </p:nvSpPr>
        <p:spPr>
          <a:xfrm>
            <a:off x="6808818" y="2817281"/>
            <a:ext cx="10485827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detailed technical specifications directly into Claude to quickly scaffold new class structures.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Transform plain English user stories into complete and functional software components effortlessly today.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to generate multiple implementation options to choose the best architectural approach.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Provide strict input parameters and expected return types to ensure highly precise generation.</a:t>
            </a:r>
            <a:endParaRPr/>
          </a:p>
        </p:txBody>
      </p:sp>
      <p:grpSp>
        <p:nvGrpSpPr>
          <p:cNvPr id="242" name="Google Shape;242;p23"/>
          <p:cNvGrpSpPr/>
          <p:nvPr/>
        </p:nvGrpSpPr>
        <p:grpSpPr>
          <a:xfrm>
            <a:off x="323850" y="2204656"/>
            <a:ext cx="5756909" cy="5509500"/>
            <a:chOff x="323850" y="2204656"/>
            <a:chExt cx="5756909" cy="5509500"/>
          </a:xfrm>
        </p:grpSpPr>
        <p:pic>
          <p:nvPicPr>
            <p:cNvPr id="243" name="Google Shape;243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2390" y="2204656"/>
              <a:ext cx="5578369" cy="550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3"/>
            <p:cNvSpPr/>
            <p:nvPr/>
          </p:nvSpPr>
          <p:spPr>
            <a:xfrm>
              <a:off x="323850" y="2204656"/>
              <a:ext cx="819150" cy="8125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Component Creation Strategies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1" name="Google Shape;251;p2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53" name="Google Shape;253;p2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24"/>
          <p:cNvSpPr txBox="1"/>
          <p:nvPr/>
        </p:nvSpPr>
        <p:spPr>
          <a:xfrm>
            <a:off x="502391" y="2275022"/>
            <a:ext cx="1063910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Break down massive monolithic features into smaller manageable components before requesting AI code.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 reusable frontend UI elements by comprehensively describing the desired state and props.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Instruct Claude to include necessary error handling logic during the initial code generation.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Iteratively refine the generated output by providing highly specific feedback on failed tests.</a:t>
            </a:r>
            <a:endParaRPr/>
          </a:p>
        </p:txBody>
      </p:sp>
      <p:pic>
        <p:nvPicPr>
          <p:cNvPr id="256" name="Google Shape;25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34816" y="2078759"/>
            <a:ext cx="6629400" cy="46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Refactoring Legacy Code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3" name="Google Shape;263;p2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65" name="Google Shape;265;p2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25"/>
          <p:cNvSpPr txBox="1"/>
          <p:nvPr/>
        </p:nvSpPr>
        <p:spPr>
          <a:xfrm>
            <a:off x="6808819" y="2377421"/>
            <a:ext cx="10485827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for modernised syntax, and state explicitly what must not change.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Improve overall code readability by requesting better variable naming and logical code grouping.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Extract complex nested conditionals into separate cleaner helper functions for much easier maintenance.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Identify hidden performance bottlenecks and let the AI suggest optimized algorithmic structural alternatives.</a:t>
            </a:r>
            <a:endParaRPr/>
          </a:p>
        </p:txBody>
      </p:sp>
      <p:pic>
        <p:nvPicPr>
          <p:cNvPr id="268" name="Google Shape;26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573477"/>
            <a:ext cx="5668374" cy="3846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Improving Modularization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2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2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77" name="Google Shape;277;p2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26"/>
          <p:cNvSpPr/>
          <p:nvPr/>
        </p:nvSpPr>
        <p:spPr>
          <a:xfrm>
            <a:off x="1187465" y="2550262"/>
            <a:ext cx="6005815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Deconstruct large monolithic classes into smaller isolated modules following strict single responsibility principles.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7970858" y="2550262"/>
            <a:ext cx="6005815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Claude to map out complicated dependency graphs before beginning extensive refactoring procedures.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4036735" y="5823196"/>
            <a:ext cx="6005815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Request architectural suggestions to decouple tightly integrated components within your older legacy system.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11034196" y="5807635"/>
            <a:ext cx="6005815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Ensure backward compatibility while transitioning logic into modern microservice-oriented architectural design patterns.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Implementing Design Patterns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9" name="Google Shape;289;p2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2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91" name="Google Shape;291;p2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p27"/>
          <p:cNvSpPr txBox="1"/>
          <p:nvPr/>
        </p:nvSpPr>
        <p:spPr>
          <a:xfrm>
            <a:off x="502391" y="2167708"/>
            <a:ext cx="1036880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to refactor repetitive code blocks using established structural and behavioral patterns.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Apply the factory or singleton pattern correctly to optimize complex resource management issues.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Translate basic procedural scripts into robust object-oriented systems with clear inheritance hierarchy structures.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Validate that newly applied design patterns align perfectly with your specific project requirements.</a:t>
            </a:r>
            <a:endParaRPr/>
          </a:p>
        </p:txBody>
      </p:sp>
      <p:pic>
        <p:nvPicPr>
          <p:cNvPr id="294" name="Google Shape;29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16984" y="1902788"/>
            <a:ext cx="5146358" cy="5090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8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Language-Agnostic Patterns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1" name="Google Shape;301;p2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03" name="Google Shape;303;p2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28"/>
          <p:cNvSpPr txBox="1"/>
          <p:nvPr/>
        </p:nvSpPr>
        <p:spPr>
          <a:xfrm>
            <a:off x="7223053" y="2513473"/>
            <a:ext cx="1033703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Focus on core algorithmic logic that applies uniformly across multiple different programming languages.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Understand high-level system design concepts before writing complex syntax for a specific framework.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simple pseudo-code to design complex business logic with Claude before implementation begins.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Translate core algorithmic logic between different paradigms like functional and object-oriented programming approaches.</a:t>
            </a:r>
            <a:endParaRPr/>
          </a:p>
        </p:txBody>
      </p:sp>
      <p:pic>
        <p:nvPicPr>
          <p:cNvPr id="306" name="Google Shape;30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164777"/>
            <a:ext cx="6071127" cy="4693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9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Language-Specific Tips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3" name="Google Shape;313;p2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2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15" name="Google Shape;315;p2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7" name="Google Shape;317;p29"/>
          <p:cNvSpPr/>
          <p:nvPr/>
        </p:nvSpPr>
        <p:spPr>
          <a:xfrm>
            <a:off x="809580" y="2393282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Leverage Python list comprehensions and generators for highly concise and memory-efficient data processing.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809580" y="3935593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Utilize advanced JavaScript asynchronous patterns to handle complex remote API fetching scenarios effectively.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" name="Google Shape;319;p29"/>
          <p:cNvSpPr/>
          <p:nvPr/>
        </p:nvSpPr>
        <p:spPr>
          <a:xfrm>
            <a:off x="809580" y="5477904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strong typing and interface definitions when generating robust enterprise-level Java server applications.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809583" y="7020211"/>
            <a:ext cx="16668686" cy="119538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for language-specific standard library functions instead of writing unnecessary custom utilities.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Documentation and Tests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7" name="Google Shape;327;p3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8" name="Google Shape;328;p3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29" name="Google Shape;329;p3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1" name="Google Shape;331;p30"/>
          <p:cNvSpPr txBox="1"/>
          <p:nvPr/>
        </p:nvSpPr>
        <p:spPr>
          <a:xfrm>
            <a:off x="502391" y="2234258"/>
            <a:ext cx="10342624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Automate the creation of comprehensive documentation to keep your development teams perfectly aligned.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 extensive unit and integration tests to proactively ensure software reliability and stability.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Learn practical strategies to maintain absolute consistency between deployed code and project documentation.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Reduce developer fatigue by offloading tedious code commenting and testing tasks to AI.</a:t>
            </a:r>
            <a:endParaRPr/>
          </a:p>
        </p:txBody>
      </p:sp>
      <p:pic>
        <p:nvPicPr>
          <p:cNvPr id="332" name="Google Shape;33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23332" y="2023231"/>
            <a:ext cx="6058249" cy="4706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Auto-Generating Documentation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9" name="Google Shape;339;p3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0" name="Google Shape;340;p3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41" name="Google Shape;341;p3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p31"/>
          <p:cNvSpPr/>
          <p:nvPr/>
        </p:nvSpPr>
        <p:spPr>
          <a:xfrm>
            <a:off x="1525845" y="2400220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Instantly generate precise docstrings for complex mathematical functions and highly intricate business logic.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8948470" y="2400220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Produce helpful inline code comments that thoroughly explain reasoning behind complex algorithmic choices.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5" name="Google Shape;345;p31"/>
          <p:cNvSpPr/>
          <p:nvPr/>
        </p:nvSpPr>
        <p:spPr>
          <a:xfrm>
            <a:off x="4486633" y="6050117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Draft structured README sections detailing required installation steps and critical configuration requirements.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p31"/>
          <p:cNvSpPr/>
          <p:nvPr/>
        </p:nvSpPr>
        <p:spPr>
          <a:xfrm>
            <a:off x="11704370" y="6007744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Create comprehensive API reference documentation based on your newly defined routing architecture files.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Structuring the README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" name="Google Shape;353;p3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3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55" name="Google Shape;355;p3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7" name="Google Shape;357;p32"/>
          <p:cNvSpPr txBox="1"/>
          <p:nvPr/>
        </p:nvSpPr>
        <p:spPr>
          <a:xfrm>
            <a:off x="6122793" y="2530719"/>
            <a:ext cx="10695603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Instruct Claude to systematically organize your README with clear prerequisites and deployment instructions.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Automatically extract package dependencies from configuration files to generate accurate environment setup guides.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Draft highly engaging project overviews that help new contributors completely understand the mission.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 incredibly clear troubleshooting sections based on common syntax errors found during development.</a:t>
            </a:r>
            <a:endParaRPr/>
          </a:p>
        </p:txBody>
      </p:sp>
      <p:pic>
        <p:nvPicPr>
          <p:cNvPr id="358" name="Google Shape;35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359330"/>
            <a:ext cx="5121169" cy="462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Generating Unit Tests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5" name="Google Shape;365;p3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6" name="Google Shape;366;p3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67" name="Google Shape;367;p3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9" name="Google Shape;369;p33"/>
          <p:cNvSpPr txBox="1"/>
          <p:nvPr/>
        </p:nvSpPr>
        <p:spPr>
          <a:xfrm>
            <a:off x="502391" y="2446064"/>
            <a:ext cx="1086664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Submit complex individual functions to Claude to generate incredibly comprehensive and isolated tests.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tests proactively cover standard inputs alongside unexpected edge cases and boundary conditions.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 automated mock objects to easily simulate external database connections or API responses.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Specify your preferred modern testing framework like PyTest or Jest for accurate syntax.</a:t>
            </a:r>
            <a:endParaRPr/>
          </a:p>
        </p:txBody>
      </p:sp>
      <p:pic>
        <p:nvPicPr>
          <p:cNvPr id="370" name="Google Shape;37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98771" y="2487926"/>
            <a:ext cx="5095875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Generating Integration Tests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7" name="Google Shape;377;p3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" name="Google Shape;378;p3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79" name="Google Shape;379;p3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34"/>
          <p:cNvSpPr/>
          <p:nvPr/>
        </p:nvSpPr>
        <p:spPr>
          <a:xfrm>
            <a:off x="861347" y="2585558"/>
            <a:ext cx="6416040" cy="2690751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Design robust integration tests that verify critical interactions between multiple independent software modules.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8138952" y="2585558"/>
            <a:ext cx="6416040" cy="2690751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Verify that specific API endpoints correctly process web requests and update database records.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3238459" y="5875523"/>
            <a:ext cx="6416040" cy="2690751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Ask Claude to intelligently simulate complex user flows directly through your frontend components.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10783356" y="5875522"/>
            <a:ext cx="6416040" cy="2690751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Generate automated setup and teardown scripts to consistently maintain a clean testing environment.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Maintaining Consistency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3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2" name="Google Shape;392;p3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93" name="Google Shape;393;p3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5" name="Google Shape;395;p35"/>
          <p:cNvSpPr/>
          <p:nvPr/>
        </p:nvSpPr>
        <p:spPr>
          <a:xfrm>
            <a:off x="1343220" y="2572104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Regularly feed updated source code back into Claude to accurately refresh outdated documentation.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6" name="Google Shape;396;p35"/>
          <p:cNvSpPr/>
          <p:nvPr/>
        </p:nvSpPr>
        <p:spPr>
          <a:xfrm>
            <a:off x="1343220" y="4143071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automated verification checks to ensure that text comments match underlying function logic.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7" name="Google Shape;397;p35"/>
          <p:cNvSpPr/>
          <p:nvPr/>
        </p:nvSpPr>
        <p:spPr>
          <a:xfrm>
            <a:off x="1343220" y="5714038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that generated software test cases accurately reflect the latest agile story requirements.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8" name="Google Shape;398;p35"/>
          <p:cNvSpPr/>
          <p:nvPr/>
        </p:nvSpPr>
        <p:spPr>
          <a:xfrm>
            <a:off x="1343220" y="7285004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Create synchronized workflows where source code changes immediately trigger targeted documentation update prompts.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6" name="Google Shape;406;p3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407" name="Google Shape;407;p3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9" name="Google Shape;409;p36"/>
          <p:cNvSpPr txBox="1"/>
          <p:nvPr/>
        </p:nvSpPr>
        <p:spPr>
          <a:xfrm>
            <a:off x="502391" y="2227530"/>
            <a:ext cx="993700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Established highly effective workflows by correctly organizing context and sharing the big picture.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Generated entirely new software components and expertly refactored legacy code using AI techniques.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Applied both language-agnostic foundational logic and language-specific framework features to optimize performance.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Automated comprehensive project documentation and rigorous testing to maintain high-quality coding standards.</a:t>
            </a:r>
            <a:endParaRPr/>
          </a:p>
        </p:txBody>
      </p:sp>
      <p:pic>
        <p:nvPicPr>
          <p:cNvPr id="410" name="Google Shape;410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45368" y="2317993"/>
            <a:ext cx="5649278" cy="4193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" name="Google Shape;416;p37"/>
          <p:cNvGrpSpPr/>
          <p:nvPr/>
        </p:nvGrpSpPr>
        <p:grpSpPr>
          <a:xfrm>
            <a:off x="-378374" y="-159439"/>
            <a:ext cx="19123574" cy="10605878"/>
            <a:chOff x="0" y="0"/>
            <a:chExt cx="24451818" cy="13783818"/>
          </a:xfrm>
        </p:grpSpPr>
        <p:sp>
          <p:nvSpPr>
            <p:cNvPr id="417" name="Google Shape;417;p37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418" name="Google Shape;418;p37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9" name="Google Shape;419;p37"/>
          <p:cNvSpPr txBox="1"/>
          <p:nvPr/>
        </p:nvSpPr>
        <p:spPr>
          <a:xfrm>
            <a:off x="10582298" y="6464001"/>
            <a:ext cx="3196186" cy="453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www.zarantech.com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7"/>
          <p:cNvSpPr/>
          <p:nvPr/>
        </p:nvSpPr>
        <p:spPr>
          <a:xfrm>
            <a:off x="10134151" y="6485798"/>
            <a:ext cx="381880" cy="399958"/>
          </a:xfrm>
          <a:custGeom>
            <a:rect b="b" l="l" r="r" t="t"/>
            <a:pathLst>
              <a:path extrusionOk="0" h="399958" w="381880">
                <a:moveTo>
                  <a:pt x="0" y="0"/>
                </a:moveTo>
                <a:lnTo>
                  <a:pt x="381880" y="0"/>
                </a:lnTo>
                <a:lnTo>
                  <a:pt x="381880" y="399958"/>
                </a:lnTo>
                <a:lnTo>
                  <a:pt x="0" y="399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1" name="Google Shape;421;p37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2" name="Google Shape;422;p37"/>
          <p:cNvSpPr txBox="1"/>
          <p:nvPr/>
        </p:nvSpPr>
        <p:spPr>
          <a:xfrm>
            <a:off x="10134151" y="3262096"/>
            <a:ext cx="6115454" cy="2736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99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9958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For more informative Videos, Subscribe to our YouTube Channel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7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7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392265" y="-185528"/>
            <a:ext cx="9275007" cy="10628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Exercises in This Module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 4: Create a project context file for Claude Code. 12 minutes.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 5: Refactor a registration endpoint safely. 20 minutes.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 6: Add documentation and tests to undocumented code. 22 minutes.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module needs Claude Code installed locally. No API key yet.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The Project Context File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 Code reads a CLAUDE.md at your repository root automatically.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Put in it what a new colleague would need: stack, conventions, and what not to touch.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file beats a pasted message: it survives every session and it is version controlled.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Update it when the design changes, or the assistant keeps building the old shape.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 4 has you write one for a project of your own.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