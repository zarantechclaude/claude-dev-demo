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81" r:id="rId39"/>
    <p:sldId id="259" r:id="rId9"/>
    <p:sldId id="260" r:id="rId10"/>
    <p:sldId id="261" r:id="rId11"/>
    <p:sldId id="282" r:id="rId40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y="10287000" cx="18288000"/>
  <p:notesSz cx="6858000" cy="9144000"/>
  <p:embeddedFontLst>
    <p:embeddedFont>
      <p:font typeface="Lato"/>
      <p:regular r:id="rId31"/>
      <p:bold r:id="rId32"/>
      <p:italic r:id="rId33"/>
      <p:boldItalic r:id="rId34"/>
    </p:embeddedFont>
    <p:embeddedFont>
      <p:font typeface="Open Sans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font" Target="fonts/Lato-regular.fntdata"/><Relationship Id="rId32" Type="http://schemas.openxmlformats.org/officeDocument/2006/relationships/font" Target="fonts/Lato-bold.fntdata"/><Relationship Id="rId33" Type="http://schemas.openxmlformats.org/officeDocument/2006/relationships/font" Target="fonts/Lato-italic.fntdata"/><Relationship Id="rId34" Type="http://schemas.openxmlformats.org/officeDocument/2006/relationships/font" Target="fonts/Lato-boldItalic.fntdata"/><Relationship Id="rId35" Type="http://schemas.openxmlformats.org/officeDocument/2006/relationships/font" Target="fonts/OpenSans-regular.fntdata"/><Relationship Id="rId36" Type="http://schemas.openxmlformats.org/officeDocument/2006/relationships/font" Target="fonts/OpenSans-bold.fntdata"/><Relationship Id="rId37" Type="http://schemas.openxmlformats.org/officeDocument/2006/relationships/font" Target="fonts/OpenSans-italic.fntdata"/><Relationship Id="rId38" Type="http://schemas.openxmlformats.org/officeDocument/2006/relationships/font" Target="fonts/OpenSans-boldItalic.fntdata"/><Relationship Id="rId39" Type="http://schemas.openxmlformats.org/officeDocument/2006/relationships/slide" Target="slides/slide26.xml"/><Relationship Id="rId4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9" name="Google Shape;8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1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7" name="Google Shape;107;p2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0" name="Google Shape;12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3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p4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7" name="Google Shape;14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9" name="Google Shape;15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6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1" name="Google Shape;18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p7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5" name="Google Shape;19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p8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7" name="Google Shape;20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8" name="Google Shape;208;p9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1" name="Google Shape;22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10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3" name="Google Shape;23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11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7" name="Google Shape;24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8" name="Google Shape;248;p12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9" name="Google Shape;25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p13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1" name="Google Shape;271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" name="Google Shape;272;p14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5" name="Google Shape;285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" name="Google Shape;286;p15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7" name="Google Shape;297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8" name="Google Shape;298;p16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9" name="Google Shape;309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0" name="Google Shape;310;p17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3" name="Google Shape;3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p18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5" name="Google Shape;33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6" name="Google Shape;336;p19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9" name="Google Shape;349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0" name="Google Shape;350;p20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1" name="Google Shape;361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2" name="Google Shape;362;p21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3" name="Google Shape;373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4" name="Google Shape;374;p22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7" name="Google Shape;387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23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01" name="Google Shape;401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2" name="Google Shape;402;p24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13" name="Google Shape;413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4" name="Google Shape;414;p25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16901127" y="8949505"/>
            <a:ext cx="769430" cy="754475"/>
            <a:chOff x="0" y="0"/>
            <a:chExt cx="1025906" cy="1005967"/>
          </a:xfrm>
        </p:grpSpPr>
        <p:sp>
          <p:nvSpPr>
            <p:cNvPr id="19" name="Google Shape;19;p2"/>
            <p:cNvSpPr/>
            <p:nvPr/>
          </p:nvSpPr>
          <p:spPr>
            <a:xfrm>
              <a:off x="12700" y="12700"/>
              <a:ext cx="1000506" cy="980440"/>
            </a:xfrm>
            <a:custGeom>
              <a:rect b="b" l="l" r="r" t="t"/>
              <a:pathLst>
                <a:path extrusionOk="0" h="980440" w="1000506">
                  <a:moveTo>
                    <a:pt x="0" y="490220"/>
                  </a:moveTo>
                  <a:cubicBezTo>
                    <a:pt x="0" y="219456"/>
                    <a:pt x="224028" y="0"/>
                    <a:pt x="500253" y="0"/>
                  </a:cubicBezTo>
                  <a:cubicBezTo>
                    <a:pt x="776478" y="0"/>
                    <a:pt x="1000506" y="219456"/>
                    <a:pt x="1000506" y="490220"/>
                  </a:cubicBezTo>
                  <a:cubicBezTo>
                    <a:pt x="1000506" y="760984"/>
                    <a:pt x="776478" y="980440"/>
                    <a:pt x="500253" y="980440"/>
                  </a:cubicBezTo>
                  <a:cubicBezTo>
                    <a:pt x="224028" y="980440"/>
                    <a:pt x="0" y="760984"/>
                    <a:pt x="0" y="4902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0" y="0"/>
              <a:ext cx="1025906" cy="1005967"/>
            </a:xfrm>
            <a:custGeom>
              <a:rect b="b" l="l" r="r" t="t"/>
              <a:pathLst>
                <a:path extrusionOk="0" h="1005967" w="1025906">
                  <a:moveTo>
                    <a:pt x="0" y="502920"/>
                  </a:moveTo>
                  <a:cubicBezTo>
                    <a:pt x="0" y="224917"/>
                    <a:pt x="229870" y="0"/>
                    <a:pt x="512953" y="0"/>
                  </a:cubicBezTo>
                  <a:lnTo>
                    <a:pt x="512953" y="12700"/>
                  </a:lnTo>
                  <a:lnTo>
                    <a:pt x="512953" y="0"/>
                  </a:lnTo>
                  <a:cubicBezTo>
                    <a:pt x="796036" y="0"/>
                    <a:pt x="1025906" y="224917"/>
                    <a:pt x="1025906" y="502920"/>
                  </a:cubicBezTo>
                  <a:lnTo>
                    <a:pt x="1013206" y="502920"/>
                  </a:lnTo>
                  <a:lnTo>
                    <a:pt x="1025906" y="502920"/>
                  </a:lnTo>
                  <a:cubicBezTo>
                    <a:pt x="1025906" y="780923"/>
                    <a:pt x="796036" y="1005840"/>
                    <a:pt x="512953" y="1005840"/>
                  </a:cubicBezTo>
                  <a:lnTo>
                    <a:pt x="512953" y="993140"/>
                  </a:lnTo>
                  <a:lnTo>
                    <a:pt x="512953" y="1005840"/>
                  </a:lnTo>
                  <a:cubicBezTo>
                    <a:pt x="229870" y="1005967"/>
                    <a:pt x="0" y="781050"/>
                    <a:pt x="0" y="502920"/>
                  </a:cubicBezTo>
                  <a:lnTo>
                    <a:pt x="12700" y="502920"/>
                  </a:lnTo>
                  <a:lnTo>
                    <a:pt x="25400" y="502920"/>
                  </a:lnTo>
                  <a:lnTo>
                    <a:pt x="12700" y="502920"/>
                  </a:lnTo>
                  <a:lnTo>
                    <a:pt x="0" y="502920"/>
                  </a:lnTo>
                  <a:moveTo>
                    <a:pt x="25400" y="502920"/>
                  </a:moveTo>
                  <a:cubicBezTo>
                    <a:pt x="25400" y="509905"/>
                    <a:pt x="19685" y="515620"/>
                    <a:pt x="12700" y="515620"/>
                  </a:cubicBezTo>
                  <a:cubicBezTo>
                    <a:pt x="5715" y="515620"/>
                    <a:pt x="0" y="509905"/>
                    <a:pt x="0" y="502920"/>
                  </a:cubicBezTo>
                  <a:cubicBezTo>
                    <a:pt x="0" y="495935"/>
                    <a:pt x="5715" y="490220"/>
                    <a:pt x="12700" y="490220"/>
                  </a:cubicBezTo>
                  <a:cubicBezTo>
                    <a:pt x="19685" y="490220"/>
                    <a:pt x="25400" y="495935"/>
                    <a:pt x="25400" y="502920"/>
                  </a:cubicBezTo>
                  <a:cubicBezTo>
                    <a:pt x="25400" y="766445"/>
                    <a:pt x="243459" y="980440"/>
                    <a:pt x="512953" y="980440"/>
                  </a:cubicBezTo>
                  <a:cubicBezTo>
                    <a:pt x="782447" y="980440"/>
                    <a:pt x="1000506" y="766445"/>
                    <a:pt x="1000506" y="502920"/>
                  </a:cubicBezTo>
                  <a:cubicBezTo>
                    <a:pt x="1000506" y="239395"/>
                    <a:pt x="782447" y="25400"/>
                    <a:pt x="512953" y="25400"/>
                  </a:cubicBezTo>
                  <a:lnTo>
                    <a:pt x="512953" y="12700"/>
                  </a:lnTo>
                  <a:lnTo>
                    <a:pt x="512953" y="25400"/>
                  </a:lnTo>
                  <a:cubicBezTo>
                    <a:pt x="243459" y="25400"/>
                    <a:pt x="25400" y="239395"/>
                    <a:pt x="25400" y="5029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6809592" y="9161103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5" name="Google Shape;25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4" name="Google Shape;44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1" name="Google Shape;51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72" name="Google Shape;72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8" name="Google Shape;7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2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2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13"/>
          <p:cNvGrpSpPr/>
          <p:nvPr/>
        </p:nvGrpSpPr>
        <p:grpSpPr>
          <a:xfrm>
            <a:off x="-448267" y="0"/>
            <a:ext cx="19123574" cy="10605878"/>
            <a:chOff x="0" y="0"/>
            <a:chExt cx="24451818" cy="13783818"/>
          </a:xfrm>
        </p:grpSpPr>
        <p:sp>
          <p:nvSpPr>
            <p:cNvPr id="93" name="Google Shape;93;p13"/>
            <p:cNvSpPr/>
            <p:nvPr/>
          </p:nvSpPr>
          <p:spPr>
            <a:xfrm>
              <a:off x="33909" y="33909"/>
              <a:ext cx="24384001" cy="13716001"/>
            </a:xfrm>
            <a:custGeom>
              <a:rect b="b" l="l" r="r" t="t"/>
              <a:pathLst>
                <a:path extrusionOk="0" h="13716001" w="24384001">
                  <a:moveTo>
                    <a:pt x="0" y="0"/>
                  </a:moveTo>
                  <a:lnTo>
                    <a:pt x="24384001" y="0"/>
                  </a:lnTo>
                  <a:lnTo>
                    <a:pt x="24384001" y="13716001"/>
                  </a:lnTo>
                  <a:lnTo>
                    <a:pt x="0" y="13716001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94" name="Google Shape;94;p13"/>
            <p:cNvSpPr/>
            <p:nvPr/>
          </p:nvSpPr>
          <p:spPr>
            <a:xfrm>
              <a:off x="0" y="0"/>
              <a:ext cx="24451818" cy="13783818"/>
            </a:xfrm>
            <a:custGeom>
              <a:rect b="b" l="l" r="r" t="t"/>
              <a:pathLst>
                <a:path extrusionOk="0" h="13783818" w="24451818">
                  <a:moveTo>
                    <a:pt x="33909" y="0"/>
                  </a:moveTo>
                  <a:lnTo>
                    <a:pt x="24417910" y="0"/>
                  </a:lnTo>
                  <a:cubicBezTo>
                    <a:pt x="24436578" y="0"/>
                    <a:pt x="24451818" y="15113"/>
                    <a:pt x="24451818" y="33909"/>
                  </a:cubicBezTo>
                  <a:lnTo>
                    <a:pt x="24451818" y="13749910"/>
                  </a:lnTo>
                  <a:cubicBezTo>
                    <a:pt x="24451818" y="13768578"/>
                    <a:pt x="24436705" y="13783818"/>
                    <a:pt x="24417910" y="13783818"/>
                  </a:cubicBezTo>
                  <a:lnTo>
                    <a:pt x="33909" y="13783818"/>
                  </a:lnTo>
                  <a:cubicBezTo>
                    <a:pt x="15240" y="13783818"/>
                    <a:pt x="0" y="13768705"/>
                    <a:pt x="0" y="13749910"/>
                  </a:cubicBezTo>
                  <a:lnTo>
                    <a:pt x="0" y="33909"/>
                  </a:lnTo>
                  <a:cubicBezTo>
                    <a:pt x="0" y="15113"/>
                    <a:pt x="15113" y="0"/>
                    <a:pt x="33909" y="0"/>
                  </a:cubicBezTo>
                  <a:moveTo>
                    <a:pt x="33909" y="67691"/>
                  </a:moveTo>
                  <a:lnTo>
                    <a:pt x="33909" y="33909"/>
                  </a:lnTo>
                  <a:lnTo>
                    <a:pt x="67691" y="33909"/>
                  </a:lnTo>
                  <a:lnTo>
                    <a:pt x="67691" y="13749910"/>
                  </a:lnTo>
                  <a:lnTo>
                    <a:pt x="33909" y="13749910"/>
                  </a:lnTo>
                  <a:lnTo>
                    <a:pt x="33909" y="13716000"/>
                  </a:lnTo>
                  <a:lnTo>
                    <a:pt x="24417910" y="13716000"/>
                  </a:lnTo>
                  <a:lnTo>
                    <a:pt x="24417910" y="13749910"/>
                  </a:lnTo>
                  <a:lnTo>
                    <a:pt x="24384000" y="13749910"/>
                  </a:lnTo>
                  <a:lnTo>
                    <a:pt x="24384000" y="33909"/>
                  </a:lnTo>
                  <a:lnTo>
                    <a:pt x="24417910" y="33909"/>
                  </a:lnTo>
                  <a:lnTo>
                    <a:pt x="24417910" y="67691"/>
                  </a:lnTo>
                  <a:lnTo>
                    <a:pt x="33909" y="67691"/>
                  </a:lnTo>
                  <a:close/>
                </a:path>
              </a:pathLst>
            </a:custGeom>
            <a:solidFill>
              <a:srgbClr val="0F243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5" name="Google Shape;95;p13"/>
          <p:cNvGrpSpPr/>
          <p:nvPr/>
        </p:nvGrpSpPr>
        <p:grpSpPr>
          <a:xfrm>
            <a:off x="9395641" y="3333132"/>
            <a:ext cx="9226185" cy="2410822"/>
            <a:chOff x="9645114" y="217380"/>
            <a:chExt cx="9371989" cy="2410822"/>
          </a:xfrm>
        </p:grpSpPr>
        <p:sp>
          <p:nvSpPr>
            <p:cNvPr id="96" name="Google Shape;96;p13"/>
            <p:cNvSpPr txBox="1"/>
            <p:nvPr/>
          </p:nvSpPr>
          <p:spPr>
            <a:xfrm>
              <a:off x="9645114" y="217380"/>
              <a:ext cx="9371989" cy="190821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200"/>
                <a:buFont typeface="Arial"/>
                <a:buNone/>
              </a:pPr>
              <a:r>
                <a:rPr b="1" i="0" lang="en-US" sz="6200" u="none" cap="none" strike="noStrike">
                  <a:solidFill>
                    <a:srgbClr val="FFC000"/>
                  </a:solidFill>
                  <a:latin typeface="Open Sans"/>
                  <a:ea typeface="Open Sans"/>
                  <a:cs typeface="Open Sans"/>
                  <a:sym typeface="Open Sans"/>
                </a:rPr>
                <a:t>Claude for Coding Tasks (Claude Code) </a:t>
              </a:r>
              <a:endParaRPr b="1" i="0" sz="6200" u="none" cap="none" strike="noStrike">
                <a:solidFill>
                  <a:srgbClr val="FFC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grpSp>
          <p:nvGrpSpPr>
            <p:cNvPr id="97" name="Google Shape;97;p13"/>
            <p:cNvGrpSpPr/>
            <p:nvPr/>
          </p:nvGrpSpPr>
          <p:grpSpPr>
            <a:xfrm>
              <a:off x="9729879" y="2214596"/>
              <a:ext cx="3735772" cy="413606"/>
              <a:chOff x="9870618" y="2813623"/>
              <a:chExt cx="3735772" cy="413606"/>
            </a:xfrm>
          </p:grpSpPr>
          <p:sp>
            <p:nvSpPr>
              <p:cNvPr id="98" name="Google Shape;98;p13"/>
              <p:cNvSpPr txBox="1"/>
              <p:nvPr/>
            </p:nvSpPr>
            <p:spPr>
              <a:xfrm>
                <a:off x="10410190" y="2813623"/>
                <a:ext cx="31962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19958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400"/>
                  <a:buFont typeface="Arial"/>
                  <a:buNone/>
                </a:pPr>
                <a:r>
                  <a:rPr b="0" i="0" lang="en-US" sz="24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www.zarantech.com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" name="Google Shape;99;p13"/>
              <p:cNvSpPr/>
              <p:nvPr/>
            </p:nvSpPr>
            <p:spPr>
              <a:xfrm>
                <a:off x="9870618" y="2827271"/>
                <a:ext cx="381880" cy="399958"/>
              </a:xfrm>
              <a:custGeom>
                <a:rect b="b" l="l" r="r" t="t"/>
                <a:pathLst>
                  <a:path extrusionOk="0" h="399958" w="381880">
                    <a:moveTo>
                      <a:pt x="0" y="0"/>
                    </a:moveTo>
                    <a:lnTo>
                      <a:pt x="381880" y="0"/>
                    </a:lnTo>
                    <a:lnTo>
                      <a:pt x="381880" y="399958"/>
                    </a:lnTo>
                    <a:lnTo>
                      <a:pt x="0" y="399958"/>
                    </a:lnTo>
                    <a:lnTo>
                      <a:pt x="0" y="0"/>
                    </a:lnTo>
                    <a:close/>
                  </a:path>
                </a:pathLst>
              </a:custGeom>
              <a:blipFill rotWithShape="1">
                <a:blip r:embed="rId3">
                  <a:alphaModFix/>
                </a:blip>
                <a:stretch>
                  <a:fillRect b="0" l="0" r="0" t="0"/>
                </a:stretch>
              </a:blipFill>
              <a:ln>
                <a:noFill/>
              </a:ln>
            </p:spPr>
          </p:sp>
        </p:grpSp>
      </p:grpSp>
      <p:sp>
        <p:nvSpPr>
          <p:cNvPr id="100" name="Google Shape;100;p13"/>
          <p:cNvSpPr/>
          <p:nvPr/>
        </p:nvSpPr>
        <p:spPr>
          <a:xfrm>
            <a:off x="15775388" y="330356"/>
            <a:ext cx="2238872" cy="461178"/>
          </a:xfrm>
          <a:custGeom>
            <a:rect b="b" l="l" r="r" t="t"/>
            <a:pathLst>
              <a:path extrusionOk="0" h="461178" w="2238872">
                <a:moveTo>
                  <a:pt x="0" y="0"/>
                </a:moveTo>
                <a:lnTo>
                  <a:pt x="2238872" y="0"/>
                </a:lnTo>
                <a:lnTo>
                  <a:pt x="2238872" y="461178"/>
                </a:lnTo>
                <a:lnTo>
                  <a:pt x="0" y="4611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1" name="Google Shape;101;p13"/>
          <p:cNvSpPr txBox="1"/>
          <p:nvPr/>
        </p:nvSpPr>
        <p:spPr>
          <a:xfrm>
            <a:off x="9702583" y="97705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Google Shape;102;p13"/>
          <p:cNvPicPr preferRelativeResize="0"/>
          <p:nvPr/>
        </p:nvPicPr>
        <p:blipFill rotWithShape="1">
          <a:blip r:embed="rId5">
            <a:alphaModFix/>
          </a:blip>
          <a:srcRect b="0" l="0" r="41821" t="0"/>
          <a:stretch/>
        </p:blipFill>
        <p:spPr>
          <a:xfrm>
            <a:off x="-508831" y="-1"/>
            <a:ext cx="9255542" cy="10605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4"/>
          <p:cNvSpPr/>
          <p:nvPr/>
        </p:nvSpPr>
        <p:spPr>
          <a:xfrm>
            <a:off x="9144000" y="583020"/>
            <a:ext cx="9448800" cy="9710538"/>
          </a:xfrm>
          <a:custGeom>
            <a:rect b="b" l="l" r="r" t="t"/>
            <a:pathLst>
              <a:path extrusionOk="0" h="12689306" w="12689306">
                <a:moveTo>
                  <a:pt x="0" y="0"/>
                </a:moveTo>
                <a:lnTo>
                  <a:pt x="12689306" y="0"/>
                </a:lnTo>
                <a:lnTo>
                  <a:pt x="12689306" y="12689306"/>
                </a:lnTo>
                <a:lnTo>
                  <a:pt x="0" y="126893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20428" l="-22357" r="-16672" t="-15062"/>
            </a:stretch>
          </a:blipFill>
          <a:ln>
            <a:noFill/>
          </a:ln>
        </p:spPr>
      </p:sp>
      <p:grpSp>
        <p:nvGrpSpPr>
          <p:cNvPr id="110" name="Google Shape;110;p14"/>
          <p:cNvGrpSpPr/>
          <p:nvPr/>
        </p:nvGrpSpPr>
        <p:grpSpPr>
          <a:xfrm>
            <a:off x="16901127" y="8949505"/>
            <a:ext cx="769430" cy="754475"/>
            <a:chOff x="0" y="0"/>
            <a:chExt cx="1025906" cy="1005967"/>
          </a:xfrm>
        </p:grpSpPr>
        <p:sp>
          <p:nvSpPr>
            <p:cNvPr id="111" name="Google Shape;111;p14"/>
            <p:cNvSpPr/>
            <p:nvPr/>
          </p:nvSpPr>
          <p:spPr>
            <a:xfrm>
              <a:off x="12700" y="12700"/>
              <a:ext cx="1000506" cy="980440"/>
            </a:xfrm>
            <a:custGeom>
              <a:rect b="b" l="l" r="r" t="t"/>
              <a:pathLst>
                <a:path extrusionOk="0" h="980440" w="1000506">
                  <a:moveTo>
                    <a:pt x="0" y="490220"/>
                  </a:moveTo>
                  <a:cubicBezTo>
                    <a:pt x="0" y="219456"/>
                    <a:pt x="224028" y="0"/>
                    <a:pt x="500253" y="0"/>
                  </a:cubicBezTo>
                  <a:cubicBezTo>
                    <a:pt x="776478" y="0"/>
                    <a:pt x="1000506" y="219456"/>
                    <a:pt x="1000506" y="490220"/>
                  </a:cubicBezTo>
                  <a:cubicBezTo>
                    <a:pt x="1000506" y="760984"/>
                    <a:pt x="776478" y="980440"/>
                    <a:pt x="500253" y="980440"/>
                  </a:cubicBezTo>
                  <a:cubicBezTo>
                    <a:pt x="224028" y="980440"/>
                    <a:pt x="0" y="760984"/>
                    <a:pt x="0" y="4902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14"/>
            <p:cNvSpPr/>
            <p:nvPr/>
          </p:nvSpPr>
          <p:spPr>
            <a:xfrm>
              <a:off x="0" y="0"/>
              <a:ext cx="1025906" cy="1005967"/>
            </a:xfrm>
            <a:custGeom>
              <a:rect b="b" l="l" r="r" t="t"/>
              <a:pathLst>
                <a:path extrusionOk="0" h="1005967" w="1025906">
                  <a:moveTo>
                    <a:pt x="0" y="502920"/>
                  </a:moveTo>
                  <a:cubicBezTo>
                    <a:pt x="0" y="224917"/>
                    <a:pt x="229870" y="0"/>
                    <a:pt x="512953" y="0"/>
                  </a:cubicBezTo>
                  <a:lnTo>
                    <a:pt x="512953" y="12700"/>
                  </a:lnTo>
                  <a:lnTo>
                    <a:pt x="512953" y="0"/>
                  </a:lnTo>
                  <a:cubicBezTo>
                    <a:pt x="796036" y="0"/>
                    <a:pt x="1025906" y="224917"/>
                    <a:pt x="1025906" y="502920"/>
                  </a:cubicBezTo>
                  <a:lnTo>
                    <a:pt x="1013206" y="502920"/>
                  </a:lnTo>
                  <a:lnTo>
                    <a:pt x="1025906" y="502920"/>
                  </a:lnTo>
                  <a:cubicBezTo>
                    <a:pt x="1025906" y="780923"/>
                    <a:pt x="796036" y="1005840"/>
                    <a:pt x="512953" y="1005840"/>
                  </a:cubicBezTo>
                  <a:lnTo>
                    <a:pt x="512953" y="993140"/>
                  </a:lnTo>
                  <a:lnTo>
                    <a:pt x="512953" y="1005840"/>
                  </a:lnTo>
                  <a:cubicBezTo>
                    <a:pt x="229870" y="1005967"/>
                    <a:pt x="0" y="781050"/>
                    <a:pt x="0" y="502920"/>
                  </a:cubicBezTo>
                  <a:lnTo>
                    <a:pt x="12700" y="502920"/>
                  </a:lnTo>
                  <a:lnTo>
                    <a:pt x="25400" y="502920"/>
                  </a:lnTo>
                  <a:lnTo>
                    <a:pt x="12700" y="502920"/>
                  </a:lnTo>
                  <a:lnTo>
                    <a:pt x="0" y="502920"/>
                  </a:lnTo>
                  <a:moveTo>
                    <a:pt x="25400" y="502920"/>
                  </a:moveTo>
                  <a:cubicBezTo>
                    <a:pt x="25400" y="509905"/>
                    <a:pt x="19685" y="515620"/>
                    <a:pt x="12700" y="515620"/>
                  </a:cubicBezTo>
                  <a:cubicBezTo>
                    <a:pt x="5715" y="515620"/>
                    <a:pt x="0" y="509905"/>
                    <a:pt x="0" y="502920"/>
                  </a:cubicBezTo>
                  <a:cubicBezTo>
                    <a:pt x="0" y="495935"/>
                    <a:pt x="5715" y="490220"/>
                    <a:pt x="12700" y="490220"/>
                  </a:cubicBezTo>
                  <a:cubicBezTo>
                    <a:pt x="19685" y="490220"/>
                    <a:pt x="25400" y="495935"/>
                    <a:pt x="25400" y="502920"/>
                  </a:cubicBezTo>
                  <a:cubicBezTo>
                    <a:pt x="25400" y="766445"/>
                    <a:pt x="243459" y="980440"/>
                    <a:pt x="512953" y="980440"/>
                  </a:cubicBezTo>
                  <a:cubicBezTo>
                    <a:pt x="782447" y="980440"/>
                    <a:pt x="1000506" y="766445"/>
                    <a:pt x="1000506" y="502920"/>
                  </a:cubicBezTo>
                  <a:cubicBezTo>
                    <a:pt x="1000506" y="239395"/>
                    <a:pt x="782447" y="25400"/>
                    <a:pt x="512953" y="25400"/>
                  </a:cubicBezTo>
                  <a:lnTo>
                    <a:pt x="512953" y="12700"/>
                  </a:lnTo>
                  <a:lnTo>
                    <a:pt x="512953" y="25400"/>
                  </a:lnTo>
                  <a:cubicBezTo>
                    <a:pt x="243459" y="25400"/>
                    <a:pt x="25400" y="239395"/>
                    <a:pt x="25400" y="5029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3" name="Google Shape;113;p14"/>
          <p:cNvSpPr txBox="1"/>
          <p:nvPr/>
        </p:nvSpPr>
        <p:spPr>
          <a:xfrm>
            <a:off x="502391" y="404547"/>
            <a:ext cx="14900900" cy="10558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Disclaimer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4"/>
          <p:cNvSpPr txBox="1"/>
          <p:nvPr/>
        </p:nvSpPr>
        <p:spPr>
          <a:xfrm>
            <a:off x="323850" y="1460370"/>
            <a:ext cx="8820150" cy="66479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This presentation, including examples, images, and references are provided for informational purposes only.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Complying with all applicable copyrights laws is the responsibility of the user.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Without limiting the rights under copyright, no part of this document may be  reproduced, stored or introduced into a retrieval system, or transmitted in any form or by any means.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Credits shall be given to the images taken from the open-source and cannot be used for promotional activities.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4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-58" t="0"/>
            </a:stretch>
          </a:blipFill>
          <a:ln>
            <a:noFill/>
          </a:ln>
        </p:spPr>
      </p:sp>
      <p:sp>
        <p:nvSpPr>
          <p:cNvPr id="116" name="Google Shape;116;p14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4"/>
          <p:cNvSpPr txBox="1"/>
          <p:nvPr>
            <p:ph idx="12" type="sldNum"/>
          </p:nvPr>
        </p:nvSpPr>
        <p:spPr>
          <a:xfrm>
            <a:off x="17114219" y="9163493"/>
            <a:ext cx="34324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oogle Shape;123;p15"/>
          <p:cNvGrpSpPr/>
          <p:nvPr/>
        </p:nvGrpSpPr>
        <p:grpSpPr>
          <a:xfrm>
            <a:off x="16901127" y="8949505"/>
            <a:ext cx="769430" cy="754475"/>
            <a:chOff x="0" y="0"/>
            <a:chExt cx="1025906" cy="1005967"/>
          </a:xfrm>
        </p:grpSpPr>
        <p:sp>
          <p:nvSpPr>
            <p:cNvPr id="124" name="Google Shape;124;p15"/>
            <p:cNvSpPr/>
            <p:nvPr/>
          </p:nvSpPr>
          <p:spPr>
            <a:xfrm>
              <a:off x="12700" y="12700"/>
              <a:ext cx="1000506" cy="980440"/>
            </a:xfrm>
            <a:custGeom>
              <a:rect b="b" l="l" r="r" t="t"/>
              <a:pathLst>
                <a:path extrusionOk="0" h="980440" w="1000506">
                  <a:moveTo>
                    <a:pt x="0" y="490220"/>
                  </a:moveTo>
                  <a:cubicBezTo>
                    <a:pt x="0" y="219456"/>
                    <a:pt x="224028" y="0"/>
                    <a:pt x="500253" y="0"/>
                  </a:cubicBezTo>
                  <a:cubicBezTo>
                    <a:pt x="776478" y="0"/>
                    <a:pt x="1000506" y="219456"/>
                    <a:pt x="1000506" y="490220"/>
                  </a:cubicBezTo>
                  <a:cubicBezTo>
                    <a:pt x="1000506" y="760984"/>
                    <a:pt x="776478" y="980440"/>
                    <a:pt x="500253" y="980440"/>
                  </a:cubicBezTo>
                  <a:cubicBezTo>
                    <a:pt x="224028" y="980440"/>
                    <a:pt x="0" y="760984"/>
                    <a:pt x="0" y="4902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15"/>
            <p:cNvSpPr/>
            <p:nvPr/>
          </p:nvSpPr>
          <p:spPr>
            <a:xfrm>
              <a:off x="0" y="0"/>
              <a:ext cx="1025906" cy="1005967"/>
            </a:xfrm>
            <a:custGeom>
              <a:rect b="b" l="l" r="r" t="t"/>
              <a:pathLst>
                <a:path extrusionOk="0" h="1005967" w="1025906">
                  <a:moveTo>
                    <a:pt x="0" y="502920"/>
                  </a:moveTo>
                  <a:cubicBezTo>
                    <a:pt x="0" y="224917"/>
                    <a:pt x="229870" y="0"/>
                    <a:pt x="512953" y="0"/>
                  </a:cubicBezTo>
                  <a:lnTo>
                    <a:pt x="512953" y="12700"/>
                  </a:lnTo>
                  <a:lnTo>
                    <a:pt x="512953" y="0"/>
                  </a:lnTo>
                  <a:cubicBezTo>
                    <a:pt x="796036" y="0"/>
                    <a:pt x="1025906" y="224917"/>
                    <a:pt x="1025906" y="502920"/>
                  </a:cubicBezTo>
                  <a:lnTo>
                    <a:pt x="1013206" y="502920"/>
                  </a:lnTo>
                  <a:lnTo>
                    <a:pt x="1025906" y="502920"/>
                  </a:lnTo>
                  <a:cubicBezTo>
                    <a:pt x="1025906" y="780923"/>
                    <a:pt x="796036" y="1005840"/>
                    <a:pt x="512953" y="1005840"/>
                  </a:cubicBezTo>
                  <a:lnTo>
                    <a:pt x="512953" y="993140"/>
                  </a:lnTo>
                  <a:lnTo>
                    <a:pt x="512953" y="1005840"/>
                  </a:lnTo>
                  <a:cubicBezTo>
                    <a:pt x="229870" y="1005967"/>
                    <a:pt x="0" y="781050"/>
                    <a:pt x="0" y="502920"/>
                  </a:cubicBezTo>
                  <a:lnTo>
                    <a:pt x="12700" y="502920"/>
                  </a:lnTo>
                  <a:lnTo>
                    <a:pt x="25400" y="502920"/>
                  </a:lnTo>
                  <a:lnTo>
                    <a:pt x="12700" y="502920"/>
                  </a:lnTo>
                  <a:lnTo>
                    <a:pt x="0" y="502920"/>
                  </a:lnTo>
                  <a:moveTo>
                    <a:pt x="25400" y="502920"/>
                  </a:moveTo>
                  <a:cubicBezTo>
                    <a:pt x="25400" y="509905"/>
                    <a:pt x="19685" y="515620"/>
                    <a:pt x="12700" y="515620"/>
                  </a:cubicBezTo>
                  <a:cubicBezTo>
                    <a:pt x="5715" y="515620"/>
                    <a:pt x="0" y="509905"/>
                    <a:pt x="0" y="502920"/>
                  </a:cubicBezTo>
                  <a:cubicBezTo>
                    <a:pt x="0" y="495935"/>
                    <a:pt x="5715" y="490220"/>
                    <a:pt x="12700" y="490220"/>
                  </a:cubicBezTo>
                  <a:cubicBezTo>
                    <a:pt x="19685" y="490220"/>
                    <a:pt x="25400" y="495935"/>
                    <a:pt x="25400" y="502920"/>
                  </a:cubicBezTo>
                  <a:cubicBezTo>
                    <a:pt x="25400" y="766445"/>
                    <a:pt x="243459" y="980440"/>
                    <a:pt x="512953" y="980440"/>
                  </a:cubicBezTo>
                  <a:cubicBezTo>
                    <a:pt x="782447" y="980440"/>
                    <a:pt x="1000506" y="766445"/>
                    <a:pt x="1000506" y="502920"/>
                  </a:cubicBezTo>
                  <a:cubicBezTo>
                    <a:pt x="1000506" y="239395"/>
                    <a:pt x="782447" y="25400"/>
                    <a:pt x="512953" y="25400"/>
                  </a:cubicBezTo>
                  <a:lnTo>
                    <a:pt x="512953" y="12700"/>
                  </a:lnTo>
                  <a:lnTo>
                    <a:pt x="512953" y="25400"/>
                  </a:lnTo>
                  <a:cubicBezTo>
                    <a:pt x="243459" y="25400"/>
                    <a:pt x="25400" y="239395"/>
                    <a:pt x="25400" y="5029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6" name="Google Shape;126;p15"/>
          <p:cNvSpPr txBox="1"/>
          <p:nvPr/>
        </p:nvSpPr>
        <p:spPr>
          <a:xfrm>
            <a:off x="502391" y="404547"/>
            <a:ext cx="14900900" cy="10558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Agenda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502391" y="2066255"/>
            <a:ext cx="10209152" cy="53183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Welcome to Module Two focusing on Claude for coding tasks and workflows.</a:t>
            </a:r>
            <a:endParaRPr/>
          </a:p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Discover how Claude Code accelerates modern software development and improves project outcomes.</a:t>
            </a:r>
            <a:endParaRPr/>
          </a:p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Learn to establish productive workflows for coding, refactoring, and generating thorough documentation.</a:t>
            </a:r>
            <a:endParaRPr/>
          </a:p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Master essential techniques to streamline complex coding processes using advanced AI capabilities.</a:t>
            </a:r>
            <a:endParaRPr/>
          </a:p>
        </p:txBody>
      </p:sp>
      <p:sp>
        <p:nvSpPr>
          <p:cNvPr id="128" name="Google Shape;128;p15"/>
          <p:cNvSpPr/>
          <p:nvPr/>
        </p:nvSpPr>
        <p:spPr>
          <a:xfrm>
            <a:off x="10893284" y="-38176"/>
            <a:ext cx="7187978" cy="10325176"/>
          </a:xfrm>
          <a:custGeom>
            <a:rect b="b" l="l" r="r" t="t"/>
            <a:pathLst>
              <a:path extrusionOk="0" h="10325176" w="7187978">
                <a:moveTo>
                  <a:pt x="0" y="0"/>
                </a:moveTo>
                <a:lnTo>
                  <a:pt x="7187978" y="0"/>
                </a:lnTo>
                <a:lnTo>
                  <a:pt x="7187978" y="10325176"/>
                </a:lnTo>
                <a:lnTo>
                  <a:pt x="0" y="1032517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9" name="Google Shape;129;p15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-58" t="0"/>
            </a:stretch>
          </a:blipFill>
          <a:ln>
            <a:noFill/>
          </a:ln>
        </p:spPr>
      </p:sp>
      <p:sp>
        <p:nvSpPr>
          <p:cNvPr id="130" name="Google Shape;130;p15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5"/>
          <p:cNvSpPr/>
          <p:nvPr/>
        </p:nvSpPr>
        <p:spPr>
          <a:xfrm>
            <a:off x="502391" y="1458435"/>
            <a:ext cx="2507429" cy="45719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2" name="Google Shape;132;p15"/>
          <p:cNvSpPr txBox="1"/>
          <p:nvPr>
            <p:ph idx="12" type="sldNum"/>
          </p:nvPr>
        </p:nvSpPr>
        <p:spPr>
          <a:xfrm>
            <a:off x="16809592" y="9161103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Productive Coding Workflows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41" name="Google Shape;141;p1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3" name="Google Shape;143;p16"/>
          <p:cNvSpPr txBox="1"/>
          <p:nvPr/>
        </p:nvSpPr>
        <p:spPr>
          <a:xfrm>
            <a:off x="502391" y="2249498"/>
            <a:ext cx="10151095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Understand the fundamental overview of Claude Code for modern software engineering projects.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Learn how AI-assisted development drastically reduces time spent on repetitive boilerplate coding.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Integrate code-focused workflows directly into your existing development environment with minimal friction.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Unlock higher developer productivity by automating routine project setup and scaffolding tasks.</a:t>
            </a:r>
            <a:endParaRPr/>
          </a:p>
        </p:txBody>
      </p:sp>
      <p:pic>
        <p:nvPicPr>
          <p:cNvPr id="144" name="Google Shape;14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834812" y="2038948"/>
            <a:ext cx="5286375" cy="4705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Overview of Claude Code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1" name="Google Shape;151;p17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2" name="Google Shape;152;p17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53" name="Google Shape;153;p17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5" name="Google Shape;155;p17"/>
          <p:cNvSpPr txBox="1"/>
          <p:nvPr/>
        </p:nvSpPr>
        <p:spPr>
          <a:xfrm>
            <a:off x="502391" y="2446064"/>
            <a:ext cx="10683769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Claude Code functions as an intelligent partner for your daily complex programming challenges.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It navigates sophisticated codebases quickly to identify potential bugs and logical errors.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Use specialized prompt engineering to extract optimized code solutions from the language model.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Seamlessly transition from basic scripting tasks to designing enterprise-level software architecture systems.</a:t>
            </a:r>
            <a:endParaRPr/>
          </a:p>
        </p:txBody>
      </p:sp>
      <p:pic>
        <p:nvPicPr>
          <p:cNvPr id="156" name="Google Shape;15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71695" y="2446064"/>
            <a:ext cx="5550802" cy="4284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8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Organizing Project Context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3" name="Google Shape;163;p18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4" name="Google Shape;164;p18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65" name="Google Shape;165;p18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8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67" name="Google Shape;167;p18"/>
          <p:cNvGrpSpPr/>
          <p:nvPr/>
        </p:nvGrpSpPr>
        <p:grpSpPr>
          <a:xfrm>
            <a:off x="1476592" y="2205945"/>
            <a:ext cx="14858611" cy="1382806"/>
            <a:chOff x="2292567" y="3922998"/>
            <a:chExt cx="13991635" cy="1583760"/>
          </a:xfrm>
        </p:grpSpPr>
        <p:sp>
          <p:nvSpPr>
            <p:cNvPr id="168" name="Google Shape;168;p18"/>
            <p:cNvSpPr/>
            <p:nvPr/>
          </p:nvSpPr>
          <p:spPr>
            <a:xfrm>
              <a:off x="2292567" y="3922998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18"/>
            <p:cNvSpPr/>
            <p:nvPr/>
          </p:nvSpPr>
          <p:spPr>
            <a:xfrm>
              <a:off x="2458402" y="4075398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Context organization is critical for ensuring Claude generates accurate and highly relevant code.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70" name="Google Shape;170;p18"/>
          <p:cNvGrpSpPr/>
          <p:nvPr/>
        </p:nvGrpSpPr>
        <p:grpSpPr>
          <a:xfrm>
            <a:off x="1476592" y="4110306"/>
            <a:ext cx="14858611" cy="1382806"/>
            <a:chOff x="2292567" y="5702612"/>
            <a:chExt cx="13991635" cy="1583760"/>
          </a:xfrm>
        </p:grpSpPr>
        <p:sp>
          <p:nvSpPr>
            <p:cNvPr id="171" name="Google Shape;171;p18"/>
            <p:cNvSpPr/>
            <p:nvPr/>
          </p:nvSpPr>
          <p:spPr>
            <a:xfrm>
              <a:off x="2292567" y="5702612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" name="Google Shape;172;p18"/>
            <p:cNvSpPr/>
            <p:nvPr/>
          </p:nvSpPr>
          <p:spPr>
            <a:xfrm>
              <a:off x="2458402" y="5855012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Let Claude Code read the repository directly rather than pasting files into a chat.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73" name="Google Shape;173;p18"/>
          <p:cNvGrpSpPr/>
          <p:nvPr/>
        </p:nvGrpSpPr>
        <p:grpSpPr>
          <a:xfrm>
            <a:off x="1476592" y="6014667"/>
            <a:ext cx="14858611" cy="1382806"/>
            <a:chOff x="2292567" y="7564986"/>
            <a:chExt cx="13991635" cy="1583760"/>
          </a:xfrm>
        </p:grpSpPr>
        <p:sp>
          <p:nvSpPr>
            <p:cNvPr id="174" name="Google Shape;174;p18"/>
            <p:cNvSpPr/>
            <p:nvPr/>
          </p:nvSpPr>
          <p:spPr>
            <a:xfrm>
              <a:off x="2292567" y="7564986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8"/>
            <p:cNvSpPr/>
            <p:nvPr/>
          </p:nvSpPr>
          <p:spPr>
            <a:xfrm>
              <a:off x="2458402" y="7717386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Avoid overwhelming the model by providing only the strictly necessary files and functions.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76" name="Google Shape;176;p18"/>
          <p:cNvGrpSpPr/>
          <p:nvPr/>
        </p:nvGrpSpPr>
        <p:grpSpPr>
          <a:xfrm>
            <a:off x="1476591" y="7919027"/>
            <a:ext cx="14858611" cy="1382806"/>
            <a:chOff x="2292567" y="7564986"/>
            <a:chExt cx="13991635" cy="1583760"/>
          </a:xfrm>
        </p:grpSpPr>
        <p:sp>
          <p:nvSpPr>
            <p:cNvPr id="177" name="Google Shape;177;p18"/>
            <p:cNvSpPr/>
            <p:nvPr/>
          </p:nvSpPr>
          <p:spPr>
            <a:xfrm>
              <a:off x="2292567" y="7564986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" name="Google Shape;178;p18"/>
            <p:cNvSpPr/>
            <p:nvPr/>
          </p:nvSpPr>
          <p:spPr>
            <a:xfrm>
              <a:off x="2458402" y="7717386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Define directory structures clearly so the AI understands your overarching application architecture layout.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9"/>
          <p:cNvSpPr txBox="1"/>
          <p:nvPr/>
        </p:nvSpPr>
        <p:spPr>
          <a:xfrm>
            <a:off x="502391" y="637523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Effective File Sharing Strategies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5" name="Google Shape;185;p19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6" name="Google Shape;186;p19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87" name="Google Shape;187;p19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9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9" name="Google Shape;189;p19"/>
          <p:cNvSpPr/>
          <p:nvPr/>
        </p:nvSpPr>
        <p:spPr>
          <a:xfrm>
            <a:off x="1858692" y="3990891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Use clear and descriptive file naming conventions when passing multiple documents for context.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0" name="Google Shape;190;p19"/>
          <p:cNvSpPr/>
          <p:nvPr/>
        </p:nvSpPr>
        <p:spPr>
          <a:xfrm>
            <a:off x="1858692" y="2406524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Point Claude at the specific files that matter rather than the whole tree.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1" name="Google Shape;191;p19"/>
          <p:cNvSpPr/>
          <p:nvPr/>
        </p:nvSpPr>
        <p:spPr>
          <a:xfrm>
            <a:off x="1858692" y="5575258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Highlight specific script line numbers or functions where you want Claude to focus.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1754532" y="7159624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Provide sample input and output data alongside your shared codebase for better context.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0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Giving the Big Picture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9" name="Google Shape;199;p20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0" name="Google Shape;200;p20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01" name="Google Shape;201;p20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0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3" name="Google Shape;203;p20"/>
          <p:cNvSpPr txBox="1"/>
          <p:nvPr/>
        </p:nvSpPr>
        <p:spPr>
          <a:xfrm>
            <a:off x="477775" y="2104355"/>
            <a:ext cx="17019300" cy="214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Supply architecture notes early to align Claude with your overarching project design patterns.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Share your main README file to establish the core project purpose and dependencies.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Explain your chosen technology stack and framework versions to prevent outdated code suggestions.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Define overarching business logic rules to ensure generated code precisely meets domain requirements.</a:t>
            </a:r>
            <a:endParaRPr/>
          </a:p>
        </p:txBody>
      </p:sp>
      <p:pic>
        <p:nvPicPr>
          <p:cNvPr id="204" name="Google Shape;204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26753" y="4890707"/>
            <a:ext cx="5172075" cy="4457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1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Context Best Practices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1" name="Google Shape;211;p21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2" name="Google Shape;212;p21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13" name="Google Shape;213;p21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1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5" name="Google Shape;215;p21"/>
          <p:cNvSpPr/>
          <p:nvPr/>
        </p:nvSpPr>
        <p:spPr>
          <a:xfrm>
            <a:off x="1447801" y="2475606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Combine system architecture diagrams with descriptive text to build stronger contextual AI understanding.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8474557" y="2482332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Remind Claude of critical security constraints before asking for backend system logic generation.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3807795" y="5927086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Explicitly state any strict coding standards or styling guides your development team follows.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11824767" y="5927086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Regularly reset the conversation context if the programming topic shifts entirely in direction.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2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Code Generation and Refactoring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25" name="Google Shape;225;p22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6" name="Google Shape;226;p22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27" name="Google Shape;227;p22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22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9" name="Google Shape;229;p22"/>
          <p:cNvSpPr txBox="1"/>
          <p:nvPr/>
        </p:nvSpPr>
        <p:spPr>
          <a:xfrm>
            <a:off x="502391" y="2294510"/>
            <a:ext cx="10470409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Transition directly from design specifications into highly functional code using AI generation tools.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Explore practical strategies for safely modernizing and refactoring fragile legacy software architecture systems.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Understand the key differences between language-agnostic logic patterns and highly specific syntax features.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Accelerate component creation by translating user stories into ready-to-deploy frontend and backend elements.</a:t>
            </a:r>
            <a:endParaRPr/>
          </a:p>
        </p:txBody>
      </p:sp>
      <p:pic>
        <p:nvPicPr>
          <p:cNvPr id="230" name="Google Shape;230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598696" y="2379235"/>
            <a:ext cx="569595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3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Generating Code from Specs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7" name="Google Shape;237;p23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8" name="Google Shape;238;p23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39" name="Google Shape;239;p23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3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1" name="Google Shape;241;p23"/>
          <p:cNvSpPr txBox="1"/>
          <p:nvPr/>
        </p:nvSpPr>
        <p:spPr>
          <a:xfrm>
            <a:off x="6808818" y="2817281"/>
            <a:ext cx="10485827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Paste detailed technical specifications directly into Claude to quickly scaffold new class structures.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Transform plain English user stories into complete and functional software components effortlessly today.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Claude to generate multiple implementation options to choose the best architectural approach.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Provide strict input parameters and expected return types to ensure highly precise generation.</a:t>
            </a:r>
            <a:endParaRPr/>
          </a:p>
        </p:txBody>
      </p:sp>
      <p:grpSp>
        <p:nvGrpSpPr>
          <p:cNvPr id="242" name="Google Shape;242;p23"/>
          <p:cNvGrpSpPr/>
          <p:nvPr/>
        </p:nvGrpSpPr>
        <p:grpSpPr>
          <a:xfrm>
            <a:off x="323850" y="2204656"/>
            <a:ext cx="5756909" cy="5509500"/>
            <a:chOff x="323850" y="2204656"/>
            <a:chExt cx="5756909" cy="5509500"/>
          </a:xfrm>
        </p:grpSpPr>
        <p:pic>
          <p:nvPicPr>
            <p:cNvPr id="243" name="Google Shape;243;p2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502390" y="2204656"/>
              <a:ext cx="5578369" cy="5509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4" name="Google Shape;244;p23"/>
            <p:cNvSpPr/>
            <p:nvPr/>
          </p:nvSpPr>
          <p:spPr>
            <a:xfrm>
              <a:off x="323850" y="2204656"/>
              <a:ext cx="819150" cy="81253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4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Component Creation Strategies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1" name="Google Shape;251;p24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2" name="Google Shape;252;p24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53" name="Google Shape;253;p24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4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5" name="Google Shape;255;p24"/>
          <p:cNvSpPr txBox="1"/>
          <p:nvPr/>
        </p:nvSpPr>
        <p:spPr>
          <a:xfrm>
            <a:off x="502391" y="2275022"/>
            <a:ext cx="10639105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Break down massive monolithic features into smaller manageable components before requesting AI code.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Generate reusable frontend UI elements by comprehensively describing the desired state and props.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Instruct Claude to include necessary error handling logic during the initial code generation.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Iteratively refine the generated output by providing highly specific feedback on failed tests.</a:t>
            </a:r>
            <a:endParaRPr/>
          </a:p>
        </p:txBody>
      </p:sp>
      <p:pic>
        <p:nvPicPr>
          <p:cNvPr id="256" name="Google Shape;256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34816" y="2078759"/>
            <a:ext cx="6629400" cy="4676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5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Refactoring Legacy Code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63" name="Google Shape;263;p25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4" name="Google Shape;264;p25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65" name="Google Shape;265;p25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5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67" name="Google Shape;267;p25"/>
          <p:cNvSpPr txBox="1"/>
          <p:nvPr/>
        </p:nvSpPr>
        <p:spPr>
          <a:xfrm>
            <a:off x="6808819" y="2377421"/>
            <a:ext cx="10485827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for modernised syntax, and state explicitly what must not change.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Improve overall code readability by requesting better variable naming and logical code grouping.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Extract complex nested conditionals into separate cleaner helper functions for much easier maintenance.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Identify hidden performance bottlenecks and let the AI suggest optimized algorithmic structural alternatives.</a:t>
            </a:r>
            <a:endParaRPr/>
          </a:p>
        </p:txBody>
      </p:sp>
      <p:pic>
        <p:nvPicPr>
          <p:cNvPr id="268" name="Google Shape;268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391" y="2573477"/>
            <a:ext cx="5668374" cy="38461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Improving Modularization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5" name="Google Shape;275;p2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6" name="Google Shape;276;p2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77" name="Google Shape;277;p2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2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79" name="Google Shape;279;p26"/>
          <p:cNvSpPr/>
          <p:nvPr/>
        </p:nvSpPr>
        <p:spPr>
          <a:xfrm>
            <a:off x="1187465" y="2550262"/>
            <a:ext cx="6005815" cy="2386888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Deconstruct large monolithic classes into smaller isolated modules following strict single responsibility principles.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0" name="Google Shape;280;p26"/>
          <p:cNvSpPr/>
          <p:nvPr/>
        </p:nvSpPr>
        <p:spPr>
          <a:xfrm>
            <a:off x="7970858" y="2550262"/>
            <a:ext cx="6005815" cy="2386888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Use Claude to map out complicated dependency graphs before beginning extensive refactoring procedures.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1" name="Google Shape;281;p26"/>
          <p:cNvSpPr/>
          <p:nvPr/>
        </p:nvSpPr>
        <p:spPr>
          <a:xfrm>
            <a:off x="4036735" y="5823196"/>
            <a:ext cx="6005815" cy="2386888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Request architectural suggestions to decouple tightly integrated components within your older legacy system.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2" name="Google Shape;282;p26"/>
          <p:cNvSpPr/>
          <p:nvPr/>
        </p:nvSpPr>
        <p:spPr>
          <a:xfrm>
            <a:off x="11034196" y="5807635"/>
            <a:ext cx="6005815" cy="2386888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Ensure backward compatibility while transitioning logic into modern microservice-oriented architectural design patterns.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7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Implementing Design Patterns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9" name="Google Shape;289;p27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0" name="Google Shape;290;p27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91" name="Google Shape;291;p27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27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93" name="Google Shape;293;p27"/>
          <p:cNvSpPr txBox="1"/>
          <p:nvPr/>
        </p:nvSpPr>
        <p:spPr>
          <a:xfrm>
            <a:off x="502391" y="2167708"/>
            <a:ext cx="10368809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Claude to refactor repetitive code blocks using established structural and behavioral patterns.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Apply the factory or singleton pattern correctly to optimize complex resource management issues.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Translate basic procedural scripts into robust object-oriented systems with clear inheritance hierarchy structures.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Validate that newly applied design patterns align perfectly with your specific project requirements.</a:t>
            </a:r>
            <a:endParaRPr/>
          </a:p>
        </p:txBody>
      </p:sp>
      <p:pic>
        <p:nvPicPr>
          <p:cNvPr id="294" name="Google Shape;29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816984" y="1902788"/>
            <a:ext cx="5146358" cy="50907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8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Language-Agnostic Patterns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1" name="Google Shape;301;p28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2" name="Google Shape;302;p28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03" name="Google Shape;303;p28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28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05" name="Google Shape;305;p28"/>
          <p:cNvSpPr txBox="1"/>
          <p:nvPr/>
        </p:nvSpPr>
        <p:spPr>
          <a:xfrm>
            <a:off x="7223053" y="2513473"/>
            <a:ext cx="10337039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Focus on core algorithmic logic that applies uniformly across multiple different programming languages.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Understand high-level system design concepts before writing complex syntax for a specific framework.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Use simple pseudo-code to design complex business logic with Claude before implementation begins.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Translate core algorithmic logic between different paradigms like functional and object-oriented programming approaches.</a:t>
            </a:r>
            <a:endParaRPr/>
          </a:p>
        </p:txBody>
      </p:sp>
      <p:pic>
        <p:nvPicPr>
          <p:cNvPr id="306" name="Google Shape;306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391" y="2164777"/>
            <a:ext cx="6071127" cy="46932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9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Language-Specific Tips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3" name="Google Shape;313;p29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14" name="Google Shape;314;p29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15" name="Google Shape;315;p29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29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7" name="Google Shape;317;p29"/>
          <p:cNvSpPr/>
          <p:nvPr/>
        </p:nvSpPr>
        <p:spPr>
          <a:xfrm>
            <a:off x="809580" y="2393282"/>
            <a:ext cx="16668839" cy="119536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Leverage Python list comprehensions and generators for highly concise and memory-efficient data processing.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8" name="Google Shape;318;p29"/>
          <p:cNvSpPr/>
          <p:nvPr/>
        </p:nvSpPr>
        <p:spPr>
          <a:xfrm>
            <a:off x="809580" y="3935593"/>
            <a:ext cx="16668839" cy="119536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Utilize advanced JavaScript asynchronous patterns to handle complex remote API fetching scenarios effectively.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9" name="Google Shape;319;p29"/>
          <p:cNvSpPr/>
          <p:nvPr/>
        </p:nvSpPr>
        <p:spPr>
          <a:xfrm>
            <a:off x="809580" y="5477904"/>
            <a:ext cx="16668839" cy="119536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Implement strong typing and interface definitions when generating robust enterprise-level Java server applications.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20" name="Google Shape;320;p29"/>
          <p:cNvSpPr/>
          <p:nvPr/>
        </p:nvSpPr>
        <p:spPr>
          <a:xfrm>
            <a:off x="809583" y="7020211"/>
            <a:ext cx="16668686" cy="119538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Claude for language-specific standard library functions instead of writing unnecessary custom utilities.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0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Documentation and Tests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27" name="Google Shape;327;p30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8" name="Google Shape;328;p30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29" name="Google Shape;329;p30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30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1" name="Google Shape;331;p30"/>
          <p:cNvSpPr txBox="1"/>
          <p:nvPr/>
        </p:nvSpPr>
        <p:spPr>
          <a:xfrm>
            <a:off x="502391" y="2234258"/>
            <a:ext cx="10342624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Automate the creation of comprehensive documentation to keep your development teams perfectly aligned.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Generate extensive unit and integration tests to proactively ensure software reliability and stability.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Learn practical strategies to maintain absolute consistency between deployed code and project documentation.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Reduce developer fatigue by offloading tedious code commenting and testing tasks to AI.</a:t>
            </a:r>
            <a:endParaRPr/>
          </a:p>
        </p:txBody>
      </p:sp>
      <p:pic>
        <p:nvPicPr>
          <p:cNvPr id="332" name="Google Shape;332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423332" y="2023231"/>
            <a:ext cx="6058249" cy="47063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1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Auto-Generating Documentation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39" name="Google Shape;339;p31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0" name="Google Shape;340;p31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41" name="Google Shape;341;p31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31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43" name="Google Shape;343;p31"/>
          <p:cNvSpPr/>
          <p:nvPr/>
        </p:nvSpPr>
        <p:spPr>
          <a:xfrm>
            <a:off x="1525845" y="2400220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Instantly generate precise docstrings for complex mathematical functions and highly intricate business logic.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4" name="Google Shape;344;p31"/>
          <p:cNvSpPr/>
          <p:nvPr/>
        </p:nvSpPr>
        <p:spPr>
          <a:xfrm>
            <a:off x="8948470" y="2400220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Produce helpful inline code comments that thoroughly explain reasoning behind complex algorithmic choices.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5" name="Google Shape;345;p31"/>
          <p:cNvSpPr/>
          <p:nvPr/>
        </p:nvSpPr>
        <p:spPr>
          <a:xfrm>
            <a:off x="4486633" y="6050117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Draft structured README sections detailing required installation steps and critical configuration requirements.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6" name="Google Shape;346;p31"/>
          <p:cNvSpPr/>
          <p:nvPr/>
        </p:nvSpPr>
        <p:spPr>
          <a:xfrm>
            <a:off x="11704370" y="6007744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Create comprehensive API reference documentation based on your newly defined routing architecture files.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2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Structuring the README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53" name="Google Shape;353;p32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4" name="Google Shape;354;p32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55" name="Google Shape;355;p32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32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7" name="Google Shape;357;p32"/>
          <p:cNvSpPr txBox="1"/>
          <p:nvPr/>
        </p:nvSpPr>
        <p:spPr>
          <a:xfrm>
            <a:off x="6122793" y="2530719"/>
            <a:ext cx="10695603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Instruct Claude to systematically organize your README with clear prerequisites and deployment instructions.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Automatically extract package dependencies from configuration files to generate accurate environment setup guides.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Draft highly engaging project overviews that help new contributors completely understand the mission.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Generate incredibly clear troubleshooting sections based on common syntax errors found during development.</a:t>
            </a:r>
            <a:endParaRPr/>
          </a:p>
        </p:txBody>
      </p:sp>
      <p:pic>
        <p:nvPicPr>
          <p:cNvPr id="358" name="Google Shape;358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391" y="2359330"/>
            <a:ext cx="5121169" cy="4621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3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Generating Unit Tests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65" name="Google Shape;365;p33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6" name="Google Shape;366;p33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67" name="Google Shape;367;p33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33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9" name="Google Shape;369;p33"/>
          <p:cNvSpPr txBox="1"/>
          <p:nvPr/>
        </p:nvSpPr>
        <p:spPr>
          <a:xfrm>
            <a:off x="502391" y="2446064"/>
            <a:ext cx="10866649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Submit complex individual functions to Claude to generate incredibly comprehensive and isolated tests.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Ensure tests proactively cover standard inputs alongside unexpected edge cases and boundary conditions.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Generate automated mock objects to easily simulate external database connections or API responses.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Specify your preferred modern testing framework like PyTest or Jest for accurate syntax.</a:t>
            </a:r>
            <a:endParaRPr/>
          </a:p>
        </p:txBody>
      </p:sp>
      <p:pic>
        <p:nvPicPr>
          <p:cNvPr id="370" name="Google Shape;370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198771" y="2487926"/>
            <a:ext cx="5095875" cy="4200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34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Generating Integration Tests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7" name="Google Shape;377;p34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8" name="Google Shape;378;p34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79" name="Google Shape;379;p34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34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81" name="Google Shape;381;p34"/>
          <p:cNvSpPr/>
          <p:nvPr/>
        </p:nvSpPr>
        <p:spPr>
          <a:xfrm>
            <a:off x="861347" y="2585558"/>
            <a:ext cx="6416040" cy="2690751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Design robust integration tests that verify critical interactions between multiple independent software modules.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2" name="Google Shape;382;p34"/>
          <p:cNvSpPr/>
          <p:nvPr/>
        </p:nvSpPr>
        <p:spPr>
          <a:xfrm>
            <a:off x="8138952" y="2585558"/>
            <a:ext cx="6416040" cy="2690751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Verify that specific API endpoints correctly process web requests and update database records.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3" name="Google Shape;383;p34"/>
          <p:cNvSpPr/>
          <p:nvPr/>
        </p:nvSpPr>
        <p:spPr>
          <a:xfrm>
            <a:off x="3238459" y="5875523"/>
            <a:ext cx="6416040" cy="2690751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Ask Claude to intelligently simulate complex user flows directly through your frontend components.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4" name="Google Shape;384;p34"/>
          <p:cNvSpPr/>
          <p:nvPr/>
        </p:nvSpPr>
        <p:spPr>
          <a:xfrm>
            <a:off x="10783356" y="5875522"/>
            <a:ext cx="6416040" cy="2690751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Generate automated setup and teardown scripts to consistently maintain a clean testing environment.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35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Maintaining Consistency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1" name="Google Shape;391;p35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92" name="Google Shape;392;p35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93" name="Google Shape;393;p35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35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5" name="Google Shape;395;p35"/>
          <p:cNvSpPr/>
          <p:nvPr/>
        </p:nvSpPr>
        <p:spPr>
          <a:xfrm>
            <a:off x="1343220" y="2572104"/>
            <a:ext cx="15320891" cy="1294723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Regularly feed updated source code back into Claude to accurately refresh outdated documentation.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6" name="Google Shape;396;p35"/>
          <p:cNvSpPr/>
          <p:nvPr/>
        </p:nvSpPr>
        <p:spPr>
          <a:xfrm>
            <a:off x="1343220" y="4143071"/>
            <a:ext cx="15320891" cy="1294723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Implement automated verification checks to ensure that text comments match underlying function logic.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7" name="Google Shape;397;p35"/>
          <p:cNvSpPr/>
          <p:nvPr/>
        </p:nvSpPr>
        <p:spPr>
          <a:xfrm>
            <a:off x="1343220" y="5714038"/>
            <a:ext cx="15320891" cy="1294723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Ensure that generated software test cases accurately reflect the latest agile story requirements.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8" name="Google Shape;398;p35"/>
          <p:cNvSpPr/>
          <p:nvPr/>
        </p:nvSpPr>
        <p:spPr>
          <a:xfrm>
            <a:off x="1343220" y="7285004"/>
            <a:ext cx="15320891" cy="1294723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Create synchronized workflows where source code changes immediately trigger targeted documentation update prompts.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Key Takeaways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3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06" name="Google Shape;406;p3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407" name="Google Shape;407;p3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3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09" name="Google Shape;409;p36"/>
          <p:cNvSpPr txBox="1"/>
          <p:nvPr/>
        </p:nvSpPr>
        <p:spPr>
          <a:xfrm>
            <a:off x="502391" y="2227530"/>
            <a:ext cx="9937009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Established highly effective workflows by correctly organizing context and sharing the big picture.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Generated entirely new software components and expertly refactored legacy code using AI techniques.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Applied both language-agnostic foundational logic and language-specific framework features to optimize performance.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Automated comprehensive project documentation and rigorous testing to maintain high-quality coding standards.</a:t>
            </a:r>
            <a:endParaRPr/>
          </a:p>
        </p:txBody>
      </p:sp>
      <p:pic>
        <p:nvPicPr>
          <p:cNvPr id="410" name="Google Shape;410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45368" y="2317993"/>
            <a:ext cx="5649278" cy="4193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6" name="Google Shape;416;p37"/>
          <p:cNvGrpSpPr/>
          <p:nvPr/>
        </p:nvGrpSpPr>
        <p:grpSpPr>
          <a:xfrm>
            <a:off x="-378374" y="-159439"/>
            <a:ext cx="19123574" cy="10605878"/>
            <a:chOff x="0" y="0"/>
            <a:chExt cx="24451818" cy="13783818"/>
          </a:xfrm>
        </p:grpSpPr>
        <p:sp>
          <p:nvSpPr>
            <p:cNvPr id="417" name="Google Shape;417;p37"/>
            <p:cNvSpPr/>
            <p:nvPr/>
          </p:nvSpPr>
          <p:spPr>
            <a:xfrm>
              <a:off x="33909" y="33909"/>
              <a:ext cx="24384001" cy="13716001"/>
            </a:xfrm>
            <a:custGeom>
              <a:rect b="b" l="l" r="r" t="t"/>
              <a:pathLst>
                <a:path extrusionOk="0" h="13716001" w="24384001">
                  <a:moveTo>
                    <a:pt x="0" y="0"/>
                  </a:moveTo>
                  <a:lnTo>
                    <a:pt x="24384001" y="0"/>
                  </a:lnTo>
                  <a:lnTo>
                    <a:pt x="24384001" y="13716001"/>
                  </a:lnTo>
                  <a:lnTo>
                    <a:pt x="0" y="13716001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418" name="Google Shape;418;p37"/>
            <p:cNvSpPr/>
            <p:nvPr/>
          </p:nvSpPr>
          <p:spPr>
            <a:xfrm>
              <a:off x="0" y="0"/>
              <a:ext cx="24451818" cy="13783818"/>
            </a:xfrm>
            <a:custGeom>
              <a:rect b="b" l="l" r="r" t="t"/>
              <a:pathLst>
                <a:path extrusionOk="0" h="13783818" w="24451818">
                  <a:moveTo>
                    <a:pt x="33909" y="0"/>
                  </a:moveTo>
                  <a:lnTo>
                    <a:pt x="24417910" y="0"/>
                  </a:lnTo>
                  <a:cubicBezTo>
                    <a:pt x="24436578" y="0"/>
                    <a:pt x="24451818" y="15113"/>
                    <a:pt x="24451818" y="33909"/>
                  </a:cubicBezTo>
                  <a:lnTo>
                    <a:pt x="24451818" y="13749910"/>
                  </a:lnTo>
                  <a:cubicBezTo>
                    <a:pt x="24451818" y="13768578"/>
                    <a:pt x="24436705" y="13783818"/>
                    <a:pt x="24417910" y="13783818"/>
                  </a:cubicBezTo>
                  <a:lnTo>
                    <a:pt x="33909" y="13783818"/>
                  </a:lnTo>
                  <a:cubicBezTo>
                    <a:pt x="15240" y="13783818"/>
                    <a:pt x="0" y="13768705"/>
                    <a:pt x="0" y="13749910"/>
                  </a:cubicBezTo>
                  <a:lnTo>
                    <a:pt x="0" y="33909"/>
                  </a:lnTo>
                  <a:cubicBezTo>
                    <a:pt x="0" y="15113"/>
                    <a:pt x="15113" y="0"/>
                    <a:pt x="33909" y="0"/>
                  </a:cubicBezTo>
                  <a:moveTo>
                    <a:pt x="33909" y="67691"/>
                  </a:moveTo>
                  <a:lnTo>
                    <a:pt x="33909" y="33909"/>
                  </a:lnTo>
                  <a:lnTo>
                    <a:pt x="67691" y="33909"/>
                  </a:lnTo>
                  <a:lnTo>
                    <a:pt x="67691" y="13749910"/>
                  </a:lnTo>
                  <a:lnTo>
                    <a:pt x="33909" y="13749910"/>
                  </a:lnTo>
                  <a:lnTo>
                    <a:pt x="33909" y="13716000"/>
                  </a:lnTo>
                  <a:lnTo>
                    <a:pt x="24417910" y="13716000"/>
                  </a:lnTo>
                  <a:lnTo>
                    <a:pt x="24417910" y="13749910"/>
                  </a:lnTo>
                  <a:lnTo>
                    <a:pt x="24384000" y="13749910"/>
                  </a:lnTo>
                  <a:lnTo>
                    <a:pt x="24384000" y="33909"/>
                  </a:lnTo>
                  <a:lnTo>
                    <a:pt x="24417910" y="33909"/>
                  </a:lnTo>
                  <a:lnTo>
                    <a:pt x="24417910" y="67691"/>
                  </a:lnTo>
                  <a:lnTo>
                    <a:pt x="33909" y="67691"/>
                  </a:lnTo>
                  <a:close/>
                </a:path>
              </a:pathLst>
            </a:custGeom>
            <a:solidFill>
              <a:srgbClr val="0F243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19" name="Google Shape;419;p37"/>
          <p:cNvSpPr txBox="1"/>
          <p:nvPr/>
        </p:nvSpPr>
        <p:spPr>
          <a:xfrm>
            <a:off x="10582298" y="6464001"/>
            <a:ext cx="3196186" cy="4530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www.zarantech.com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37"/>
          <p:cNvSpPr/>
          <p:nvPr/>
        </p:nvSpPr>
        <p:spPr>
          <a:xfrm>
            <a:off x="10134151" y="6485798"/>
            <a:ext cx="381880" cy="399958"/>
          </a:xfrm>
          <a:custGeom>
            <a:rect b="b" l="l" r="r" t="t"/>
            <a:pathLst>
              <a:path extrusionOk="0" h="399958" w="381880">
                <a:moveTo>
                  <a:pt x="0" y="0"/>
                </a:moveTo>
                <a:lnTo>
                  <a:pt x="381880" y="0"/>
                </a:lnTo>
                <a:lnTo>
                  <a:pt x="381880" y="399958"/>
                </a:lnTo>
                <a:lnTo>
                  <a:pt x="0" y="3999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21" name="Google Shape;421;p37"/>
          <p:cNvSpPr/>
          <p:nvPr/>
        </p:nvSpPr>
        <p:spPr>
          <a:xfrm>
            <a:off x="15775388" y="330356"/>
            <a:ext cx="2238872" cy="461178"/>
          </a:xfrm>
          <a:custGeom>
            <a:rect b="b" l="l" r="r" t="t"/>
            <a:pathLst>
              <a:path extrusionOk="0" h="461178" w="2238872">
                <a:moveTo>
                  <a:pt x="0" y="0"/>
                </a:moveTo>
                <a:lnTo>
                  <a:pt x="2238872" y="0"/>
                </a:lnTo>
                <a:lnTo>
                  <a:pt x="2238872" y="461178"/>
                </a:lnTo>
                <a:lnTo>
                  <a:pt x="0" y="4611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22" name="Google Shape;422;p37"/>
          <p:cNvSpPr txBox="1"/>
          <p:nvPr/>
        </p:nvSpPr>
        <p:spPr>
          <a:xfrm>
            <a:off x="10134151" y="3262096"/>
            <a:ext cx="6115454" cy="27361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Thank You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3998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t/>
            </a:r>
            <a:endParaRPr b="1" i="0" sz="72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9958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FC000"/>
                </a:solidFill>
                <a:latin typeface="Open Sans"/>
                <a:ea typeface="Open Sans"/>
                <a:cs typeface="Open Sans"/>
                <a:sym typeface="Open Sans"/>
              </a:rPr>
              <a:t>For more informative Videos, Subscribe to our YouTube Channel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37"/>
          <p:cNvSpPr txBox="1"/>
          <p:nvPr/>
        </p:nvSpPr>
        <p:spPr>
          <a:xfrm>
            <a:off x="9702583" y="97705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4" name="Google Shape;424;p37"/>
          <p:cNvPicPr preferRelativeResize="0"/>
          <p:nvPr/>
        </p:nvPicPr>
        <p:blipFill rotWithShape="1">
          <a:blip r:embed="rId5">
            <a:alphaModFix/>
          </a:blip>
          <a:srcRect b="0" l="0" r="41821" t="0"/>
          <a:stretch/>
        </p:blipFill>
        <p:spPr>
          <a:xfrm>
            <a:off x="-392265" y="-185528"/>
            <a:ext cx="9275007" cy="106281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1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Exercises in This Module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41" name="Google Shape;141;p1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3" name="Google Shape;143;p16"/>
          <p:cNvSpPr txBox="1"/>
          <p:nvPr/>
        </p:nvSpPr>
        <p:spPr>
          <a:xfrm>
            <a:off x="502391" y="2249498"/>
            <a:ext cx="10151095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4: Create a project context file for Claude Code. 12 minutes.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5: Refactor a registration endpoint safely. 20 minutes.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6: Add documentation and tests to undocumented code. 22 minutes.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This module needs Claude Code installed locally. No API key yet.</a:t>
            </a:r>
            <a:endParaRPr/>
          </a:p>
        </p:txBody>
      </p:sp>
      <p:pic>
        <p:nvPicPr>
          <p:cNvPr id="144" name="Google Shape;14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834812" y="2038948"/>
            <a:ext cx="5286375" cy="4705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1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The Project Context File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41" name="Google Shape;141;p1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3" name="Google Shape;143;p16"/>
          <p:cNvSpPr txBox="1"/>
          <p:nvPr/>
        </p:nvSpPr>
        <p:spPr>
          <a:xfrm>
            <a:off x="502391" y="2249498"/>
            <a:ext cx="10151095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Claude Code reads a CLAUDE.md at your repository root automatically.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Put in it what a new colleague would need: stack, conventions, and what not to touch.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 file beats a pasted message: it survives every session and it is version controlled.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Update it when the design changes, or the assistant keeps building the old shape.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4 has you write one for a project of your own.</a:t>
            </a:r>
            <a:endParaRPr/>
          </a:p>
        </p:txBody>
      </p:sp>
      <p:pic>
        <p:nvPicPr>
          <p:cNvPr id="144" name="Google Shape;14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834812" y="2038948"/>
            <a:ext cx="5286375" cy="4705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