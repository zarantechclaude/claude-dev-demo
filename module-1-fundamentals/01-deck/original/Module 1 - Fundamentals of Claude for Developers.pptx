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Lato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35" Type="http://schemas.openxmlformats.org/officeDocument/2006/relationships/font" Target="fonts/OpenSans-regular.fntdata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2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2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-448267" y="0"/>
            <a:ext cx="19123574" cy="10605878"/>
            <a:chOff x="0" y="0"/>
            <a:chExt cx="24451818" cy="13783818"/>
          </a:xfrm>
        </p:grpSpPr>
        <p:sp>
          <p:nvSpPr>
            <p:cNvPr id="93" name="Google Shape;93;p13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94" name="Google Shape;94;p13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9395641" y="3333132"/>
            <a:ext cx="9226185" cy="2410822"/>
            <a:chOff x="9645114" y="217380"/>
            <a:chExt cx="9371989" cy="2410822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9645114" y="217380"/>
              <a:ext cx="9371989" cy="190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00"/>
                <a:buFont typeface="Arial"/>
                <a:buNone/>
              </a:pPr>
              <a:r>
                <a:rPr b="1" i="0" lang="en-US" sz="6200" u="none" cap="none" strike="noStrike">
                  <a:solidFill>
                    <a:srgbClr val="FFC000"/>
                  </a:solidFill>
                  <a:latin typeface="Open Sans"/>
                  <a:ea typeface="Open Sans"/>
                  <a:cs typeface="Open Sans"/>
                  <a:sym typeface="Open Sans"/>
                </a:rPr>
                <a:t>Fundamentals of Claude for Developers</a:t>
              </a:r>
              <a:endParaRPr b="1" i="0" sz="62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7" name="Google Shape;97;p13"/>
            <p:cNvGrpSpPr/>
            <p:nvPr/>
          </p:nvGrpSpPr>
          <p:grpSpPr>
            <a:xfrm>
              <a:off x="9729879" y="2214596"/>
              <a:ext cx="3735772" cy="413606"/>
              <a:chOff x="9870618" y="2813623"/>
              <a:chExt cx="3735772" cy="413606"/>
            </a:xfrm>
          </p:grpSpPr>
          <p:sp>
            <p:nvSpPr>
              <p:cNvPr id="98" name="Google Shape;98;p13"/>
              <p:cNvSpPr txBox="1"/>
              <p:nvPr/>
            </p:nvSpPr>
            <p:spPr>
              <a:xfrm>
                <a:off x="10410190" y="2813623"/>
                <a:ext cx="31962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995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www.zarantech.com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9870618" y="2827271"/>
                <a:ext cx="381880" cy="399958"/>
              </a:xfrm>
              <a:custGeom>
                <a:rect b="b" l="l" r="r" t="t"/>
                <a:pathLst>
                  <a:path extrusionOk="0" h="399958" w="381880">
                    <a:moveTo>
                      <a:pt x="0" y="0"/>
                    </a:moveTo>
                    <a:lnTo>
                      <a:pt x="381880" y="0"/>
                    </a:lnTo>
                    <a:lnTo>
                      <a:pt x="381880" y="399958"/>
                    </a:lnTo>
                    <a:lnTo>
                      <a:pt x="0" y="399958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</p:sp>
        </p:grpSp>
      </p:grpSp>
      <p:sp>
        <p:nvSpPr>
          <p:cNvPr id="100" name="Google Shape;100;p13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508831" y="-1"/>
            <a:ext cx="9255542" cy="1060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9144000" y="583020"/>
            <a:ext cx="9448800" cy="9710538"/>
          </a:xfrm>
          <a:custGeom>
            <a:rect b="b" l="l" r="r" t="t"/>
            <a:pathLst>
              <a:path extrusionOk="0" h="12689306" w="12689306">
                <a:moveTo>
                  <a:pt x="0" y="0"/>
                </a:moveTo>
                <a:lnTo>
                  <a:pt x="12689306" y="0"/>
                </a:lnTo>
                <a:lnTo>
                  <a:pt x="12689306" y="12689306"/>
                </a:lnTo>
                <a:lnTo>
                  <a:pt x="0" y="12689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28" l="-22357" r="-16672" t="-15062"/>
            </a:stretch>
          </a:blipFill>
          <a:ln>
            <a:noFill/>
          </a:ln>
        </p:spPr>
      </p:sp>
      <p:grpSp>
        <p:nvGrpSpPr>
          <p:cNvPr id="110" name="Google Shape;110;p14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11" name="Google Shape;111;p14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4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Disclaimer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323850" y="1460370"/>
            <a:ext cx="882015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presentation, including examples, images, and references are provided for informational purposes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Complying with all applicable copyrights laws is the responsibility of the user.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Without limiting the rights under copyright, no part of this document may be  reproduced, stored or introduced into a retrieval system, or transmitted in any form or by any means.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Credits shall be given to the images taken from the open-source and cannot be used for promotional activities.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16" name="Google Shape;116;p1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17114219" y="9163493"/>
            <a:ext cx="34324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24" name="Google Shape;124;p15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5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02391" y="2066255"/>
            <a:ext cx="10209152" cy="4653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Welcome to the Fundamentals of Claude for Developers course module.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will explore Claude's capabilities and its integration into workflows.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Discover essential prompting foundations tailored specifically for software engineers.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Learn responsible and efficient AI usage to accelerate coding tasks.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0893284" y="-38176"/>
            <a:ext cx="7187978" cy="10325176"/>
          </a:xfrm>
          <a:custGeom>
            <a:rect b="b" l="l" r="r" t="t"/>
            <a:pathLst>
              <a:path extrusionOk="0" h="10325176" w="7187978">
                <a:moveTo>
                  <a:pt x="0" y="0"/>
                </a:moveTo>
                <a:lnTo>
                  <a:pt x="7187978" y="0"/>
                </a:lnTo>
                <a:lnTo>
                  <a:pt x="7187978" y="10325176"/>
                </a:lnTo>
                <a:lnTo>
                  <a:pt x="0" y="10325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30" name="Google Shape;130;p1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02391" y="1458435"/>
            <a:ext cx="2507429" cy="45719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What is Claude AI?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is an advanced AI assistant developed by Anthropic. 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engages in open-ended conversations and handles complex technical tasks. 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serves as a powerful coding partner for modern developers. 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securely processes massive codebases using its large context window.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Where Developers Access Claude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1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55" name="Google Shape;155;p1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7"/>
          <p:cNvSpPr txBox="1"/>
          <p:nvPr/>
        </p:nvSpPr>
        <p:spPr>
          <a:xfrm>
            <a:off x="502391" y="2446064"/>
            <a:ext cx="10959482" cy="214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Access Claude directly through the intuitive web application interface. 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Utilize the Claude API for seamless custom software integrations. 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Integrate Claude easily with popular third-party tools and platforms. 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Build customized AI solutions using the dedicated Claude Agent SDK.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96586" y="1460128"/>
            <a:ext cx="4038600" cy="4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Introduction to Claude Code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1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67" name="Google Shape;167;p1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9" name="Google Shape;169;p18"/>
          <p:cNvGrpSpPr/>
          <p:nvPr/>
        </p:nvGrpSpPr>
        <p:grpSpPr>
          <a:xfrm>
            <a:off x="1476592" y="2205945"/>
            <a:ext cx="14858611" cy="1382806"/>
            <a:chOff x="2292567" y="3922998"/>
            <a:chExt cx="13991635" cy="1583760"/>
          </a:xfrm>
        </p:grpSpPr>
        <p:sp>
          <p:nvSpPr>
            <p:cNvPr id="170" name="Google Shape;170;p18"/>
            <p:cNvSpPr/>
            <p:nvPr/>
          </p:nvSpPr>
          <p:spPr>
            <a:xfrm>
              <a:off x="2292567" y="3922998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2458402" y="4075398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Claude Code is an agentic tool operating inside your terminal. 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2" name="Google Shape;172;p18"/>
          <p:cNvGrpSpPr/>
          <p:nvPr/>
        </p:nvGrpSpPr>
        <p:grpSpPr>
          <a:xfrm>
            <a:off x="1476592" y="4110306"/>
            <a:ext cx="14858611" cy="1382806"/>
            <a:chOff x="2292567" y="5702612"/>
            <a:chExt cx="13991635" cy="1583760"/>
          </a:xfrm>
        </p:grpSpPr>
        <p:sp>
          <p:nvSpPr>
            <p:cNvPr id="173" name="Google Shape;173;p18"/>
            <p:cNvSpPr/>
            <p:nvPr/>
          </p:nvSpPr>
          <p:spPr>
            <a:xfrm>
              <a:off x="2292567" y="5702612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2458402" y="5855012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It natively reads codebases and executes changes across multiple files.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1476592" y="6014667"/>
            <a:ext cx="14858611" cy="1382806"/>
            <a:chOff x="2292567" y="7564986"/>
            <a:chExt cx="13991635" cy="1583760"/>
          </a:xfrm>
        </p:grpSpPr>
        <p:sp>
          <p:nvSpPr>
            <p:cNvPr id="176" name="Google Shape;176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Developers can also use the dedicated Visual Studio Code extension. 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1476591" y="7919027"/>
            <a:ext cx="14858611" cy="1382806"/>
            <a:chOff x="2292567" y="7564986"/>
            <a:chExt cx="13991635" cy="1583760"/>
          </a:xfrm>
        </p:grpSpPr>
        <p:sp>
          <p:nvSpPr>
            <p:cNvPr id="179" name="Google Shape;179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It runs tests and delivers committed code directly to you.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/>
        </p:nvSpPr>
        <p:spPr>
          <a:xfrm>
            <a:off x="502391" y="637523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Strengths vs Other Assistants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1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89" name="Google Shape;189;p1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9"/>
          <p:cNvSpPr/>
          <p:nvPr/>
        </p:nvSpPr>
        <p:spPr>
          <a:xfrm>
            <a:off x="2295023" y="4007418"/>
            <a:ext cx="13906273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massive context window easily understands extensive project source code. 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295023" y="2423051"/>
            <a:ext cx="13906273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Claude features exceptionally strong reasoning for complex software architecture problems. 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2295023" y="5591785"/>
            <a:ext cx="13906273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maintains high focus during extended complex coding tasks securely. 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2190863" y="7176151"/>
            <a:ext cx="13906273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Claude generates fewer hallucinations, ensuring more reliable technical responses. 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Unmatched Coding Support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2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03" name="Google Shape;203;p2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20"/>
          <p:cNvSpPr txBox="1"/>
          <p:nvPr/>
        </p:nvSpPr>
        <p:spPr>
          <a:xfrm>
            <a:off x="477775" y="2104355"/>
            <a:ext cx="170193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Fable 5,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Opus</a:t>
            </a: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Sonnet 5 leads industry benchmarks in coding proficiency.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successfully completes complex coding tasks with minimal developer intervention. 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Context editing automatically manages tool results when approaching token limits.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memory tool stores persistent information across multiple developer conversations. </a:t>
            </a:r>
            <a:endParaRPr/>
          </a:p>
        </p:txBody>
      </p:sp>
      <p:pic>
        <p:nvPicPr>
          <p:cNvPr id="206" name="Google Shape;20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4575" y="4785477"/>
            <a:ext cx="6038850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Overview of Developer Use Cases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2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15" name="Google Shape;215;p2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21"/>
          <p:cNvSpPr/>
          <p:nvPr/>
        </p:nvSpPr>
        <p:spPr>
          <a:xfrm>
            <a:off x="1534113" y="2475606"/>
            <a:ext cx="4427621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boilerplate code and entire functions from simple natural language. 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6930189" y="2475606"/>
            <a:ext cx="4427621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Rapidly debug complex errors by providing trace logs to Claude. 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3894107" y="5835646"/>
            <a:ext cx="4427621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Draft comprehensive technical documentation and system architecture overviews instantly. 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9274559" y="5835646"/>
            <a:ext cx="4427621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Automatically create rigorous unit and integration tests for existing code. 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12326265" y="2475606"/>
            <a:ext cx="4427621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Refactor legacy codebases securely to meet modern software engineering standards. 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What is a Developer Prompt?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2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30" name="Google Shape;230;p2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22"/>
          <p:cNvSpPr txBox="1"/>
          <p:nvPr/>
        </p:nvSpPr>
        <p:spPr>
          <a:xfrm>
            <a:off x="502391" y="2294510"/>
            <a:ext cx="10470409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prompt is the exact instruction set given to Claude.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directs the AI to produce desired code or explanations.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Prompts act as the primary interface between developers and Claude.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Clear prompts transform vague ideas into executable software solutions quickly.</a:t>
            </a:r>
            <a:endParaRPr/>
          </a:p>
        </p:txBody>
      </p:sp>
      <p:pic>
        <p:nvPicPr>
          <p:cNvPr id="233" name="Google Shape;23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52035" y="1581072"/>
            <a:ext cx="49149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Why Prompt Structure Matters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2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42" name="Google Shape;242;p2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23"/>
          <p:cNvSpPr txBox="1"/>
          <p:nvPr/>
        </p:nvSpPr>
        <p:spPr>
          <a:xfrm>
            <a:off x="6808819" y="2777960"/>
            <a:ext cx="10485827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Well-structured prompts drastically reduce back-and-forth iteration with the AI.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Structured requests yield highly predictable and consistently formatted code outputs.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Good structure ensures Claude fully understands the surrounding application context.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Proper formatting minimizes the risk of generating insecure or inefficient code.</a:t>
            </a:r>
            <a:endParaRPr/>
          </a:p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64" y="2309235"/>
            <a:ext cx="4972050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Basic Prompting Patterns: Instructions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" name="Google Shape;252;p2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54" name="Google Shape;254;p2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24"/>
          <p:cNvSpPr txBox="1"/>
          <p:nvPr/>
        </p:nvSpPr>
        <p:spPr>
          <a:xfrm>
            <a:off x="502391" y="2320742"/>
            <a:ext cx="11400049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Always start prompts with clear, unambiguous, and direct action verbs.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Specify the exact programming language and framework version required upfront.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Break complex software engineering tasks into smaller, manageable sub-tasks.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Define the precise output format needed, such as JSON only.</a:t>
            </a:r>
            <a:endParaRPr/>
          </a:p>
        </p:txBody>
      </p:sp>
      <p:pic>
        <p:nvPicPr>
          <p:cNvPr id="257" name="Google Shape;25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74996" y="1641335"/>
            <a:ext cx="481965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Basic Prompting Patterns: Context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" name="Google Shape;264;p2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66" name="Google Shape;266;p2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25"/>
          <p:cNvSpPr txBox="1"/>
          <p:nvPr/>
        </p:nvSpPr>
        <p:spPr>
          <a:xfrm>
            <a:off x="6808819" y="2777960"/>
            <a:ext cx="10485827" cy="3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Provide necessary background information about your specific application architecture.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Share relevant database schemas or API contracts to improve accuracy.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Explain the ultimate business goal behind the requested code snippet.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Include details about the current operating system or deployment environment.</a:t>
            </a:r>
            <a:endParaRPr/>
          </a:p>
        </p:txBody>
      </p:sp>
      <p:pic>
        <p:nvPicPr>
          <p:cNvPr id="269" name="Google Shape;26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377421"/>
            <a:ext cx="5578102" cy="4828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Basic Prompting Patterns: Examples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2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2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78" name="Google Shape;278;p2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26"/>
          <p:cNvSpPr/>
          <p:nvPr/>
        </p:nvSpPr>
        <p:spPr>
          <a:xfrm>
            <a:off x="1431305" y="2550262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Include successful code examples to demonstrate your preferred coding style.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8214698" y="2550262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examples to establish specific naming conventions for variables securely.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4280575" y="5823196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Provide input and output data samples for complex data transformations.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11278036" y="5807635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Examples dramatically improve the accuracy of Claude's generated code outputs.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Basic Prompting Patterns: Constraints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2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92" name="Google Shape;292;p2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27"/>
          <p:cNvSpPr txBox="1"/>
          <p:nvPr/>
        </p:nvSpPr>
        <p:spPr>
          <a:xfrm>
            <a:off x="502391" y="2733880"/>
            <a:ext cx="10368809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Explicitly state what Claude should completely avoid in its response.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Set strict performance or memory usage limits for the code.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Restrict the use of specific external libraries or deprecated functions.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Define exact length limitations for the generated scripts or documentation.</a:t>
            </a:r>
            <a:endParaRPr/>
          </a:p>
        </p:txBody>
      </p:sp>
      <p:pic>
        <p:nvPicPr>
          <p:cNvPr id="295" name="Google Shape;29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60696" y="2167708"/>
            <a:ext cx="44577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Common Prompting Pitfalls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p2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04" name="Google Shape;304;p2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28"/>
          <p:cNvSpPr txBox="1"/>
          <p:nvPr/>
        </p:nvSpPr>
        <p:spPr>
          <a:xfrm>
            <a:off x="7299253" y="2644060"/>
            <a:ext cx="10337039" cy="3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Providing vague instructions leads to generic and unusable code snippets.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Missing constraints result in bloated or non-compliant software solutions.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Omitting context causes Claude to hallucinate incorrect API methods.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Asking too many questions simultaneously degrades the overall response quality.</a:t>
            </a:r>
            <a:endParaRPr/>
          </a:p>
        </p:txBody>
      </p:sp>
      <p:pic>
        <p:nvPicPr>
          <p:cNvPr id="307" name="Google Shape;30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122033"/>
            <a:ext cx="5317838" cy="4522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Fixing Overlong Prompts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2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5" name="Google Shape;315;p2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16" name="Google Shape;316;p2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29"/>
          <p:cNvSpPr/>
          <p:nvPr/>
        </p:nvSpPr>
        <p:spPr>
          <a:xfrm>
            <a:off x="2168281" y="2443624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writing excessively long prompts that lose the core objective.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2168281" y="3985935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Remove irrelevant background details that confuse the AI model's focus.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2168281" y="5528246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Separate distinct coding requests into multiple sequential prompt interactions.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2168281" y="7070556"/>
            <a:ext cx="13299000" cy="90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clear headings to separate instructions, context, and examples neatly.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Responsible AI and Safety Guidelines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p3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p3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30" name="Google Shape;330;p3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30"/>
          <p:cNvSpPr txBox="1"/>
          <p:nvPr/>
        </p:nvSpPr>
        <p:spPr>
          <a:xfrm>
            <a:off x="502391" y="2234258"/>
            <a:ext cx="10342624" cy="3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Always review AI-generated code for security vulnerabilities before deployment.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your use of Claude aligns with organizational compliance policies.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Understand that AI models can occasionally produce plausible but incorrect code.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Treat AI as a collaborative pair programmer, not an infallible oracle.</a:t>
            </a:r>
            <a:endParaRPr/>
          </a:p>
        </p:txBody>
      </p:sp>
      <p:pic>
        <p:nvPicPr>
          <p:cNvPr id="333" name="Google Shape;33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60596" y="2003592"/>
            <a:ext cx="52578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Handling Secrets and PII Safely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0" name="Google Shape;340;p3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3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42" name="Google Shape;342;p3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31"/>
          <p:cNvSpPr/>
          <p:nvPr/>
        </p:nvSpPr>
        <p:spPr>
          <a:xfrm>
            <a:off x="1525845" y="2400220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Never include API keys or database passwords in your prompts.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8948470" y="2400220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environment variables placeholders in prompts instead of hardcoded credentials.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4486633" y="6050117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Scrub all Personally Identifiable Information before sharing logs with Claude.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11704370" y="6007744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Sanitize production database dumps thoroughly before pasting them as context.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Trust vs. Verify in AI Code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3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" name="Google Shape;355;p3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56" name="Google Shape;356;p3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8" name="Google Shape;358;p32"/>
          <p:cNvSpPr txBox="1"/>
          <p:nvPr/>
        </p:nvSpPr>
        <p:spPr>
          <a:xfrm>
            <a:off x="6006481" y="2958677"/>
            <a:ext cx="10695603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Treat all AI-generated code as a helpful initial draft only.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Verify every function against your existing unit test suite rigorously.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Cross-reference suggested third-party libraries for known security vulnerabilities manually.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Never blindly copy and paste code directly into production environments.</a:t>
            </a:r>
            <a:endParaRPr/>
          </a:p>
        </p:txBody>
      </p:sp>
      <p:pic>
        <p:nvPicPr>
          <p:cNvPr id="359" name="Google Shape;35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507" y="2204991"/>
            <a:ext cx="4403438" cy="4609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AI Code Review Best Practices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6" name="Google Shape;366;p3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3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68" name="Google Shape;368;p3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0" name="Google Shape;370;p33"/>
          <p:cNvSpPr txBox="1"/>
          <p:nvPr/>
        </p:nvSpPr>
        <p:spPr>
          <a:xfrm>
            <a:off x="502391" y="2446064"/>
            <a:ext cx="10866649" cy="214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Review Claude's output with the same scrutiny as human code.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Check for edge cases that the AI model might have missed.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the generated code adheres to internal secure coding standards.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that the AI code properly handles exceptions and errors.</a:t>
            </a:r>
            <a:endParaRPr/>
          </a:p>
        </p:txBody>
      </p:sp>
      <p:pic>
        <p:nvPicPr>
          <p:cNvPr id="371" name="Google Shape;37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59355" y="1163622"/>
            <a:ext cx="4277025" cy="4310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Time-Saving Strategies and Templates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" name="Google Shape;378;p3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3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80" name="Google Shape;380;p3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34"/>
          <p:cNvSpPr/>
          <p:nvPr/>
        </p:nvSpPr>
        <p:spPr>
          <a:xfrm>
            <a:off x="1496150" y="2955623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 standardized prompt templates for recurring tasks like unit testing.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8087955" y="2955623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Automate code scaffolding requests using predefined system architecture templates.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3873262" y="6245588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Build a shared team repository of highly effective Claude prompts.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10808559" y="6245588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modular prompt structures to assemble complex queries much faster.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Reusable Snippets and Checklists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2" name="Google Shape;392;p3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3" name="Google Shape;393;p3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94" name="Google Shape;394;p3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p35"/>
          <p:cNvSpPr/>
          <p:nvPr/>
        </p:nvSpPr>
        <p:spPr>
          <a:xfrm>
            <a:off x="2168281" y="2527733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Save successful prompt snippets in your IDE for quick access.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7" name="Google Shape;397;p35"/>
          <p:cNvSpPr/>
          <p:nvPr/>
        </p:nvSpPr>
        <p:spPr>
          <a:xfrm>
            <a:off x="2168281" y="4098700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Develop a standard checklist for reviewing AI-generated code securely.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35"/>
          <p:cNvSpPr/>
          <p:nvPr/>
        </p:nvSpPr>
        <p:spPr>
          <a:xfrm>
            <a:off x="2168281" y="5669667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a prompt checklist to ensure context and constraints are present.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9" name="Google Shape;399;p35"/>
          <p:cNvSpPr/>
          <p:nvPr/>
        </p:nvSpPr>
        <p:spPr>
          <a:xfrm>
            <a:off x="2168281" y="7240633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Document your team's best prompting patterns in an internal wiki.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7" name="Google Shape;407;p3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408" name="Google Shape;408;p3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0" name="Google Shape;410;p36"/>
          <p:cNvSpPr txBox="1"/>
          <p:nvPr/>
        </p:nvSpPr>
        <p:spPr>
          <a:xfrm>
            <a:off x="502391" y="2273250"/>
            <a:ext cx="99370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covered Claude's access points, capabilities, and superior reasoning strengths.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learned how to craft structured prompts with context and constraints.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discussed vital security practices for handling secrets and PII safely.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gained time-saving strategies to review and integrate AI code efficiently.</a:t>
            </a:r>
            <a:endParaRPr/>
          </a:p>
        </p:txBody>
      </p:sp>
      <p:pic>
        <p:nvPicPr>
          <p:cNvPr id="411" name="Google Shape;41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45368" y="2120502"/>
            <a:ext cx="5649278" cy="419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37"/>
          <p:cNvGrpSpPr/>
          <p:nvPr/>
        </p:nvGrpSpPr>
        <p:grpSpPr>
          <a:xfrm>
            <a:off x="-378374" y="-159439"/>
            <a:ext cx="19123574" cy="10605878"/>
            <a:chOff x="0" y="0"/>
            <a:chExt cx="24451818" cy="13783818"/>
          </a:xfrm>
        </p:grpSpPr>
        <p:sp>
          <p:nvSpPr>
            <p:cNvPr id="418" name="Google Shape;418;p37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419" name="Google Shape;419;p37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0" name="Google Shape;420;p37"/>
          <p:cNvSpPr txBox="1"/>
          <p:nvPr/>
        </p:nvSpPr>
        <p:spPr>
          <a:xfrm>
            <a:off x="10582298" y="6464001"/>
            <a:ext cx="3196186" cy="453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www.zarantech.com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7"/>
          <p:cNvSpPr/>
          <p:nvPr/>
        </p:nvSpPr>
        <p:spPr>
          <a:xfrm>
            <a:off x="10134151" y="6485798"/>
            <a:ext cx="381880" cy="399958"/>
          </a:xfrm>
          <a:custGeom>
            <a:rect b="b" l="l" r="r" t="t"/>
            <a:pathLst>
              <a:path extrusionOk="0" h="399958" w="381880">
                <a:moveTo>
                  <a:pt x="0" y="0"/>
                </a:moveTo>
                <a:lnTo>
                  <a:pt x="381880" y="0"/>
                </a:lnTo>
                <a:lnTo>
                  <a:pt x="381880" y="399958"/>
                </a:lnTo>
                <a:lnTo>
                  <a:pt x="0" y="399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2" name="Google Shape;422;p37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p37"/>
          <p:cNvSpPr txBox="1"/>
          <p:nvPr/>
        </p:nvSpPr>
        <p:spPr>
          <a:xfrm>
            <a:off x="10134151" y="3262096"/>
            <a:ext cx="6115454" cy="2736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9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For more informative Videos, Subscribe to our YouTube 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7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425;p37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392265" y="-185528"/>
            <a:ext cx="9275007" cy="10628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