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81" r:id="rId39"/>
    <p:sldId id="259" r:id="rId9"/>
    <p:sldId id="260" r:id="rId10"/>
    <p:sldId id="261" r:id="rId11"/>
    <p:sldId id="282" r:id="rId40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10287000" cx="18288000"/>
  <p:notesSz cx="6858000" cy="9144000"/>
  <p:embeddedFontLst>
    <p:embeddedFont>
      <p:font typeface="La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font" Target="fonts/Lato-regular.fntdata"/><Relationship Id="rId32" Type="http://schemas.openxmlformats.org/officeDocument/2006/relationships/font" Target="fonts/Lato-bold.fntdata"/><Relationship Id="rId33" Type="http://schemas.openxmlformats.org/officeDocument/2006/relationships/font" Target="fonts/Lato-italic.fntdata"/><Relationship Id="rId34" Type="http://schemas.openxmlformats.org/officeDocument/2006/relationships/font" Target="fonts/Lato-boldItalic.fntdata"/><Relationship Id="rId35" Type="http://schemas.openxmlformats.org/officeDocument/2006/relationships/font" Target="fonts/OpenSans-regular.fntdata"/><Relationship Id="rId36" Type="http://schemas.openxmlformats.org/officeDocument/2006/relationships/font" Target="fonts/OpenSans-bold.fntdata"/><Relationship Id="rId37" Type="http://schemas.openxmlformats.org/officeDocument/2006/relationships/font" Target="fonts/OpenSans-italic.fntdata"/><Relationship Id="rId38" Type="http://schemas.openxmlformats.org/officeDocument/2006/relationships/font" Target="fonts/OpenSans-boldItalic.fntdata"/><Relationship Id="rId39" Type="http://schemas.openxmlformats.org/officeDocument/2006/relationships/slide" Target="slides/slide26.xml"/><Relationship Id="rId40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9" name="Google Shape;19;p2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-448267" y="0"/>
            <a:ext cx="19123574" cy="10605878"/>
            <a:chOff x="0" y="0"/>
            <a:chExt cx="24451818" cy="13783818"/>
          </a:xfrm>
        </p:grpSpPr>
        <p:sp>
          <p:nvSpPr>
            <p:cNvPr id="93" name="Google Shape;93;p13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94" name="Google Shape;94;p13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9395641" y="3333132"/>
            <a:ext cx="9226185" cy="2410822"/>
            <a:chOff x="9645114" y="217380"/>
            <a:chExt cx="9371989" cy="241082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9645114" y="217380"/>
              <a:ext cx="9371989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00"/>
                <a:buFont typeface="Arial"/>
                <a:buNone/>
              </a:pPr>
              <a:r>
                <a:rPr b="1" i="0" lang="en-US" sz="6200" u="none" cap="none" strike="noStrike">
                  <a:solidFill>
                    <a:srgbClr val="FFC000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Fundamentals of Claude for Developers</a:t>
              </a:r>
              <a:endParaRPr b="1" i="0" sz="62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7" name="Google Shape;97;p13"/>
            <p:cNvGrpSpPr/>
            <p:nvPr/>
          </p:nvGrpSpPr>
          <p:grpSpPr>
            <a:xfrm>
              <a:off x="9729879" y="2214596"/>
              <a:ext cx="3735772" cy="413606"/>
              <a:chOff x="9870618" y="2813623"/>
              <a:chExt cx="3735772" cy="413606"/>
            </a:xfrm>
          </p:grpSpPr>
          <p:sp>
            <p:nvSpPr>
              <p:cNvPr id="98" name="Google Shape;98;p13"/>
              <p:cNvSpPr txBox="1"/>
              <p:nvPr/>
            </p:nvSpPr>
            <p:spPr>
              <a:xfrm>
                <a:off x="10410190" y="2813623"/>
                <a:ext cx="3196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995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www.zarantech.com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9870618" y="2827271"/>
                <a:ext cx="381880" cy="399958"/>
              </a:xfrm>
              <a:custGeom>
                <a:rect b="b" l="l" r="r" t="t"/>
                <a:pathLst>
                  <a:path extrusionOk="0" h="399958" w="381880">
                    <a:moveTo>
                      <a:pt x="0" y="0"/>
                    </a:moveTo>
                    <a:lnTo>
                      <a:pt x="381880" y="0"/>
                    </a:lnTo>
                    <a:lnTo>
                      <a:pt x="381880" y="399958"/>
                    </a:lnTo>
                    <a:lnTo>
                      <a:pt x="0" y="39995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</p:sp>
        </p:grpSp>
      </p:grpSp>
      <p:sp>
        <p:nvSpPr>
          <p:cNvPr id="100" name="Google Shape;100;p13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508831" y="-1"/>
            <a:ext cx="9255542" cy="1060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9144000" y="583020"/>
            <a:ext cx="9448800" cy="9710538"/>
          </a:xfrm>
          <a:custGeom>
            <a:rect b="b" l="l" r="r" t="t"/>
            <a:pathLst>
              <a:path extrusionOk="0" h="12689306" w="12689306">
                <a:moveTo>
                  <a:pt x="0" y="0"/>
                </a:moveTo>
                <a:lnTo>
                  <a:pt x="12689306" y="0"/>
                </a:lnTo>
                <a:lnTo>
                  <a:pt x="12689306" y="12689306"/>
                </a:lnTo>
                <a:lnTo>
                  <a:pt x="0" y="12689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28" l="-22357" r="-16672" t="-15062"/>
            </a:stretch>
          </a:blipFill>
          <a:ln>
            <a:noFill/>
          </a:ln>
        </p:spPr>
      </p:sp>
      <p:grpSp>
        <p:nvGrpSpPr>
          <p:cNvPr id="110" name="Google Shape;110;p14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11" name="Google Shape;111;p14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Disclaimer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23850" y="1460370"/>
            <a:ext cx="882015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presentation, including examples, images, and references are provided for informational purposes only.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Complying with all applicable copyrights laws is the responsibility of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Without limiting the rights under copyright, no part of this document may be  reproduced, stored or introduced into a retrieval system, or transmitted in any form or by any means.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63246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Credits shall be given to the images taken from the open-source and cannot be used for promotional activities.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16" name="Google Shape;116;p1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7114219" y="9163493"/>
            <a:ext cx="34324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16901127" y="8949505"/>
            <a:ext cx="769430" cy="754475"/>
            <a:chOff x="0" y="0"/>
            <a:chExt cx="1025906" cy="1005967"/>
          </a:xfrm>
        </p:grpSpPr>
        <p:sp>
          <p:nvSpPr>
            <p:cNvPr id="124" name="Google Shape;124;p15"/>
            <p:cNvSpPr/>
            <p:nvPr/>
          </p:nvSpPr>
          <p:spPr>
            <a:xfrm>
              <a:off x="12700" y="12700"/>
              <a:ext cx="1000506" cy="980440"/>
            </a:xfrm>
            <a:custGeom>
              <a:rect b="b" l="l" r="r" t="t"/>
              <a:pathLst>
                <a:path extrusionOk="0" h="980440" w="1000506">
                  <a:moveTo>
                    <a:pt x="0" y="490220"/>
                  </a:moveTo>
                  <a:cubicBezTo>
                    <a:pt x="0" y="219456"/>
                    <a:pt x="224028" y="0"/>
                    <a:pt x="500253" y="0"/>
                  </a:cubicBezTo>
                  <a:cubicBezTo>
                    <a:pt x="776478" y="0"/>
                    <a:pt x="1000506" y="219456"/>
                    <a:pt x="1000506" y="490220"/>
                  </a:cubicBezTo>
                  <a:cubicBezTo>
                    <a:pt x="1000506" y="760984"/>
                    <a:pt x="776478" y="980440"/>
                    <a:pt x="500253" y="980440"/>
                  </a:cubicBezTo>
                  <a:cubicBezTo>
                    <a:pt x="224028" y="980440"/>
                    <a:pt x="0" y="760984"/>
                    <a:pt x="0" y="4902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0" y="0"/>
              <a:ext cx="1025906" cy="1005967"/>
            </a:xfrm>
            <a:custGeom>
              <a:rect b="b" l="l" r="r" t="t"/>
              <a:pathLst>
                <a:path extrusionOk="0" h="1005967" w="1025906">
                  <a:moveTo>
                    <a:pt x="0" y="502920"/>
                  </a:moveTo>
                  <a:cubicBezTo>
                    <a:pt x="0" y="224917"/>
                    <a:pt x="229870" y="0"/>
                    <a:pt x="512953" y="0"/>
                  </a:cubicBezTo>
                  <a:lnTo>
                    <a:pt x="512953" y="12700"/>
                  </a:lnTo>
                  <a:lnTo>
                    <a:pt x="512953" y="0"/>
                  </a:lnTo>
                  <a:cubicBezTo>
                    <a:pt x="796036" y="0"/>
                    <a:pt x="1025906" y="224917"/>
                    <a:pt x="1025906" y="502920"/>
                  </a:cubicBezTo>
                  <a:lnTo>
                    <a:pt x="1013206" y="502920"/>
                  </a:lnTo>
                  <a:lnTo>
                    <a:pt x="1025906" y="502920"/>
                  </a:lnTo>
                  <a:cubicBezTo>
                    <a:pt x="1025906" y="780923"/>
                    <a:pt x="796036" y="1005840"/>
                    <a:pt x="512953" y="1005840"/>
                  </a:cubicBezTo>
                  <a:lnTo>
                    <a:pt x="512953" y="993140"/>
                  </a:lnTo>
                  <a:lnTo>
                    <a:pt x="512953" y="1005840"/>
                  </a:lnTo>
                  <a:cubicBezTo>
                    <a:pt x="229870" y="1005967"/>
                    <a:pt x="0" y="781050"/>
                    <a:pt x="0" y="502920"/>
                  </a:cubicBezTo>
                  <a:lnTo>
                    <a:pt x="12700" y="502920"/>
                  </a:lnTo>
                  <a:lnTo>
                    <a:pt x="25400" y="502920"/>
                  </a:lnTo>
                  <a:lnTo>
                    <a:pt x="12700" y="502920"/>
                  </a:lnTo>
                  <a:lnTo>
                    <a:pt x="0" y="502920"/>
                  </a:lnTo>
                  <a:moveTo>
                    <a:pt x="25400" y="502920"/>
                  </a:moveTo>
                  <a:cubicBezTo>
                    <a:pt x="25400" y="509905"/>
                    <a:pt x="19685" y="515620"/>
                    <a:pt x="12700" y="515620"/>
                  </a:cubicBezTo>
                  <a:cubicBezTo>
                    <a:pt x="5715" y="515620"/>
                    <a:pt x="0" y="509905"/>
                    <a:pt x="0" y="502920"/>
                  </a:cubicBezTo>
                  <a:cubicBezTo>
                    <a:pt x="0" y="495935"/>
                    <a:pt x="5715" y="490220"/>
                    <a:pt x="12700" y="490220"/>
                  </a:cubicBezTo>
                  <a:cubicBezTo>
                    <a:pt x="19685" y="490220"/>
                    <a:pt x="25400" y="495935"/>
                    <a:pt x="25400" y="502920"/>
                  </a:cubicBezTo>
                  <a:cubicBezTo>
                    <a:pt x="25400" y="766445"/>
                    <a:pt x="243459" y="980440"/>
                    <a:pt x="512953" y="980440"/>
                  </a:cubicBezTo>
                  <a:cubicBezTo>
                    <a:pt x="782447" y="980440"/>
                    <a:pt x="1000506" y="766445"/>
                    <a:pt x="1000506" y="502920"/>
                  </a:cubicBezTo>
                  <a:cubicBezTo>
                    <a:pt x="1000506" y="239395"/>
                    <a:pt x="782447" y="25400"/>
                    <a:pt x="512953" y="25400"/>
                  </a:cubicBezTo>
                  <a:lnTo>
                    <a:pt x="512953" y="12700"/>
                  </a:lnTo>
                  <a:lnTo>
                    <a:pt x="512953" y="25400"/>
                  </a:lnTo>
                  <a:cubicBezTo>
                    <a:pt x="243459" y="25400"/>
                    <a:pt x="25400" y="239395"/>
                    <a:pt x="25400" y="50292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p15"/>
          <p:cNvSpPr txBox="1"/>
          <p:nvPr/>
        </p:nvSpPr>
        <p:spPr>
          <a:xfrm>
            <a:off x="502391" y="404547"/>
            <a:ext cx="14900900" cy="1055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02391" y="2066255"/>
            <a:ext cx="10209152" cy="4653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Welcome to the Fundamentals of Claude for Developers course module.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will explore Claude's capabilities and its integration into workflows.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Discover essential prompting foundations tailored specifically for software engineers.</a:t>
            </a:r>
            <a:endParaRPr/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Learn responsible and efficient AI usage to accelerate coding tasks.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893284" y="-38176"/>
            <a:ext cx="7187978" cy="10325176"/>
          </a:xfrm>
          <a:custGeom>
            <a:rect b="b" l="l" r="r" t="t"/>
            <a:pathLst>
              <a:path extrusionOk="0" h="10325176" w="7187978">
                <a:moveTo>
                  <a:pt x="0" y="0"/>
                </a:moveTo>
                <a:lnTo>
                  <a:pt x="7187978" y="0"/>
                </a:lnTo>
                <a:lnTo>
                  <a:pt x="7187978" y="10325176"/>
                </a:lnTo>
                <a:lnTo>
                  <a:pt x="0" y="1032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58" t="0"/>
            </a:stretch>
          </a:blipFill>
          <a:ln>
            <a:noFill/>
          </a:ln>
        </p:spPr>
      </p:sp>
      <p:sp>
        <p:nvSpPr>
          <p:cNvPr id="130" name="Google Shape;130;p1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02391" y="1458435"/>
            <a:ext cx="2507429" cy="45719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6809592" y="9161103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is Claude AI?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is an advanced AI assistant developed by Anthropic.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engages in open-ended conversations and handles complex technical tasks.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serves as a powerful coding partner for modern developers.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large context window lets it work across a whole codebase in one pass.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Where Developers Access Claude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55" name="Google Shape;155;p1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7"/>
          <p:cNvSpPr txBox="1"/>
          <p:nvPr/>
        </p:nvSpPr>
        <p:spPr>
          <a:xfrm>
            <a:off x="502391" y="2446064"/>
            <a:ext cx="10959482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Access Claude directly through the intuitive web application interface.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Utilize the Claude API for seamless custom software integrations.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Integrate Claude easily with popular third-party tools and platforms. 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 customized AI solutions using the dedicated Claude Agent SDK.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96586" y="1460128"/>
            <a:ext cx="4038600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Introduction to Claude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1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67" name="Google Shape;167;p1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18"/>
          <p:cNvGrpSpPr/>
          <p:nvPr/>
        </p:nvGrpSpPr>
        <p:grpSpPr>
          <a:xfrm>
            <a:off x="1476592" y="2205945"/>
            <a:ext cx="14858611" cy="1382806"/>
            <a:chOff x="2292567" y="3922998"/>
            <a:chExt cx="13991635" cy="1583760"/>
          </a:xfrm>
        </p:grpSpPr>
        <p:sp>
          <p:nvSpPr>
            <p:cNvPr id="170" name="Google Shape;170;p18"/>
            <p:cNvSpPr/>
            <p:nvPr/>
          </p:nvSpPr>
          <p:spPr>
            <a:xfrm>
              <a:off x="2292567" y="3922998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2458402" y="4075398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Claude Code is an agentic tool operating inside your terminal. 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1476592" y="4110306"/>
            <a:ext cx="14858611" cy="1382806"/>
            <a:chOff x="2292567" y="5702612"/>
            <a:chExt cx="13991635" cy="1583760"/>
          </a:xfrm>
        </p:grpSpPr>
        <p:sp>
          <p:nvSpPr>
            <p:cNvPr id="173" name="Google Shape;173;p18"/>
            <p:cNvSpPr/>
            <p:nvPr/>
          </p:nvSpPr>
          <p:spPr>
            <a:xfrm>
              <a:off x="2292567" y="5702612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2458402" y="5855012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 natively reads codebases and executes changes across multiple files.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1476592" y="6014667"/>
            <a:ext cx="14858611" cy="1382806"/>
            <a:chOff x="2292567" y="7564986"/>
            <a:chExt cx="13991635" cy="1583760"/>
          </a:xfrm>
        </p:grpSpPr>
        <p:sp>
          <p:nvSpPr>
            <p:cNvPr id="176" name="Google Shape;176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Developers can also use the dedicated Visual Studio Code extension. 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1476591" y="7919027"/>
            <a:ext cx="14858611" cy="1382806"/>
            <a:chOff x="2292567" y="7564986"/>
            <a:chExt cx="13991635" cy="1583760"/>
          </a:xfrm>
        </p:grpSpPr>
        <p:sp>
          <p:nvSpPr>
            <p:cNvPr id="179" name="Google Shape;179;p18"/>
            <p:cNvSpPr/>
            <p:nvPr/>
          </p:nvSpPr>
          <p:spPr>
            <a:xfrm>
              <a:off x="2292567" y="7564986"/>
              <a:ext cx="13825800" cy="1431360"/>
            </a:xfrm>
            <a:prstGeom prst="rect">
              <a:avLst/>
            </a:prstGeom>
            <a:noFill/>
            <a:ln cap="flat" cmpd="sng" w="38100">
              <a:solidFill>
                <a:srgbClr val="FFC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2458402" y="7717386"/>
              <a:ext cx="13825800" cy="14313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It runs tests, and reads a project context file you keep in the repo.</a:t>
              </a:r>
              <a:endParaRPr b="0" i="0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502391" y="637523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Strengths vs Other Assistants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89" name="Google Shape;189;p1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9"/>
          <p:cNvSpPr/>
          <p:nvPr/>
        </p:nvSpPr>
        <p:spPr>
          <a:xfrm>
            <a:off x="2295023" y="4007418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massive context window easily understands extensive project source code.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295023" y="2423051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Claude features exceptionally strong reasoning for complex software architecture problems.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295023" y="5591785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maintains high focus during extended complex coding tasks securely. 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190863" y="7176151"/>
            <a:ext cx="13906273" cy="1102200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states uncertainty rather than inventing an API that does not exist.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Unmatched Coding Support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03" name="Google Shape;203;p2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0"/>
          <p:cNvSpPr txBox="1"/>
          <p:nvPr/>
        </p:nvSpPr>
        <p:spPr>
          <a:xfrm>
            <a:off x="477775" y="2104355"/>
            <a:ext cx="170193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models come in tiers. Pick the tier, not a version number.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the most capable tier for architecture, debugging and unfamiliar code.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a faster tier for repetitive, well-specified, high-volume work.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Version identifiers change often. Read the current list from the docs.</a:t>
            </a:r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575" y="4785477"/>
            <a:ext cx="603885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Overview of Developer Use Cases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15" name="Google Shape;215;p2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21"/>
          <p:cNvSpPr/>
          <p:nvPr/>
        </p:nvSpPr>
        <p:spPr>
          <a:xfrm>
            <a:off x="1534113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 boilerplate code and entire functions from simple natural language.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6930189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Rapidly debug complex errors by providing trace logs to Claude.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894107" y="583564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Draft comprehensive technical documentation and system architecture overviews instantly.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9274559" y="583564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Automatically create rigorous unit and integration tests for existing code.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2326265" y="2475606"/>
            <a:ext cx="4427621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Refactor legacy codebases securely to meet modern software engineering standards. 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What is a Developer Prompt?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30" name="Google Shape;230;p2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22"/>
          <p:cNvSpPr txBox="1"/>
          <p:nvPr/>
        </p:nvSpPr>
        <p:spPr>
          <a:xfrm>
            <a:off x="502391" y="2294510"/>
            <a:ext cx="1047040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prompt is the exact instruction set given to Claude.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directs the AI to produce desired code or explanations.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Prompts act as the primary interface between developers and Claude.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Clear prompts transform vague ideas into executable software solutions quickly.</a:t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52035" y="1581072"/>
            <a:ext cx="49149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Why Prompt Structure Matters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42" name="Google Shape;242;p2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23"/>
          <p:cNvSpPr txBox="1"/>
          <p:nvPr/>
        </p:nvSpPr>
        <p:spPr>
          <a:xfrm>
            <a:off x="6808819" y="2777960"/>
            <a:ext cx="10485827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Well-structured prompts drastically reduce back-and-forth iteration with the AI.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Structured requests yield highly predictable and consistently formatted code outputs.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Good structure ensures Claude fully understands the surrounding application context.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Proper formatting minimizes the risk of generating insecure or inefficient code.</a:t>
            </a:r>
            <a:endParaRPr/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664" y="2309235"/>
            <a:ext cx="497205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Instructions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2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54" name="Google Shape;254;p2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4"/>
          <p:cNvSpPr txBox="1"/>
          <p:nvPr/>
        </p:nvSpPr>
        <p:spPr>
          <a:xfrm>
            <a:off x="502391" y="2320742"/>
            <a:ext cx="11400049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start prompts with clear, unambiguous, and direct action verbs.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Specify the exact programming language and framework version required upfront.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Break complex software engineering tasks into smaller, manageable sub-tasks.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the precise output format needed, such as JSON only.</a:t>
            </a:r>
            <a:endParaRPr/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74996" y="1641335"/>
            <a:ext cx="481965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Context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66" name="Google Shape;266;p2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5"/>
          <p:cNvSpPr txBox="1"/>
          <p:nvPr/>
        </p:nvSpPr>
        <p:spPr>
          <a:xfrm>
            <a:off x="6808819" y="2777960"/>
            <a:ext cx="10485827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Provide necessary background information about your specific application architecture.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Share relevant database schemas or API contracts to improve accuracy.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Explain the ultimate business goal behind the requested code snippet.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Include details about the current operating system or deployment environment.</a:t>
            </a:r>
            <a:endParaRPr/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377421"/>
            <a:ext cx="5578102" cy="4828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Examples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2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78" name="Google Shape;278;p2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26"/>
          <p:cNvSpPr/>
          <p:nvPr/>
        </p:nvSpPr>
        <p:spPr>
          <a:xfrm>
            <a:off x="1431305" y="2550262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Include successful code examples to demonstrate your preferred coding style.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8214698" y="2550262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examples to establish specific naming conventions for variables securely.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4280575" y="5823196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input and output data samples for complex data transformations.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11278036" y="5807635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Examples dramatically improve the accuracy of Claude's generated code outputs.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Basic Prompting Patterns: Constraints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292" name="Google Shape;292;p27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7"/>
          <p:cNvSpPr txBox="1"/>
          <p:nvPr/>
        </p:nvSpPr>
        <p:spPr>
          <a:xfrm>
            <a:off x="502391" y="2733880"/>
            <a:ext cx="1036880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Explicitly state what Claude should completely avoid in its response.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Set strict performance or memory usage limits for the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Restrict the use of specific external libraries or deprecated functions.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Define exact length limitations for the generated scripts or documentation.</a:t>
            </a:r>
            <a:endParaRPr/>
          </a:p>
        </p:txBody>
      </p:sp>
      <p:pic>
        <p:nvPicPr>
          <p:cNvPr id="295" name="Google Shape;2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60696" y="2167708"/>
            <a:ext cx="44577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Common Prompting Pitfalls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28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04" name="Google Shape;304;p28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28"/>
          <p:cNvSpPr txBox="1"/>
          <p:nvPr/>
        </p:nvSpPr>
        <p:spPr>
          <a:xfrm>
            <a:off x="7299253" y="2644060"/>
            <a:ext cx="10337039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Providing vague instructions leads to generic and unusable code snippets.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Missing constraints result in bloated or non-compliant software solutions.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Omitting context causes Claude to hallucinate incorrect API methods.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Asking too many questions simultaneously degrades the overall response quality.</a:t>
            </a:r>
            <a:endParaRPr/>
          </a:p>
        </p:txBody>
      </p:sp>
      <p:pic>
        <p:nvPicPr>
          <p:cNvPr id="307" name="Google Shape;30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91" y="2122033"/>
            <a:ext cx="5317838" cy="452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Fixing Overlong Prompts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29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29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16" name="Google Shape;316;p29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9"/>
          <p:cNvSpPr/>
          <p:nvPr/>
        </p:nvSpPr>
        <p:spPr>
          <a:xfrm>
            <a:off x="2168281" y="2443624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Avoid writing excessively long prompts that lose the core objective.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2168281" y="3985935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Remove irrelevant background details that confuse the AI model's focus.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2168281" y="5528246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Separate distinct coding requests into multiple sequential prompt interactions.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2168281" y="7070556"/>
            <a:ext cx="13299000" cy="90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clear headings to separate instructions, context, and examples neatly.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Responsible AI and Safety Guidelines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30" name="Google Shape;330;p30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30"/>
          <p:cNvSpPr txBox="1"/>
          <p:nvPr/>
        </p:nvSpPr>
        <p:spPr>
          <a:xfrm>
            <a:off x="502391" y="2234258"/>
            <a:ext cx="10342624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Always review AI-generated code for security vulnerabilities before deployment.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your use of Claude aligns with organizational compliance policies.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Understand that AI models can occasionally produce plausible but incorrect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AI as a collaborative pair programmer, not an infallible oracle.</a:t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60596" y="2003592"/>
            <a:ext cx="52578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Handling Secrets and PII Safely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1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42" name="Google Shape;342;p31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31"/>
          <p:cNvSpPr/>
          <p:nvPr/>
        </p:nvSpPr>
        <p:spPr>
          <a:xfrm>
            <a:off x="1525845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Never include API keys or database passwords in your prompts.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8948470" y="2400220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environment variables placeholders in prompts instead of hardcoded credentials.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4486633" y="6050117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Scrub all Personally Identifiable Information before sharing logs with Claude.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11704370" y="6007744"/>
            <a:ext cx="4777700" cy="272223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Sanitize production database dumps thoroughly before pasting them as context.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Trust vs. Verify in AI Code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32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56" name="Google Shape;356;p32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32"/>
          <p:cNvSpPr txBox="1"/>
          <p:nvPr/>
        </p:nvSpPr>
        <p:spPr>
          <a:xfrm>
            <a:off x="6006481" y="2958677"/>
            <a:ext cx="10695603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Treat all AI-generated code as a helpful initial draft only.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Verify every function against your existing unit test suite rigorously.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Cross-reference suggested third-party libraries for known security vulnerabilities manually.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Never blindly copy and paste code directly into production environments.</a:t>
            </a:r>
            <a:endParaRPr/>
          </a:p>
        </p:txBody>
      </p:sp>
      <p:pic>
        <p:nvPicPr>
          <p:cNvPr id="359" name="Google Shape;35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507" y="2204991"/>
            <a:ext cx="4403438" cy="4609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AI Code Review Best Practices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33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68" name="Google Shape;368;p33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p33"/>
          <p:cNvSpPr txBox="1"/>
          <p:nvPr/>
        </p:nvSpPr>
        <p:spPr>
          <a:xfrm>
            <a:off x="502391" y="2446064"/>
            <a:ext cx="10866649" cy="2142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Claude's output with the same scrutiny as human code.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Check for edge cases that the AI model might have missed.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Ensure the generated code adheres to internal secure coding standards.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Validate that the AI code properly handles exceptions and errors.</a:t>
            </a:r>
            <a:endParaRPr/>
          </a:p>
        </p:txBody>
      </p:sp>
      <p:pic>
        <p:nvPicPr>
          <p:cNvPr id="371" name="Google Shape;3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9355" y="1163622"/>
            <a:ext cx="4277025" cy="4310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Time-Saving Strategies and Templates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34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34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80" name="Google Shape;380;p34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34"/>
          <p:cNvSpPr/>
          <p:nvPr/>
        </p:nvSpPr>
        <p:spPr>
          <a:xfrm>
            <a:off x="1496150" y="2955623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Create standardized prompt templates for recurring tasks like unit testing.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8087955" y="2955623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Automate code scaffolding requests using predefined system architecture templates.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3873262" y="6245588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Build a shared team repository of highly effective Claude prompts.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10808559" y="6245588"/>
            <a:ext cx="5441209" cy="2386888"/>
          </a:xfrm>
          <a:prstGeom prst="trapezoid">
            <a:avLst>
              <a:gd fmla="val 25000" name="adj"/>
            </a:avLst>
          </a:prstGeom>
          <a:solidFill>
            <a:srgbClr val="FFC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modular prompt structures to assemble complex queries much faster.</a:t>
            </a:r>
            <a:endParaRPr b="0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Reusable Snippets and Checklists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35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394" name="Google Shape;394;p35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35"/>
          <p:cNvSpPr/>
          <p:nvPr/>
        </p:nvSpPr>
        <p:spPr>
          <a:xfrm>
            <a:off x="2168281" y="2527733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Save successful prompt snippets in your IDE for quick access.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2168281" y="4098700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a standard checklist for reviewing AI-generated code securely.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2168281" y="5669667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 a prompt checklist to ensure context and constraints are present.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2168281" y="7240633"/>
            <a:ext cx="13299122" cy="90059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 your team's best prompting patterns in an internal wiki.</a:t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3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408" name="Google Shape;408;p3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36"/>
          <p:cNvSpPr txBox="1"/>
          <p:nvPr/>
        </p:nvSpPr>
        <p:spPr>
          <a:xfrm>
            <a:off x="502391" y="2273250"/>
            <a:ext cx="9937009" cy="42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covered Claude's access points, capabilities, and superior reasoning strengths.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learned how to craft structured prompts with context and constraints.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discussed vital security practices for handling secrets and PII safely.</a:t>
            </a:r>
            <a:endParaRPr/>
          </a:p>
          <a:p>
            <a:pPr indent="-342900" lvl="0" marL="4191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You gained time-saving strategies to review and integrate AI code efficiently.</a:t>
            </a:r>
            <a:endParaRPr/>
          </a:p>
        </p:txBody>
      </p:sp>
      <p:pic>
        <p:nvPicPr>
          <p:cNvPr id="411" name="Google Shape;4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45368" y="2120502"/>
            <a:ext cx="5649278" cy="419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7"/>
          <p:cNvGrpSpPr/>
          <p:nvPr/>
        </p:nvGrpSpPr>
        <p:grpSpPr>
          <a:xfrm>
            <a:off x="-378374" y="-159439"/>
            <a:ext cx="19123574" cy="10605878"/>
            <a:chOff x="0" y="0"/>
            <a:chExt cx="24451818" cy="13783818"/>
          </a:xfrm>
        </p:grpSpPr>
        <p:sp>
          <p:nvSpPr>
            <p:cNvPr id="418" name="Google Shape;418;p37"/>
            <p:cNvSpPr/>
            <p:nvPr/>
          </p:nvSpPr>
          <p:spPr>
            <a:xfrm>
              <a:off x="33909" y="33909"/>
              <a:ext cx="24384001" cy="13716001"/>
            </a:xfrm>
            <a:custGeom>
              <a:rect b="b" l="l" r="r" t="t"/>
              <a:pathLst>
                <a:path extrusionOk="0" h="13716001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13716001"/>
                  </a:lnTo>
                  <a:lnTo>
                    <a:pt x="0" y="1371600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419" name="Google Shape;419;p37"/>
            <p:cNvSpPr/>
            <p:nvPr/>
          </p:nvSpPr>
          <p:spPr>
            <a:xfrm>
              <a:off x="0" y="0"/>
              <a:ext cx="24451818" cy="13783818"/>
            </a:xfrm>
            <a:custGeom>
              <a:rect b="b" l="l" r="r" t="t"/>
              <a:pathLst>
                <a:path extrusionOk="0" h="13783818" w="24451818">
                  <a:moveTo>
                    <a:pt x="33909" y="0"/>
                  </a:moveTo>
                  <a:lnTo>
                    <a:pt x="24417910" y="0"/>
                  </a:lnTo>
                  <a:cubicBezTo>
                    <a:pt x="24436578" y="0"/>
                    <a:pt x="24451818" y="15113"/>
                    <a:pt x="24451818" y="33909"/>
                  </a:cubicBezTo>
                  <a:lnTo>
                    <a:pt x="24451818" y="13749910"/>
                  </a:lnTo>
                  <a:cubicBezTo>
                    <a:pt x="24451818" y="13768578"/>
                    <a:pt x="24436705" y="13783818"/>
                    <a:pt x="24417910" y="13783818"/>
                  </a:cubicBezTo>
                  <a:lnTo>
                    <a:pt x="33909" y="13783818"/>
                  </a:lnTo>
                  <a:cubicBezTo>
                    <a:pt x="15240" y="13783818"/>
                    <a:pt x="0" y="13768705"/>
                    <a:pt x="0" y="13749910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3749910"/>
                  </a:lnTo>
                  <a:lnTo>
                    <a:pt x="33909" y="13749910"/>
                  </a:lnTo>
                  <a:lnTo>
                    <a:pt x="33909" y="13716000"/>
                  </a:lnTo>
                  <a:lnTo>
                    <a:pt x="24417910" y="13716000"/>
                  </a:lnTo>
                  <a:lnTo>
                    <a:pt x="24417910" y="13749910"/>
                  </a:lnTo>
                  <a:lnTo>
                    <a:pt x="24384000" y="13749910"/>
                  </a:lnTo>
                  <a:lnTo>
                    <a:pt x="24384000" y="33909"/>
                  </a:lnTo>
                  <a:lnTo>
                    <a:pt x="24417910" y="33909"/>
                  </a:lnTo>
                  <a:lnTo>
                    <a:pt x="244179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F24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37"/>
          <p:cNvSpPr txBox="1"/>
          <p:nvPr/>
        </p:nvSpPr>
        <p:spPr>
          <a:xfrm>
            <a:off x="10582298" y="6464001"/>
            <a:ext cx="3196186" cy="453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www.zarantech.com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10134151" y="6485798"/>
            <a:ext cx="381880" cy="399958"/>
          </a:xfrm>
          <a:custGeom>
            <a:rect b="b" l="l" r="r" t="t"/>
            <a:pathLst>
              <a:path extrusionOk="0" h="399958" w="381880">
                <a:moveTo>
                  <a:pt x="0" y="0"/>
                </a:moveTo>
                <a:lnTo>
                  <a:pt x="381880" y="0"/>
                </a:lnTo>
                <a:lnTo>
                  <a:pt x="381880" y="399958"/>
                </a:lnTo>
                <a:lnTo>
                  <a:pt x="0" y="399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37"/>
          <p:cNvSpPr/>
          <p:nvPr/>
        </p:nvSpPr>
        <p:spPr>
          <a:xfrm>
            <a:off x="15775388" y="330356"/>
            <a:ext cx="2238872" cy="461178"/>
          </a:xfrm>
          <a:custGeom>
            <a:rect b="b" l="l" r="r" t="t"/>
            <a:pathLst>
              <a:path extrusionOk="0" h="461178" w="2238872">
                <a:moveTo>
                  <a:pt x="0" y="0"/>
                </a:moveTo>
                <a:lnTo>
                  <a:pt x="2238872" y="0"/>
                </a:lnTo>
                <a:lnTo>
                  <a:pt x="2238872" y="461178"/>
                </a:lnTo>
                <a:lnTo>
                  <a:pt x="0" y="4611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37"/>
          <p:cNvSpPr txBox="1"/>
          <p:nvPr/>
        </p:nvSpPr>
        <p:spPr>
          <a:xfrm>
            <a:off x="10134151" y="3262096"/>
            <a:ext cx="6115454" cy="2736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9958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For more informative Videos, Subscribe to our YouTube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7"/>
          <p:cNvSpPr txBox="1"/>
          <p:nvPr/>
        </p:nvSpPr>
        <p:spPr>
          <a:xfrm>
            <a:off x="9702583" y="97705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37"/>
          <p:cNvPicPr preferRelativeResize="0"/>
          <p:nvPr/>
        </p:nvPicPr>
        <p:blipFill rotWithShape="1">
          <a:blip r:embed="rId5">
            <a:alphaModFix/>
          </a:blip>
          <a:srcRect b="0" l="0" r="41821" t="0"/>
          <a:stretch/>
        </p:blipFill>
        <p:spPr>
          <a:xfrm>
            <a:off x="-392265" y="-185528"/>
            <a:ext cx="9275007" cy="1062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Exercises in This Module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1: Explore Claude's interface and explain sample code. 12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2: Structure a developer prompt. 12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Exercise 3: Apply a code review checklist. 15 minutes.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All three run in the browser. No terminal and no API key in this module.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16"/>
          <p:cNvSpPr txBox="1"/>
          <p:nvPr/>
        </p:nvSpPr>
        <p:spPr>
          <a:xfrm>
            <a:off x="502391" y="647598"/>
            <a:ext cx="16420800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0253F"/>
                </a:solidFill>
                <a:latin typeface="Open Sans"/>
                <a:ea typeface="Open Sans"/>
                <a:cs typeface="Open Sans"/>
                <a:sym typeface="Open Sans"/>
              </a:rPr>
              <a:t>Repo as Context, Repo as Workspace</a:t>
            </a:r>
            <a:endParaRPr b="1" i="0" sz="4400" u="none" cap="none" strike="noStrike">
              <a:solidFill>
                <a:srgbClr val="1025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6"/>
          <p:cNvSpPr txBox="1"/>
          <p:nvPr>
            <p:ph idx="12" type="sldNum"/>
          </p:nvPr>
        </p:nvSpPr>
        <p:spPr>
          <a:xfrm>
            <a:off x="16818396" y="9148746"/>
            <a:ext cx="952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5908184" y="204938"/>
            <a:ext cx="2110316" cy="516024"/>
          </a:xfrm>
          <a:custGeom>
            <a:rect b="b" l="l" r="r" t="t"/>
            <a:pathLst>
              <a:path extrusionOk="0" h="516024" w="2110316">
                <a:moveTo>
                  <a:pt x="0" y="0"/>
                </a:moveTo>
                <a:lnTo>
                  <a:pt x="2110316" y="0"/>
                </a:lnTo>
                <a:lnTo>
                  <a:pt x="2110316" y="516024"/>
                </a:lnTo>
                <a:lnTo>
                  <a:pt x="0" y="516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23850" y="9858375"/>
            <a:ext cx="84939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© Copyright 2026, ZaranTech LLC.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02391" y="1581072"/>
            <a:ext cx="2514527" cy="45727"/>
          </a:xfrm>
          <a:custGeom>
            <a:rect b="b" l="l" r="r" t="t"/>
            <a:pathLst>
              <a:path extrusionOk="0" h="37252" w="7450450">
                <a:moveTo>
                  <a:pt x="0" y="0"/>
                </a:moveTo>
                <a:lnTo>
                  <a:pt x="7450450" y="0"/>
                </a:lnTo>
                <a:lnTo>
                  <a:pt x="7450450" y="37252"/>
                </a:lnTo>
                <a:lnTo>
                  <a:pt x="0" y="37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502391" y="2249498"/>
            <a:ext cx="10151095" cy="3213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Attaching a repository in the Claude app syncs file contents as reading material.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That is context. Claude can read and reason about it, and nothing more.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 grants no commit access, no pull requests and no commit history.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Claude Code is what operates on a repository: it edits files and runs commands.</a:t>
            </a:r>
            <a:endParaRPr/>
          </a:p>
          <a:p>
            <a:pPr indent="-381000" lvl="0" marL="45720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If you need something changed on disk, you need the workspace, not the context.</a:t>
            </a:r>
            <a:endParaRPr/>
          </a:p>
        </p:txBody>
      </p:sp>
      <p:grpSp>
        <p:nvGrpSpPr>
          <p:cNvPr id="144" name="Google Shape;144;p16"/>
          <p:cNvGrpSpPr/>
          <p:nvPr/>
        </p:nvGrpSpPr>
        <p:grpSpPr>
          <a:xfrm>
            <a:off x="11453601" y="1163622"/>
            <a:ext cx="4454583" cy="4774001"/>
            <a:chOff x="11453601" y="1626799"/>
            <a:chExt cx="4454583" cy="4774001"/>
          </a:xfrm>
        </p:grpSpPr>
        <p:pic>
          <p:nvPicPr>
            <p:cNvPr id="145" name="Google Shape;14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453601" y="1626799"/>
              <a:ext cx="4454583" cy="4774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6"/>
            <p:cNvSpPr/>
            <p:nvPr/>
          </p:nvSpPr>
          <p:spPr>
            <a:xfrm>
              <a:off x="11466286" y="1626799"/>
              <a:ext cx="812800" cy="8965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