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81" r:id="rId39"/>
    <p:sldId id="259" r:id="rId9"/>
    <p:sldId id="260" r:id="rId10"/>
    <p:sldId id="261" r:id="rId11"/>
    <p:sldId id="282" r:id="rId40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</p:sldIdLst>
  <p:sldSz cy="10287000" cx="18288000"/>
  <p:notesSz cx="6858000" cy="9144000"/>
  <p:embeddedFontLst>
    <p:embeddedFont>
      <p:font typeface="Lato"/>
      <p:regular r:id="rId31"/>
      <p:bold r:id="rId32"/>
      <p:italic r:id="rId33"/>
      <p:boldItalic r:id="rId34"/>
    </p:embeddedFont>
    <p:embeddedFont>
      <p:font typeface="Open Sans"/>
      <p:regular r:id="rId35"/>
      <p:bold r:id="rId36"/>
      <p:italic r:id="rId37"/>
      <p:boldItalic r:id="rId3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slide" Target="slides/slide22.xml"/><Relationship Id="rId28" Type="http://schemas.openxmlformats.org/officeDocument/2006/relationships/slide" Target="slides/slide23.xml"/><Relationship Id="rId29" Type="http://schemas.openxmlformats.org/officeDocument/2006/relationships/slide" Target="slides/slide24.xml"/><Relationship Id="rId30" Type="http://schemas.openxmlformats.org/officeDocument/2006/relationships/slide" Target="slides/slide25.xml"/><Relationship Id="rId31" Type="http://schemas.openxmlformats.org/officeDocument/2006/relationships/font" Target="fonts/Lato-regular.fntdata"/><Relationship Id="rId32" Type="http://schemas.openxmlformats.org/officeDocument/2006/relationships/font" Target="fonts/Lato-bold.fntdata"/><Relationship Id="rId33" Type="http://schemas.openxmlformats.org/officeDocument/2006/relationships/font" Target="fonts/Lato-italic.fntdata"/><Relationship Id="rId34" Type="http://schemas.openxmlformats.org/officeDocument/2006/relationships/font" Target="fonts/Lato-boldItalic.fntdata"/><Relationship Id="rId35" Type="http://schemas.openxmlformats.org/officeDocument/2006/relationships/font" Target="fonts/OpenSans-regular.fntdata"/><Relationship Id="rId36" Type="http://schemas.openxmlformats.org/officeDocument/2006/relationships/font" Target="fonts/OpenSans-bold.fntdata"/><Relationship Id="rId37" Type="http://schemas.openxmlformats.org/officeDocument/2006/relationships/font" Target="fonts/OpenSans-italic.fntdata"/><Relationship Id="rId38" Type="http://schemas.openxmlformats.org/officeDocument/2006/relationships/font" Target="fonts/OpenSans-boldItalic.fntdata"/><Relationship Id="rId39" Type="http://schemas.openxmlformats.org/officeDocument/2006/relationships/slide" Target="slides/slide26.xml"/><Relationship Id="rId40" Type="http://schemas.openxmlformats.org/officeDocument/2006/relationships/slide" Target="slides/slide2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89" name="Google Shape;89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0" name="Google Shape;90;p1:notes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07" name="Google Shape;107;p2:notes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20" name="Google Shape;120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1" name="Google Shape;121;p3:notes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35" name="Google Shape;135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6" name="Google Shape;136;p4:notes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49" name="Google Shape;14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0" name="Google Shape;150;p5:notes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61" name="Google Shape;16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2" name="Google Shape;162;p6:notes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83" name="Google Shape;183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4" name="Google Shape;184;p7:notes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197" name="Google Shape;197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8" name="Google Shape;198;p8:notes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09" name="Google Shape;20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10" name="Google Shape;210;p9:notes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24" name="Google Shape;224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25" name="Google Shape;225;p10:notes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4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36" name="Google Shape;23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37" name="Google Shape;237;p11:notes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48" name="Google Shape;248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49" name="Google Shape;249;p12:notes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8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60" name="Google Shape;26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1" name="Google Shape;261;p13:notes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72" name="Google Shape;272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73" name="Google Shape;273;p14:notes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86" name="Google Shape;28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87" name="Google Shape;287;p15:notes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298" name="Google Shape;298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99" name="Google Shape;299;p16:notes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8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310" name="Google Shape;310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11" name="Google Shape;311;p17:notes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324" name="Google Shape;324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25" name="Google Shape;325;p18:notes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4" name="Shape 3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Google Shape;335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336" name="Google Shape;336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37" name="Google Shape;337;p19:notes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8" name="Shape 3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Google Shape;349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350" name="Google Shape;350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51" name="Google Shape;351;p20:notes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0" name="Shape 3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" name="Google Shape;361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362" name="Google Shape;362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63" name="Google Shape;363;p21:notes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374" name="Google Shape;374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75" name="Google Shape;375;p22:notes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6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Google Shape;38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388" name="Google Shape;38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89" name="Google Shape;389;p23:notes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0" name="Shape 4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Google Shape;401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402" name="Google Shape;402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03" name="Google Shape;403;p24:notes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2" name="Shape 4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3" name="Google Shape;413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t/>
            </a:r>
            <a:endParaRPr/>
          </a:p>
        </p:txBody>
      </p:sp>
      <p:sp>
        <p:nvSpPr>
          <p:cNvPr id="414" name="Google Shape;414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15" name="Google Shape;415;p25:notes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8" name="Google Shape;18;p2"/>
          <p:cNvGrpSpPr/>
          <p:nvPr/>
        </p:nvGrpSpPr>
        <p:grpSpPr>
          <a:xfrm>
            <a:off x="16901127" y="8949505"/>
            <a:ext cx="769430" cy="754475"/>
            <a:chOff x="0" y="0"/>
            <a:chExt cx="1025906" cy="1005967"/>
          </a:xfrm>
        </p:grpSpPr>
        <p:sp>
          <p:nvSpPr>
            <p:cNvPr id="19" name="Google Shape;19;p2"/>
            <p:cNvSpPr/>
            <p:nvPr/>
          </p:nvSpPr>
          <p:spPr>
            <a:xfrm>
              <a:off x="12700" y="12700"/>
              <a:ext cx="1000506" cy="980440"/>
            </a:xfrm>
            <a:custGeom>
              <a:rect b="b" l="l" r="r" t="t"/>
              <a:pathLst>
                <a:path extrusionOk="0" h="980440" w="1000506">
                  <a:moveTo>
                    <a:pt x="0" y="490220"/>
                  </a:moveTo>
                  <a:cubicBezTo>
                    <a:pt x="0" y="219456"/>
                    <a:pt x="224028" y="0"/>
                    <a:pt x="500253" y="0"/>
                  </a:cubicBezTo>
                  <a:cubicBezTo>
                    <a:pt x="776478" y="0"/>
                    <a:pt x="1000506" y="219456"/>
                    <a:pt x="1000506" y="490220"/>
                  </a:cubicBezTo>
                  <a:cubicBezTo>
                    <a:pt x="1000506" y="760984"/>
                    <a:pt x="776478" y="980440"/>
                    <a:pt x="500253" y="980440"/>
                  </a:cubicBezTo>
                  <a:cubicBezTo>
                    <a:pt x="224028" y="980440"/>
                    <a:pt x="0" y="760984"/>
                    <a:pt x="0" y="490220"/>
                  </a:cubicBezTo>
                  <a:close/>
                </a:path>
              </a:pathLst>
            </a:custGeom>
            <a:solidFill>
              <a:srgbClr val="FFC00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" name="Google Shape;20;p2"/>
            <p:cNvSpPr/>
            <p:nvPr/>
          </p:nvSpPr>
          <p:spPr>
            <a:xfrm>
              <a:off x="0" y="0"/>
              <a:ext cx="1025906" cy="1005967"/>
            </a:xfrm>
            <a:custGeom>
              <a:rect b="b" l="l" r="r" t="t"/>
              <a:pathLst>
                <a:path extrusionOk="0" h="1005967" w="1025906">
                  <a:moveTo>
                    <a:pt x="0" y="502920"/>
                  </a:moveTo>
                  <a:cubicBezTo>
                    <a:pt x="0" y="224917"/>
                    <a:pt x="229870" y="0"/>
                    <a:pt x="512953" y="0"/>
                  </a:cubicBezTo>
                  <a:lnTo>
                    <a:pt x="512953" y="12700"/>
                  </a:lnTo>
                  <a:lnTo>
                    <a:pt x="512953" y="0"/>
                  </a:lnTo>
                  <a:cubicBezTo>
                    <a:pt x="796036" y="0"/>
                    <a:pt x="1025906" y="224917"/>
                    <a:pt x="1025906" y="502920"/>
                  </a:cubicBezTo>
                  <a:lnTo>
                    <a:pt x="1013206" y="502920"/>
                  </a:lnTo>
                  <a:lnTo>
                    <a:pt x="1025906" y="502920"/>
                  </a:lnTo>
                  <a:cubicBezTo>
                    <a:pt x="1025906" y="780923"/>
                    <a:pt x="796036" y="1005840"/>
                    <a:pt x="512953" y="1005840"/>
                  </a:cubicBezTo>
                  <a:lnTo>
                    <a:pt x="512953" y="993140"/>
                  </a:lnTo>
                  <a:lnTo>
                    <a:pt x="512953" y="1005840"/>
                  </a:lnTo>
                  <a:cubicBezTo>
                    <a:pt x="229870" y="1005967"/>
                    <a:pt x="0" y="781050"/>
                    <a:pt x="0" y="502920"/>
                  </a:cubicBezTo>
                  <a:lnTo>
                    <a:pt x="12700" y="502920"/>
                  </a:lnTo>
                  <a:lnTo>
                    <a:pt x="25400" y="502920"/>
                  </a:lnTo>
                  <a:lnTo>
                    <a:pt x="12700" y="502920"/>
                  </a:lnTo>
                  <a:lnTo>
                    <a:pt x="0" y="502920"/>
                  </a:lnTo>
                  <a:moveTo>
                    <a:pt x="25400" y="502920"/>
                  </a:moveTo>
                  <a:cubicBezTo>
                    <a:pt x="25400" y="509905"/>
                    <a:pt x="19685" y="515620"/>
                    <a:pt x="12700" y="515620"/>
                  </a:cubicBezTo>
                  <a:cubicBezTo>
                    <a:pt x="5715" y="515620"/>
                    <a:pt x="0" y="509905"/>
                    <a:pt x="0" y="502920"/>
                  </a:cubicBezTo>
                  <a:cubicBezTo>
                    <a:pt x="0" y="495935"/>
                    <a:pt x="5715" y="490220"/>
                    <a:pt x="12700" y="490220"/>
                  </a:cubicBezTo>
                  <a:cubicBezTo>
                    <a:pt x="19685" y="490220"/>
                    <a:pt x="25400" y="495935"/>
                    <a:pt x="25400" y="502920"/>
                  </a:cubicBezTo>
                  <a:cubicBezTo>
                    <a:pt x="25400" y="766445"/>
                    <a:pt x="243459" y="980440"/>
                    <a:pt x="512953" y="980440"/>
                  </a:cubicBezTo>
                  <a:cubicBezTo>
                    <a:pt x="782447" y="980440"/>
                    <a:pt x="1000506" y="766445"/>
                    <a:pt x="1000506" y="502920"/>
                  </a:cubicBezTo>
                  <a:cubicBezTo>
                    <a:pt x="1000506" y="239395"/>
                    <a:pt x="782447" y="25400"/>
                    <a:pt x="512953" y="25400"/>
                  </a:cubicBezTo>
                  <a:lnTo>
                    <a:pt x="512953" y="12700"/>
                  </a:lnTo>
                  <a:lnTo>
                    <a:pt x="512953" y="25400"/>
                  </a:lnTo>
                  <a:cubicBezTo>
                    <a:pt x="243459" y="25400"/>
                    <a:pt x="25400" y="239395"/>
                    <a:pt x="25400" y="502920"/>
                  </a:cubicBezTo>
                  <a:close/>
                </a:path>
              </a:pathLst>
            </a:custGeom>
            <a:solidFill>
              <a:srgbClr val="FFC00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6809592" y="9161103"/>
            <a:ext cx="9525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28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28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28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28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28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28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28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28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1" i="0" sz="2800" u="none" cap="none" strike="noStrike">
                <a:solidFill>
                  <a:schemeClr val="l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3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" name="Google Shape;24;p3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25" name="Google Shape;25;p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0" name="Google Shape;30;p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" name="Google Shape;31;p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6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43" name="Google Shape;43;p6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44" name="Google Shape;44;p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7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7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51" name="Google Shape;51;p7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9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9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64" name="Google Shape;64;p9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0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0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71" name="Google Shape;71;p10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72" name="Google Shape;72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4" name="Google Shape;74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7" name="Google Shape;77;p11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8" name="Google Shape;78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2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2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4" name="Google Shape;84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5" name="Google Shape;85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11.png"/><Relationship Id="rId5" Type="http://schemas.openxmlformats.org/officeDocument/2006/relationships/image" Target="../media/image20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6.png"/><Relationship Id="rId4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1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1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1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1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1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1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1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9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1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1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1.png"/><Relationship Id="rId4" Type="http://schemas.openxmlformats.org/officeDocument/2006/relationships/image" Target="../media/image11.png"/><Relationship Id="rId5" Type="http://schemas.openxmlformats.org/officeDocument/2006/relationships/image" Target="../media/image20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7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2" name="Google Shape;92;p13"/>
          <p:cNvGrpSpPr/>
          <p:nvPr/>
        </p:nvGrpSpPr>
        <p:grpSpPr>
          <a:xfrm>
            <a:off x="-448267" y="0"/>
            <a:ext cx="19123574" cy="10605878"/>
            <a:chOff x="0" y="0"/>
            <a:chExt cx="24451818" cy="13783818"/>
          </a:xfrm>
        </p:grpSpPr>
        <p:sp>
          <p:nvSpPr>
            <p:cNvPr id="93" name="Google Shape;93;p13"/>
            <p:cNvSpPr/>
            <p:nvPr/>
          </p:nvSpPr>
          <p:spPr>
            <a:xfrm>
              <a:off x="33909" y="33909"/>
              <a:ext cx="24384001" cy="13716001"/>
            </a:xfrm>
            <a:custGeom>
              <a:rect b="b" l="l" r="r" t="t"/>
              <a:pathLst>
                <a:path extrusionOk="0" h="13716001" w="24384001">
                  <a:moveTo>
                    <a:pt x="0" y="0"/>
                  </a:moveTo>
                  <a:lnTo>
                    <a:pt x="24384001" y="0"/>
                  </a:lnTo>
                  <a:lnTo>
                    <a:pt x="24384001" y="13716001"/>
                  </a:lnTo>
                  <a:lnTo>
                    <a:pt x="0" y="13716001"/>
                  </a:lnTo>
                  <a:close/>
                </a:path>
              </a:pathLst>
            </a:custGeom>
            <a:solidFill>
              <a:srgbClr val="262626"/>
            </a:solidFill>
            <a:ln>
              <a:noFill/>
            </a:ln>
          </p:spPr>
        </p:sp>
        <p:sp>
          <p:nvSpPr>
            <p:cNvPr id="94" name="Google Shape;94;p13"/>
            <p:cNvSpPr/>
            <p:nvPr/>
          </p:nvSpPr>
          <p:spPr>
            <a:xfrm>
              <a:off x="0" y="0"/>
              <a:ext cx="24451818" cy="13783818"/>
            </a:xfrm>
            <a:custGeom>
              <a:rect b="b" l="l" r="r" t="t"/>
              <a:pathLst>
                <a:path extrusionOk="0" h="13783818" w="24451818">
                  <a:moveTo>
                    <a:pt x="33909" y="0"/>
                  </a:moveTo>
                  <a:lnTo>
                    <a:pt x="24417910" y="0"/>
                  </a:lnTo>
                  <a:cubicBezTo>
                    <a:pt x="24436578" y="0"/>
                    <a:pt x="24451818" y="15113"/>
                    <a:pt x="24451818" y="33909"/>
                  </a:cubicBezTo>
                  <a:lnTo>
                    <a:pt x="24451818" y="13749910"/>
                  </a:lnTo>
                  <a:cubicBezTo>
                    <a:pt x="24451818" y="13768578"/>
                    <a:pt x="24436705" y="13783818"/>
                    <a:pt x="24417910" y="13783818"/>
                  </a:cubicBezTo>
                  <a:lnTo>
                    <a:pt x="33909" y="13783818"/>
                  </a:lnTo>
                  <a:cubicBezTo>
                    <a:pt x="15240" y="13783818"/>
                    <a:pt x="0" y="13768705"/>
                    <a:pt x="0" y="13749910"/>
                  </a:cubicBezTo>
                  <a:lnTo>
                    <a:pt x="0" y="33909"/>
                  </a:lnTo>
                  <a:cubicBezTo>
                    <a:pt x="0" y="15113"/>
                    <a:pt x="15113" y="0"/>
                    <a:pt x="33909" y="0"/>
                  </a:cubicBezTo>
                  <a:moveTo>
                    <a:pt x="33909" y="67691"/>
                  </a:moveTo>
                  <a:lnTo>
                    <a:pt x="33909" y="33909"/>
                  </a:lnTo>
                  <a:lnTo>
                    <a:pt x="67691" y="33909"/>
                  </a:lnTo>
                  <a:lnTo>
                    <a:pt x="67691" y="13749910"/>
                  </a:lnTo>
                  <a:lnTo>
                    <a:pt x="33909" y="13749910"/>
                  </a:lnTo>
                  <a:lnTo>
                    <a:pt x="33909" y="13716000"/>
                  </a:lnTo>
                  <a:lnTo>
                    <a:pt x="24417910" y="13716000"/>
                  </a:lnTo>
                  <a:lnTo>
                    <a:pt x="24417910" y="13749910"/>
                  </a:lnTo>
                  <a:lnTo>
                    <a:pt x="24384000" y="13749910"/>
                  </a:lnTo>
                  <a:lnTo>
                    <a:pt x="24384000" y="33909"/>
                  </a:lnTo>
                  <a:lnTo>
                    <a:pt x="24417910" y="33909"/>
                  </a:lnTo>
                  <a:lnTo>
                    <a:pt x="24417910" y="67691"/>
                  </a:lnTo>
                  <a:lnTo>
                    <a:pt x="33909" y="67691"/>
                  </a:lnTo>
                  <a:close/>
                </a:path>
              </a:pathLst>
            </a:custGeom>
            <a:solidFill>
              <a:srgbClr val="0F243E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95" name="Google Shape;95;p13"/>
          <p:cNvGrpSpPr/>
          <p:nvPr/>
        </p:nvGrpSpPr>
        <p:grpSpPr>
          <a:xfrm>
            <a:off x="9395641" y="3333132"/>
            <a:ext cx="9226185" cy="2410822"/>
            <a:chOff x="9645114" y="217380"/>
            <a:chExt cx="9371989" cy="2410822"/>
          </a:xfrm>
        </p:grpSpPr>
        <p:sp>
          <p:nvSpPr>
            <p:cNvPr id="96" name="Google Shape;96;p13"/>
            <p:cNvSpPr txBox="1"/>
            <p:nvPr/>
          </p:nvSpPr>
          <p:spPr>
            <a:xfrm>
              <a:off x="9645114" y="217380"/>
              <a:ext cx="9371989" cy="1908215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sp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200"/>
                <a:buFont typeface="Arial"/>
                <a:buNone/>
              </a:pPr>
              <a:r>
                <a:rPr b="1" i="0" lang="en-US" sz="6200" u="none" cap="none" strike="noStrike">
                  <a:solidFill>
                    <a:srgbClr val="FFC000"/>
                  </a:solidFill>
                  <a:latin typeface="Open Sans"/>
                  <a:ea typeface="Open Sans"/>
                  <a:cs typeface="Open Sans"/>
                  <a:sym typeface="Open Sans"/>
                </a:rPr>
                <a:t>Fundamentals of Claude for Developers</a:t>
              </a:r>
              <a:endParaRPr b="1" i="0" sz="6200" u="none" cap="none" strike="noStrike">
                <a:solidFill>
                  <a:srgbClr val="FFC000"/>
                </a:solidFill>
                <a:latin typeface="Open Sans"/>
                <a:ea typeface="Open Sans"/>
                <a:cs typeface="Open Sans"/>
                <a:sym typeface="Open Sans"/>
              </a:endParaRPr>
            </a:p>
          </p:txBody>
        </p:sp>
        <p:grpSp>
          <p:nvGrpSpPr>
            <p:cNvPr id="97" name="Google Shape;97;p13"/>
            <p:cNvGrpSpPr/>
            <p:nvPr/>
          </p:nvGrpSpPr>
          <p:grpSpPr>
            <a:xfrm>
              <a:off x="9729879" y="2214596"/>
              <a:ext cx="3735772" cy="413606"/>
              <a:chOff x="9870618" y="2813623"/>
              <a:chExt cx="3735772" cy="413606"/>
            </a:xfrm>
          </p:grpSpPr>
          <p:sp>
            <p:nvSpPr>
              <p:cNvPr id="98" name="Google Shape;98;p13"/>
              <p:cNvSpPr txBox="1"/>
              <p:nvPr/>
            </p:nvSpPr>
            <p:spPr>
              <a:xfrm>
                <a:off x="10410190" y="2813623"/>
                <a:ext cx="3196200" cy="369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spAutoFit/>
              </a:bodyPr>
              <a:lstStyle/>
              <a:p>
                <a:pPr indent="0" lvl="0" marL="0" marR="0" rtl="0" algn="l">
                  <a:lnSpc>
                    <a:spcPct val="119958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400"/>
                  <a:buFont typeface="Arial"/>
                  <a:buNone/>
                </a:pPr>
                <a:r>
                  <a:rPr b="0" i="0" lang="en-US" sz="2400" u="none" cap="none" strike="noStrike">
                    <a:solidFill>
                      <a:srgbClr val="FFFFFF"/>
                    </a:solidFill>
                    <a:latin typeface="Open Sans"/>
                    <a:ea typeface="Open Sans"/>
                    <a:cs typeface="Open Sans"/>
                    <a:sym typeface="Open Sans"/>
                  </a:rPr>
                  <a:t>www.zarantech.com</a:t>
                </a:r>
                <a:endParaRPr b="0" i="0" sz="14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99" name="Google Shape;99;p13"/>
              <p:cNvSpPr/>
              <p:nvPr/>
            </p:nvSpPr>
            <p:spPr>
              <a:xfrm>
                <a:off x="9870618" y="2827271"/>
                <a:ext cx="381880" cy="399958"/>
              </a:xfrm>
              <a:custGeom>
                <a:rect b="b" l="l" r="r" t="t"/>
                <a:pathLst>
                  <a:path extrusionOk="0" h="399958" w="381880">
                    <a:moveTo>
                      <a:pt x="0" y="0"/>
                    </a:moveTo>
                    <a:lnTo>
                      <a:pt x="381880" y="0"/>
                    </a:lnTo>
                    <a:lnTo>
                      <a:pt x="381880" y="399958"/>
                    </a:lnTo>
                    <a:lnTo>
                      <a:pt x="0" y="399958"/>
                    </a:lnTo>
                    <a:lnTo>
                      <a:pt x="0" y="0"/>
                    </a:lnTo>
                    <a:close/>
                  </a:path>
                </a:pathLst>
              </a:custGeom>
              <a:blipFill rotWithShape="1">
                <a:blip r:embed="rId3">
                  <a:alphaModFix/>
                </a:blip>
                <a:stretch>
                  <a:fillRect b="0" l="0" r="0" t="0"/>
                </a:stretch>
              </a:blipFill>
              <a:ln>
                <a:noFill/>
              </a:ln>
            </p:spPr>
          </p:sp>
        </p:grpSp>
      </p:grpSp>
      <p:sp>
        <p:nvSpPr>
          <p:cNvPr id="100" name="Google Shape;100;p13"/>
          <p:cNvSpPr/>
          <p:nvPr/>
        </p:nvSpPr>
        <p:spPr>
          <a:xfrm>
            <a:off x="15775388" y="330356"/>
            <a:ext cx="2238872" cy="461178"/>
          </a:xfrm>
          <a:custGeom>
            <a:rect b="b" l="l" r="r" t="t"/>
            <a:pathLst>
              <a:path extrusionOk="0" h="461178" w="2238872">
                <a:moveTo>
                  <a:pt x="0" y="0"/>
                </a:moveTo>
                <a:lnTo>
                  <a:pt x="2238872" y="0"/>
                </a:lnTo>
                <a:lnTo>
                  <a:pt x="2238872" y="461178"/>
                </a:lnTo>
                <a:lnTo>
                  <a:pt x="0" y="46117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101" name="Google Shape;101;p13"/>
          <p:cNvSpPr txBox="1"/>
          <p:nvPr/>
        </p:nvSpPr>
        <p:spPr>
          <a:xfrm>
            <a:off x="9702583" y="9770575"/>
            <a:ext cx="8493992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© Copyright 2026, ZaranTech LLC. All rights reserved.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2" name="Google Shape;102;p13"/>
          <p:cNvPicPr preferRelativeResize="0"/>
          <p:nvPr/>
        </p:nvPicPr>
        <p:blipFill rotWithShape="1">
          <a:blip r:embed="rId5">
            <a:alphaModFix/>
          </a:blip>
          <a:srcRect b="0" l="0" r="41821" t="0"/>
          <a:stretch/>
        </p:blipFill>
        <p:spPr>
          <a:xfrm>
            <a:off x="-508831" y="-1"/>
            <a:ext cx="9255542" cy="1060587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14"/>
          <p:cNvSpPr/>
          <p:nvPr/>
        </p:nvSpPr>
        <p:spPr>
          <a:xfrm>
            <a:off x="9144000" y="583020"/>
            <a:ext cx="9448800" cy="9710538"/>
          </a:xfrm>
          <a:custGeom>
            <a:rect b="b" l="l" r="r" t="t"/>
            <a:pathLst>
              <a:path extrusionOk="0" h="12689306" w="12689306">
                <a:moveTo>
                  <a:pt x="0" y="0"/>
                </a:moveTo>
                <a:lnTo>
                  <a:pt x="12689306" y="0"/>
                </a:lnTo>
                <a:lnTo>
                  <a:pt x="12689306" y="12689306"/>
                </a:lnTo>
                <a:lnTo>
                  <a:pt x="0" y="12689306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-20428" l="-22357" r="-16672" t="-15062"/>
            </a:stretch>
          </a:blipFill>
          <a:ln>
            <a:noFill/>
          </a:ln>
        </p:spPr>
      </p:sp>
      <p:grpSp>
        <p:nvGrpSpPr>
          <p:cNvPr id="110" name="Google Shape;110;p14"/>
          <p:cNvGrpSpPr/>
          <p:nvPr/>
        </p:nvGrpSpPr>
        <p:grpSpPr>
          <a:xfrm>
            <a:off x="16901127" y="8949505"/>
            <a:ext cx="769430" cy="754475"/>
            <a:chOff x="0" y="0"/>
            <a:chExt cx="1025906" cy="1005967"/>
          </a:xfrm>
        </p:grpSpPr>
        <p:sp>
          <p:nvSpPr>
            <p:cNvPr id="111" name="Google Shape;111;p14"/>
            <p:cNvSpPr/>
            <p:nvPr/>
          </p:nvSpPr>
          <p:spPr>
            <a:xfrm>
              <a:off x="12700" y="12700"/>
              <a:ext cx="1000506" cy="980440"/>
            </a:xfrm>
            <a:custGeom>
              <a:rect b="b" l="l" r="r" t="t"/>
              <a:pathLst>
                <a:path extrusionOk="0" h="980440" w="1000506">
                  <a:moveTo>
                    <a:pt x="0" y="490220"/>
                  </a:moveTo>
                  <a:cubicBezTo>
                    <a:pt x="0" y="219456"/>
                    <a:pt x="224028" y="0"/>
                    <a:pt x="500253" y="0"/>
                  </a:cubicBezTo>
                  <a:cubicBezTo>
                    <a:pt x="776478" y="0"/>
                    <a:pt x="1000506" y="219456"/>
                    <a:pt x="1000506" y="490220"/>
                  </a:cubicBezTo>
                  <a:cubicBezTo>
                    <a:pt x="1000506" y="760984"/>
                    <a:pt x="776478" y="980440"/>
                    <a:pt x="500253" y="980440"/>
                  </a:cubicBezTo>
                  <a:cubicBezTo>
                    <a:pt x="224028" y="980440"/>
                    <a:pt x="0" y="760984"/>
                    <a:pt x="0" y="490220"/>
                  </a:cubicBezTo>
                  <a:close/>
                </a:path>
              </a:pathLst>
            </a:custGeom>
            <a:solidFill>
              <a:srgbClr val="FFC00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" name="Google Shape;112;p14"/>
            <p:cNvSpPr/>
            <p:nvPr/>
          </p:nvSpPr>
          <p:spPr>
            <a:xfrm>
              <a:off x="0" y="0"/>
              <a:ext cx="1025906" cy="1005967"/>
            </a:xfrm>
            <a:custGeom>
              <a:rect b="b" l="l" r="r" t="t"/>
              <a:pathLst>
                <a:path extrusionOk="0" h="1005967" w="1025906">
                  <a:moveTo>
                    <a:pt x="0" y="502920"/>
                  </a:moveTo>
                  <a:cubicBezTo>
                    <a:pt x="0" y="224917"/>
                    <a:pt x="229870" y="0"/>
                    <a:pt x="512953" y="0"/>
                  </a:cubicBezTo>
                  <a:lnTo>
                    <a:pt x="512953" y="12700"/>
                  </a:lnTo>
                  <a:lnTo>
                    <a:pt x="512953" y="0"/>
                  </a:lnTo>
                  <a:cubicBezTo>
                    <a:pt x="796036" y="0"/>
                    <a:pt x="1025906" y="224917"/>
                    <a:pt x="1025906" y="502920"/>
                  </a:cubicBezTo>
                  <a:lnTo>
                    <a:pt x="1013206" y="502920"/>
                  </a:lnTo>
                  <a:lnTo>
                    <a:pt x="1025906" y="502920"/>
                  </a:lnTo>
                  <a:cubicBezTo>
                    <a:pt x="1025906" y="780923"/>
                    <a:pt x="796036" y="1005840"/>
                    <a:pt x="512953" y="1005840"/>
                  </a:cubicBezTo>
                  <a:lnTo>
                    <a:pt x="512953" y="993140"/>
                  </a:lnTo>
                  <a:lnTo>
                    <a:pt x="512953" y="1005840"/>
                  </a:lnTo>
                  <a:cubicBezTo>
                    <a:pt x="229870" y="1005967"/>
                    <a:pt x="0" y="781050"/>
                    <a:pt x="0" y="502920"/>
                  </a:cubicBezTo>
                  <a:lnTo>
                    <a:pt x="12700" y="502920"/>
                  </a:lnTo>
                  <a:lnTo>
                    <a:pt x="25400" y="502920"/>
                  </a:lnTo>
                  <a:lnTo>
                    <a:pt x="12700" y="502920"/>
                  </a:lnTo>
                  <a:lnTo>
                    <a:pt x="0" y="502920"/>
                  </a:lnTo>
                  <a:moveTo>
                    <a:pt x="25400" y="502920"/>
                  </a:moveTo>
                  <a:cubicBezTo>
                    <a:pt x="25400" y="509905"/>
                    <a:pt x="19685" y="515620"/>
                    <a:pt x="12700" y="515620"/>
                  </a:cubicBezTo>
                  <a:cubicBezTo>
                    <a:pt x="5715" y="515620"/>
                    <a:pt x="0" y="509905"/>
                    <a:pt x="0" y="502920"/>
                  </a:cubicBezTo>
                  <a:cubicBezTo>
                    <a:pt x="0" y="495935"/>
                    <a:pt x="5715" y="490220"/>
                    <a:pt x="12700" y="490220"/>
                  </a:cubicBezTo>
                  <a:cubicBezTo>
                    <a:pt x="19685" y="490220"/>
                    <a:pt x="25400" y="495935"/>
                    <a:pt x="25400" y="502920"/>
                  </a:cubicBezTo>
                  <a:cubicBezTo>
                    <a:pt x="25400" y="766445"/>
                    <a:pt x="243459" y="980440"/>
                    <a:pt x="512953" y="980440"/>
                  </a:cubicBezTo>
                  <a:cubicBezTo>
                    <a:pt x="782447" y="980440"/>
                    <a:pt x="1000506" y="766445"/>
                    <a:pt x="1000506" y="502920"/>
                  </a:cubicBezTo>
                  <a:cubicBezTo>
                    <a:pt x="1000506" y="239395"/>
                    <a:pt x="782447" y="25400"/>
                    <a:pt x="512953" y="25400"/>
                  </a:cubicBezTo>
                  <a:lnTo>
                    <a:pt x="512953" y="12700"/>
                  </a:lnTo>
                  <a:lnTo>
                    <a:pt x="512953" y="25400"/>
                  </a:lnTo>
                  <a:cubicBezTo>
                    <a:pt x="243459" y="25400"/>
                    <a:pt x="25400" y="239395"/>
                    <a:pt x="25400" y="502920"/>
                  </a:cubicBezTo>
                  <a:close/>
                </a:path>
              </a:pathLst>
            </a:custGeom>
            <a:solidFill>
              <a:srgbClr val="FFC00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13" name="Google Shape;113;p14"/>
          <p:cNvSpPr txBox="1"/>
          <p:nvPr/>
        </p:nvSpPr>
        <p:spPr>
          <a:xfrm>
            <a:off x="502391" y="404547"/>
            <a:ext cx="14900900" cy="105582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9979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Arial"/>
              <a:buNone/>
            </a:pPr>
            <a:r>
              <a:rPr b="1" i="0" lang="en-US" sz="48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Disclaimer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4" name="Google Shape;114;p14"/>
          <p:cNvSpPr txBox="1"/>
          <p:nvPr/>
        </p:nvSpPr>
        <p:spPr>
          <a:xfrm>
            <a:off x="323850" y="1460370"/>
            <a:ext cx="8820150" cy="664797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342900" lvl="1" marL="632460" marR="0" rtl="0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Noto Sans Symbols"/>
              <a:buChar char="∙"/>
            </a:pPr>
            <a:r>
              <a:rPr b="0" i="0" lang="en-US" sz="24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This presentation, including examples, images, and references are provided for informational purposes only.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1" marL="632460" marR="0" rtl="0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Noto Sans Symbols"/>
              <a:buChar char="∙"/>
            </a:pPr>
            <a:r>
              <a:rPr b="0" i="0" lang="en-US" sz="24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Complying with all applicable copyrights laws is the responsibility of the user.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1" marL="632460" marR="0" rtl="0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Noto Sans Symbols"/>
              <a:buChar char="∙"/>
            </a:pPr>
            <a:r>
              <a:rPr b="0" i="0" lang="en-US" sz="24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Without limiting the rights under copyright, no part of this document may be  reproduced, stored or introduced into a retrieval system, or transmitted in any form or by any means.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1" marL="632460" marR="0" rtl="0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Noto Sans Symbols"/>
              <a:buChar char="∙"/>
            </a:pPr>
            <a:r>
              <a:rPr b="0" i="0" lang="en-US" sz="24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Credits shall be given to the images taken from the open-source and cannot be used for promotional activities.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5" name="Google Shape;115;p14"/>
          <p:cNvSpPr/>
          <p:nvPr/>
        </p:nvSpPr>
        <p:spPr>
          <a:xfrm>
            <a:off x="15908184" y="204938"/>
            <a:ext cx="2110316" cy="516024"/>
          </a:xfrm>
          <a:custGeom>
            <a:rect b="b" l="l" r="r" t="t"/>
            <a:pathLst>
              <a:path extrusionOk="0" h="516024" w="2110316">
                <a:moveTo>
                  <a:pt x="0" y="0"/>
                </a:moveTo>
                <a:lnTo>
                  <a:pt x="2110316" y="0"/>
                </a:lnTo>
                <a:lnTo>
                  <a:pt x="2110316" y="516024"/>
                </a:lnTo>
                <a:lnTo>
                  <a:pt x="0" y="51602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-58" t="0"/>
            </a:stretch>
          </a:blipFill>
          <a:ln>
            <a:noFill/>
          </a:ln>
        </p:spPr>
      </p:sp>
      <p:sp>
        <p:nvSpPr>
          <p:cNvPr id="116" name="Google Shape;116;p14"/>
          <p:cNvSpPr txBox="1"/>
          <p:nvPr/>
        </p:nvSpPr>
        <p:spPr>
          <a:xfrm>
            <a:off x="323850" y="9858375"/>
            <a:ext cx="8493992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© Copyright 2026, ZaranTech LLC. All rights reserved.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7" name="Google Shape;117;p14"/>
          <p:cNvSpPr txBox="1"/>
          <p:nvPr>
            <p:ph idx="12" type="sldNum"/>
          </p:nvPr>
        </p:nvSpPr>
        <p:spPr>
          <a:xfrm>
            <a:off x="17114219" y="9163493"/>
            <a:ext cx="343246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3" name="Google Shape;123;p15"/>
          <p:cNvGrpSpPr/>
          <p:nvPr/>
        </p:nvGrpSpPr>
        <p:grpSpPr>
          <a:xfrm>
            <a:off x="16901127" y="8949505"/>
            <a:ext cx="769430" cy="754475"/>
            <a:chOff x="0" y="0"/>
            <a:chExt cx="1025906" cy="1005967"/>
          </a:xfrm>
        </p:grpSpPr>
        <p:sp>
          <p:nvSpPr>
            <p:cNvPr id="124" name="Google Shape;124;p15"/>
            <p:cNvSpPr/>
            <p:nvPr/>
          </p:nvSpPr>
          <p:spPr>
            <a:xfrm>
              <a:off x="12700" y="12700"/>
              <a:ext cx="1000506" cy="980440"/>
            </a:xfrm>
            <a:custGeom>
              <a:rect b="b" l="l" r="r" t="t"/>
              <a:pathLst>
                <a:path extrusionOk="0" h="980440" w="1000506">
                  <a:moveTo>
                    <a:pt x="0" y="490220"/>
                  </a:moveTo>
                  <a:cubicBezTo>
                    <a:pt x="0" y="219456"/>
                    <a:pt x="224028" y="0"/>
                    <a:pt x="500253" y="0"/>
                  </a:cubicBezTo>
                  <a:cubicBezTo>
                    <a:pt x="776478" y="0"/>
                    <a:pt x="1000506" y="219456"/>
                    <a:pt x="1000506" y="490220"/>
                  </a:cubicBezTo>
                  <a:cubicBezTo>
                    <a:pt x="1000506" y="760984"/>
                    <a:pt x="776478" y="980440"/>
                    <a:pt x="500253" y="980440"/>
                  </a:cubicBezTo>
                  <a:cubicBezTo>
                    <a:pt x="224028" y="980440"/>
                    <a:pt x="0" y="760984"/>
                    <a:pt x="0" y="490220"/>
                  </a:cubicBezTo>
                  <a:close/>
                </a:path>
              </a:pathLst>
            </a:custGeom>
            <a:solidFill>
              <a:srgbClr val="FFC00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" name="Google Shape;125;p15"/>
            <p:cNvSpPr/>
            <p:nvPr/>
          </p:nvSpPr>
          <p:spPr>
            <a:xfrm>
              <a:off x="0" y="0"/>
              <a:ext cx="1025906" cy="1005967"/>
            </a:xfrm>
            <a:custGeom>
              <a:rect b="b" l="l" r="r" t="t"/>
              <a:pathLst>
                <a:path extrusionOk="0" h="1005967" w="1025906">
                  <a:moveTo>
                    <a:pt x="0" y="502920"/>
                  </a:moveTo>
                  <a:cubicBezTo>
                    <a:pt x="0" y="224917"/>
                    <a:pt x="229870" y="0"/>
                    <a:pt x="512953" y="0"/>
                  </a:cubicBezTo>
                  <a:lnTo>
                    <a:pt x="512953" y="12700"/>
                  </a:lnTo>
                  <a:lnTo>
                    <a:pt x="512953" y="0"/>
                  </a:lnTo>
                  <a:cubicBezTo>
                    <a:pt x="796036" y="0"/>
                    <a:pt x="1025906" y="224917"/>
                    <a:pt x="1025906" y="502920"/>
                  </a:cubicBezTo>
                  <a:lnTo>
                    <a:pt x="1013206" y="502920"/>
                  </a:lnTo>
                  <a:lnTo>
                    <a:pt x="1025906" y="502920"/>
                  </a:lnTo>
                  <a:cubicBezTo>
                    <a:pt x="1025906" y="780923"/>
                    <a:pt x="796036" y="1005840"/>
                    <a:pt x="512953" y="1005840"/>
                  </a:cubicBezTo>
                  <a:lnTo>
                    <a:pt x="512953" y="993140"/>
                  </a:lnTo>
                  <a:lnTo>
                    <a:pt x="512953" y="1005840"/>
                  </a:lnTo>
                  <a:cubicBezTo>
                    <a:pt x="229870" y="1005967"/>
                    <a:pt x="0" y="781050"/>
                    <a:pt x="0" y="502920"/>
                  </a:cubicBezTo>
                  <a:lnTo>
                    <a:pt x="12700" y="502920"/>
                  </a:lnTo>
                  <a:lnTo>
                    <a:pt x="25400" y="502920"/>
                  </a:lnTo>
                  <a:lnTo>
                    <a:pt x="12700" y="502920"/>
                  </a:lnTo>
                  <a:lnTo>
                    <a:pt x="0" y="502920"/>
                  </a:lnTo>
                  <a:moveTo>
                    <a:pt x="25400" y="502920"/>
                  </a:moveTo>
                  <a:cubicBezTo>
                    <a:pt x="25400" y="509905"/>
                    <a:pt x="19685" y="515620"/>
                    <a:pt x="12700" y="515620"/>
                  </a:cubicBezTo>
                  <a:cubicBezTo>
                    <a:pt x="5715" y="515620"/>
                    <a:pt x="0" y="509905"/>
                    <a:pt x="0" y="502920"/>
                  </a:cubicBezTo>
                  <a:cubicBezTo>
                    <a:pt x="0" y="495935"/>
                    <a:pt x="5715" y="490220"/>
                    <a:pt x="12700" y="490220"/>
                  </a:cubicBezTo>
                  <a:cubicBezTo>
                    <a:pt x="19685" y="490220"/>
                    <a:pt x="25400" y="495935"/>
                    <a:pt x="25400" y="502920"/>
                  </a:cubicBezTo>
                  <a:cubicBezTo>
                    <a:pt x="25400" y="766445"/>
                    <a:pt x="243459" y="980440"/>
                    <a:pt x="512953" y="980440"/>
                  </a:cubicBezTo>
                  <a:cubicBezTo>
                    <a:pt x="782447" y="980440"/>
                    <a:pt x="1000506" y="766445"/>
                    <a:pt x="1000506" y="502920"/>
                  </a:cubicBezTo>
                  <a:cubicBezTo>
                    <a:pt x="1000506" y="239395"/>
                    <a:pt x="782447" y="25400"/>
                    <a:pt x="512953" y="25400"/>
                  </a:cubicBezTo>
                  <a:lnTo>
                    <a:pt x="512953" y="12700"/>
                  </a:lnTo>
                  <a:lnTo>
                    <a:pt x="512953" y="25400"/>
                  </a:lnTo>
                  <a:cubicBezTo>
                    <a:pt x="243459" y="25400"/>
                    <a:pt x="25400" y="239395"/>
                    <a:pt x="25400" y="502920"/>
                  </a:cubicBezTo>
                  <a:close/>
                </a:path>
              </a:pathLst>
            </a:custGeom>
            <a:solidFill>
              <a:srgbClr val="FFC00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26" name="Google Shape;126;p15"/>
          <p:cNvSpPr txBox="1"/>
          <p:nvPr/>
        </p:nvSpPr>
        <p:spPr>
          <a:xfrm>
            <a:off x="502391" y="404547"/>
            <a:ext cx="14900900" cy="105582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9979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Arial"/>
              <a:buNone/>
            </a:pPr>
            <a:r>
              <a:rPr b="1" i="0" lang="en-US" sz="48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Agenda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7" name="Google Shape;127;p15"/>
          <p:cNvSpPr txBox="1"/>
          <p:nvPr/>
        </p:nvSpPr>
        <p:spPr>
          <a:xfrm>
            <a:off x="502391" y="2066255"/>
            <a:ext cx="10209152" cy="465358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342900" lvl="0" marL="342900" marR="0" rtl="0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Noto Sans Symbols"/>
              <a:buChar char="∙"/>
            </a:pPr>
            <a:r>
              <a:rPr b="0" i="0" lang="en-US" sz="24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Welcome to the Fundamentals of Claude for Developers course module.</a:t>
            </a:r>
            <a:endParaRPr/>
          </a:p>
          <a:p>
            <a:pPr indent="-342900" lvl="0" marL="342900" marR="0" rtl="0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Noto Sans Symbols"/>
              <a:buChar char="∙"/>
            </a:pPr>
            <a:r>
              <a:rPr b="0" i="0" lang="en-US" sz="24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We will explore Claude's capabilities and its integration into workflows.</a:t>
            </a:r>
            <a:endParaRPr/>
          </a:p>
          <a:p>
            <a:pPr indent="-342900" lvl="0" marL="342900" marR="0" rtl="0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Noto Sans Symbols"/>
              <a:buChar char="∙"/>
            </a:pPr>
            <a:r>
              <a:rPr b="0" i="0" lang="en-US" sz="24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Discover essential prompting foundations tailored specifically for software engineers.</a:t>
            </a:r>
            <a:endParaRPr/>
          </a:p>
          <a:p>
            <a:pPr indent="-342900" lvl="0" marL="342900" marR="0" rtl="0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Noto Sans Symbols"/>
              <a:buChar char="∙"/>
            </a:pPr>
            <a:r>
              <a:rPr b="0" i="0" lang="en-US" sz="24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Learn responsible and efficient AI usage to accelerate coding tasks.</a:t>
            </a:r>
            <a:endParaRPr/>
          </a:p>
        </p:txBody>
      </p:sp>
      <p:sp>
        <p:nvSpPr>
          <p:cNvPr id="128" name="Google Shape;128;p15"/>
          <p:cNvSpPr/>
          <p:nvPr/>
        </p:nvSpPr>
        <p:spPr>
          <a:xfrm>
            <a:off x="10893284" y="-38176"/>
            <a:ext cx="7187978" cy="10325176"/>
          </a:xfrm>
          <a:custGeom>
            <a:rect b="b" l="l" r="r" t="t"/>
            <a:pathLst>
              <a:path extrusionOk="0" h="10325176" w="7187978">
                <a:moveTo>
                  <a:pt x="0" y="0"/>
                </a:moveTo>
                <a:lnTo>
                  <a:pt x="7187978" y="0"/>
                </a:lnTo>
                <a:lnTo>
                  <a:pt x="7187978" y="10325176"/>
                </a:lnTo>
                <a:lnTo>
                  <a:pt x="0" y="10325176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129" name="Google Shape;129;p15"/>
          <p:cNvSpPr/>
          <p:nvPr/>
        </p:nvSpPr>
        <p:spPr>
          <a:xfrm>
            <a:off x="15908184" y="204938"/>
            <a:ext cx="2110316" cy="516024"/>
          </a:xfrm>
          <a:custGeom>
            <a:rect b="b" l="l" r="r" t="t"/>
            <a:pathLst>
              <a:path extrusionOk="0" h="516024" w="2110316">
                <a:moveTo>
                  <a:pt x="0" y="0"/>
                </a:moveTo>
                <a:lnTo>
                  <a:pt x="2110316" y="0"/>
                </a:lnTo>
                <a:lnTo>
                  <a:pt x="2110316" y="516024"/>
                </a:lnTo>
                <a:lnTo>
                  <a:pt x="0" y="51602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-58" t="0"/>
            </a:stretch>
          </a:blipFill>
          <a:ln>
            <a:noFill/>
          </a:ln>
        </p:spPr>
      </p:sp>
      <p:sp>
        <p:nvSpPr>
          <p:cNvPr id="130" name="Google Shape;130;p15"/>
          <p:cNvSpPr txBox="1"/>
          <p:nvPr/>
        </p:nvSpPr>
        <p:spPr>
          <a:xfrm>
            <a:off x="323850" y="9858375"/>
            <a:ext cx="8493992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© Copyright 2026, ZaranTech LLC. All rights reserved.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1" name="Google Shape;131;p15"/>
          <p:cNvSpPr/>
          <p:nvPr/>
        </p:nvSpPr>
        <p:spPr>
          <a:xfrm>
            <a:off x="502391" y="1458435"/>
            <a:ext cx="2507429" cy="45719"/>
          </a:xfrm>
          <a:custGeom>
            <a:rect b="b" l="l" r="r" t="t"/>
            <a:pathLst>
              <a:path extrusionOk="0" h="37252" w="7450450">
                <a:moveTo>
                  <a:pt x="0" y="0"/>
                </a:moveTo>
                <a:lnTo>
                  <a:pt x="7450450" y="0"/>
                </a:lnTo>
                <a:lnTo>
                  <a:pt x="7450450" y="37252"/>
                </a:lnTo>
                <a:lnTo>
                  <a:pt x="0" y="3725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132" name="Google Shape;132;p15"/>
          <p:cNvSpPr txBox="1"/>
          <p:nvPr>
            <p:ph idx="12" type="sldNum"/>
          </p:nvPr>
        </p:nvSpPr>
        <p:spPr>
          <a:xfrm>
            <a:off x="16809592" y="9161103"/>
            <a:ext cx="9525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16"/>
          <p:cNvSpPr txBox="1"/>
          <p:nvPr/>
        </p:nvSpPr>
        <p:spPr>
          <a:xfrm>
            <a:off x="502391" y="647598"/>
            <a:ext cx="16420800" cy="8125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r>
              <a:rPr b="1" i="0" lang="en-US" sz="4400" u="none" cap="none" strike="noStrike">
                <a:solidFill>
                  <a:srgbClr val="10253F"/>
                </a:solidFill>
                <a:latin typeface="Open Sans"/>
                <a:ea typeface="Open Sans"/>
                <a:cs typeface="Open Sans"/>
                <a:sym typeface="Open Sans"/>
              </a:rPr>
              <a:t>What is Claude AI?</a:t>
            </a:r>
            <a:endParaRPr b="1" i="0" sz="4400" u="none" cap="none" strike="noStrike">
              <a:solidFill>
                <a:srgbClr val="10253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39" name="Google Shape;139;p16"/>
          <p:cNvSpPr txBox="1"/>
          <p:nvPr>
            <p:ph idx="12" type="sldNum"/>
          </p:nvPr>
        </p:nvSpPr>
        <p:spPr>
          <a:xfrm>
            <a:off x="16818396" y="9148746"/>
            <a:ext cx="9525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40" name="Google Shape;140;p16"/>
          <p:cNvSpPr/>
          <p:nvPr/>
        </p:nvSpPr>
        <p:spPr>
          <a:xfrm>
            <a:off x="15908184" y="204938"/>
            <a:ext cx="2110316" cy="516024"/>
          </a:xfrm>
          <a:custGeom>
            <a:rect b="b" l="l" r="r" t="t"/>
            <a:pathLst>
              <a:path extrusionOk="0" h="516024" w="2110316">
                <a:moveTo>
                  <a:pt x="0" y="0"/>
                </a:moveTo>
                <a:lnTo>
                  <a:pt x="2110316" y="0"/>
                </a:lnTo>
                <a:lnTo>
                  <a:pt x="2110316" y="516024"/>
                </a:lnTo>
                <a:lnTo>
                  <a:pt x="0" y="51602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-70" t="0"/>
            </a:stretch>
          </a:blipFill>
          <a:ln>
            <a:noFill/>
          </a:ln>
        </p:spPr>
      </p:sp>
      <p:sp>
        <p:nvSpPr>
          <p:cNvPr id="141" name="Google Shape;141;p16"/>
          <p:cNvSpPr txBox="1"/>
          <p:nvPr/>
        </p:nvSpPr>
        <p:spPr>
          <a:xfrm>
            <a:off x="323850" y="9858375"/>
            <a:ext cx="8493992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© Copyright 2026, ZaranTech LLC. All rights reserved.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2" name="Google Shape;142;p16"/>
          <p:cNvSpPr/>
          <p:nvPr/>
        </p:nvSpPr>
        <p:spPr>
          <a:xfrm>
            <a:off x="502391" y="1581072"/>
            <a:ext cx="2514527" cy="45727"/>
          </a:xfrm>
          <a:custGeom>
            <a:rect b="b" l="l" r="r" t="t"/>
            <a:pathLst>
              <a:path extrusionOk="0" h="37252" w="7450450">
                <a:moveTo>
                  <a:pt x="0" y="0"/>
                </a:moveTo>
                <a:lnTo>
                  <a:pt x="7450450" y="0"/>
                </a:lnTo>
                <a:lnTo>
                  <a:pt x="7450450" y="37252"/>
                </a:lnTo>
                <a:lnTo>
                  <a:pt x="0" y="3725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143" name="Google Shape;143;p16"/>
          <p:cNvSpPr txBox="1"/>
          <p:nvPr/>
        </p:nvSpPr>
        <p:spPr>
          <a:xfrm>
            <a:off x="502391" y="2249498"/>
            <a:ext cx="10151095" cy="321318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381000" lvl="0" marL="4572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pen Sans"/>
              <a:buChar char="●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Claude is an advanced AI assistant developed by Anthropic.</a:t>
            </a:r>
            <a:endParaRPr/>
          </a:p>
          <a:p>
            <a:pPr indent="-381000" lvl="0" marL="4572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pen Sans"/>
              <a:buChar char="●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It engages in open-ended conversations and handles complex technical tasks.</a:t>
            </a:r>
            <a:endParaRPr/>
          </a:p>
          <a:p>
            <a:pPr indent="-381000" lvl="0" marL="4572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pen Sans"/>
              <a:buChar char="●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Claude serves as a powerful coding partner for modern developers.</a:t>
            </a:r>
            <a:endParaRPr/>
          </a:p>
          <a:p>
            <a:pPr indent="-381000" lvl="0" marL="4572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pen Sans"/>
              <a:buChar char="●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A large context window lets it work across a whole codebase in one pass.</a:t>
            </a:r>
            <a:endParaRPr/>
          </a:p>
        </p:txBody>
      </p:sp>
      <p:grpSp>
        <p:nvGrpSpPr>
          <p:cNvPr id="144" name="Google Shape;144;p16"/>
          <p:cNvGrpSpPr/>
          <p:nvPr/>
        </p:nvGrpSpPr>
        <p:grpSpPr>
          <a:xfrm>
            <a:off x="11453601" y="1163622"/>
            <a:ext cx="4454583" cy="4774001"/>
            <a:chOff x="11453601" y="1626799"/>
            <a:chExt cx="4454583" cy="4774001"/>
          </a:xfrm>
        </p:grpSpPr>
        <p:pic>
          <p:nvPicPr>
            <p:cNvPr id="145" name="Google Shape;145;p16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11453601" y="1626799"/>
              <a:ext cx="4454583" cy="4774001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46" name="Google Shape;146;p16"/>
            <p:cNvSpPr/>
            <p:nvPr/>
          </p:nvSpPr>
          <p:spPr>
            <a:xfrm>
              <a:off x="11466286" y="1626799"/>
              <a:ext cx="812800" cy="896503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17"/>
          <p:cNvSpPr txBox="1"/>
          <p:nvPr/>
        </p:nvSpPr>
        <p:spPr>
          <a:xfrm>
            <a:off x="502391" y="647598"/>
            <a:ext cx="16420800" cy="8125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r>
              <a:rPr b="1" i="0" lang="en-US" sz="4400" u="none" cap="none" strike="noStrike">
                <a:solidFill>
                  <a:srgbClr val="10253F"/>
                </a:solidFill>
                <a:latin typeface="Open Sans"/>
                <a:ea typeface="Open Sans"/>
                <a:cs typeface="Open Sans"/>
                <a:sym typeface="Open Sans"/>
              </a:rPr>
              <a:t>Where Developers Access Claude</a:t>
            </a:r>
            <a:endParaRPr b="1" i="0" sz="4400" u="none" cap="none" strike="noStrike">
              <a:solidFill>
                <a:srgbClr val="10253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53" name="Google Shape;153;p17"/>
          <p:cNvSpPr txBox="1"/>
          <p:nvPr>
            <p:ph idx="12" type="sldNum"/>
          </p:nvPr>
        </p:nvSpPr>
        <p:spPr>
          <a:xfrm>
            <a:off x="16818396" y="9148746"/>
            <a:ext cx="9525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54" name="Google Shape;154;p17"/>
          <p:cNvSpPr/>
          <p:nvPr/>
        </p:nvSpPr>
        <p:spPr>
          <a:xfrm>
            <a:off x="15908184" y="204938"/>
            <a:ext cx="2110316" cy="516024"/>
          </a:xfrm>
          <a:custGeom>
            <a:rect b="b" l="l" r="r" t="t"/>
            <a:pathLst>
              <a:path extrusionOk="0" h="516024" w="2110316">
                <a:moveTo>
                  <a:pt x="0" y="0"/>
                </a:moveTo>
                <a:lnTo>
                  <a:pt x="2110316" y="0"/>
                </a:lnTo>
                <a:lnTo>
                  <a:pt x="2110316" y="516024"/>
                </a:lnTo>
                <a:lnTo>
                  <a:pt x="0" y="51602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-70" t="0"/>
            </a:stretch>
          </a:blipFill>
          <a:ln>
            <a:noFill/>
          </a:ln>
        </p:spPr>
      </p:sp>
      <p:sp>
        <p:nvSpPr>
          <p:cNvPr id="155" name="Google Shape;155;p17"/>
          <p:cNvSpPr txBox="1"/>
          <p:nvPr/>
        </p:nvSpPr>
        <p:spPr>
          <a:xfrm>
            <a:off x="323850" y="9858375"/>
            <a:ext cx="8493992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© Copyright 2026, ZaranTech LLC. All rights reserved.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6" name="Google Shape;156;p17"/>
          <p:cNvSpPr/>
          <p:nvPr/>
        </p:nvSpPr>
        <p:spPr>
          <a:xfrm>
            <a:off x="502391" y="1581072"/>
            <a:ext cx="2514527" cy="45727"/>
          </a:xfrm>
          <a:custGeom>
            <a:rect b="b" l="l" r="r" t="t"/>
            <a:pathLst>
              <a:path extrusionOk="0" h="37252" w="7450450">
                <a:moveTo>
                  <a:pt x="0" y="0"/>
                </a:moveTo>
                <a:lnTo>
                  <a:pt x="7450450" y="0"/>
                </a:lnTo>
                <a:lnTo>
                  <a:pt x="7450450" y="37252"/>
                </a:lnTo>
                <a:lnTo>
                  <a:pt x="0" y="3725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157" name="Google Shape;157;p17"/>
          <p:cNvSpPr txBox="1"/>
          <p:nvPr/>
        </p:nvSpPr>
        <p:spPr>
          <a:xfrm>
            <a:off x="502391" y="2446064"/>
            <a:ext cx="10959482" cy="2142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381000" lvl="0" marL="4572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pen Sans"/>
              <a:buChar char="●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Access Claude directly through the intuitive web application interface. </a:t>
            </a:r>
            <a:endParaRPr/>
          </a:p>
          <a:p>
            <a:pPr indent="-381000" lvl="0" marL="4572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pen Sans"/>
              <a:buChar char="●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Utilize the Claude API for seamless custom software integrations. </a:t>
            </a:r>
            <a:endParaRPr/>
          </a:p>
          <a:p>
            <a:pPr indent="-381000" lvl="0" marL="4572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pen Sans"/>
              <a:buChar char="●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Integrate Claude easily with popular third-party tools and platforms. </a:t>
            </a:r>
            <a:endParaRPr/>
          </a:p>
          <a:p>
            <a:pPr indent="-381000" lvl="0" marL="4572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pen Sans"/>
              <a:buChar char="●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Build customized AI solutions using the dedicated Claude Agent SDK.</a:t>
            </a:r>
            <a:endParaRPr/>
          </a:p>
        </p:txBody>
      </p:sp>
      <p:pic>
        <p:nvPicPr>
          <p:cNvPr id="158" name="Google Shape;158;p1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2596586" y="1460128"/>
            <a:ext cx="4038600" cy="43243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8"/>
          <p:cNvSpPr txBox="1"/>
          <p:nvPr/>
        </p:nvSpPr>
        <p:spPr>
          <a:xfrm>
            <a:off x="502391" y="647598"/>
            <a:ext cx="16420800" cy="8125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r>
              <a:rPr b="1" i="0" lang="en-US" sz="4400" u="none" cap="none" strike="noStrike">
                <a:solidFill>
                  <a:srgbClr val="10253F"/>
                </a:solidFill>
                <a:latin typeface="Open Sans"/>
                <a:ea typeface="Open Sans"/>
                <a:cs typeface="Open Sans"/>
                <a:sym typeface="Open Sans"/>
              </a:rPr>
              <a:t>Introduction to Claude Code</a:t>
            </a:r>
            <a:endParaRPr b="1" i="0" sz="4400" u="none" cap="none" strike="noStrike">
              <a:solidFill>
                <a:srgbClr val="10253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65" name="Google Shape;165;p18"/>
          <p:cNvSpPr txBox="1"/>
          <p:nvPr>
            <p:ph idx="12" type="sldNum"/>
          </p:nvPr>
        </p:nvSpPr>
        <p:spPr>
          <a:xfrm>
            <a:off x="16818396" y="9148746"/>
            <a:ext cx="9525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66" name="Google Shape;166;p18"/>
          <p:cNvSpPr/>
          <p:nvPr/>
        </p:nvSpPr>
        <p:spPr>
          <a:xfrm>
            <a:off x="15908184" y="204938"/>
            <a:ext cx="2110316" cy="516024"/>
          </a:xfrm>
          <a:custGeom>
            <a:rect b="b" l="l" r="r" t="t"/>
            <a:pathLst>
              <a:path extrusionOk="0" h="516024" w="2110316">
                <a:moveTo>
                  <a:pt x="0" y="0"/>
                </a:moveTo>
                <a:lnTo>
                  <a:pt x="2110316" y="0"/>
                </a:lnTo>
                <a:lnTo>
                  <a:pt x="2110316" y="516024"/>
                </a:lnTo>
                <a:lnTo>
                  <a:pt x="0" y="51602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-70" t="0"/>
            </a:stretch>
          </a:blipFill>
          <a:ln>
            <a:noFill/>
          </a:ln>
        </p:spPr>
      </p:sp>
      <p:sp>
        <p:nvSpPr>
          <p:cNvPr id="167" name="Google Shape;167;p18"/>
          <p:cNvSpPr txBox="1"/>
          <p:nvPr/>
        </p:nvSpPr>
        <p:spPr>
          <a:xfrm>
            <a:off x="323850" y="9858375"/>
            <a:ext cx="8493992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© Copyright 2026, ZaranTech LLC. All rights reserved.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8" name="Google Shape;168;p18"/>
          <p:cNvSpPr/>
          <p:nvPr/>
        </p:nvSpPr>
        <p:spPr>
          <a:xfrm>
            <a:off x="502391" y="1581072"/>
            <a:ext cx="2514527" cy="45727"/>
          </a:xfrm>
          <a:custGeom>
            <a:rect b="b" l="l" r="r" t="t"/>
            <a:pathLst>
              <a:path extrusionOk="0" h="37252" w="7450450">
                <a:moveTo>
                  <a:pt x="0" y="0"/>
                </a:moveTo>
                <a:lnTo>
                  <a:pt x="7450450" y="0"/>
                </a:lnTo>
                <a:lnTo>
                  <a:pt x="7450450" y="37252"/>
                </a:lnTo>
                <a:lnTo>
                  <a:pt x="0" y="3725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grpSp>
        <p:nvGrpSpPr>
          <p:cNvPr id="169" name="Google Shape;169;p18"/>
          <p:cNvGrpSpPr/>
          <p:nvPr/>
        </p:nvGrpSpPr>
        <p:grpSpPr>
          <a:xfrm>
            <a:off x="1476592" y="2205945"/>
            <a:ext cx="14858611" cy="1382806"/>
            <a:chOff x="2292567" y="3922998"/>
            <a:chExt cx="13991635" cy="1583760"/>
          </a:xfrm>
        </p:grpSpPr>
        <p:sp>
          <p:nvSpPr>
            <p:cNvPr id="170" name="Google Shape;170;p18"/>
            <p:cNvSpPr/>
            <p:nvPr/>
          </p:nvSpPr>
          <p:spPr>
            <a:xfrm>
              <a:off x="2292567" y="3922998"/>
              <a:ext cx="13825800" cy="1431360"/>
            </a:xfrm>
            <a:prstGeom prst="rect">
              <a:avLst/>
            </a:prstGeom>
            <a:noFill/>
            <a:ln cap="flat" cmpd="sng" w="38100">
              <a:solidFill>
                <a:srgbClr val="FFC000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1" name="Google Shape;171;p18"/>
            <p:cNvSpPr/>
            <p:nvPr/>
          </p:nvSpPr>
          <p:spPr>
            <a:xfrm>
              <a:off x="2458402" y="4075398"/>
              <a:ext cx="13825800" cy="1431360"/>
            </a:xfrm>
            <a:prstGeom prst="rect">
              <a:avLst/>
            </a:prstGeom>
            <a:solidFill>
              <a:srgbClr val="FFC00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r>
                <a:rPr b="0" i="0" lang="en-US" sz="2400" u="none" cap="none" strike="noStrike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Claude Code is an agentic tool operating inside your terminal. </a:t>
              </a:r>
              <a:endParaRPr b="0" i="0" sz="24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endParaRPr>
            </a:p>
          </p:txBody>
        </p:sp>
      </p:grpSp>
      <p:grpSp>
        <p:nvGrpSpPr>
          <p:cNvPr id="172" name="Google Shape;172;p18"/>
          <p:cNvGrpSpPr/>
          <p:nvPr/>
        </p:nvGrpSpPr>
        <p:grpSpPr>
          <a:xfrm>
            <a:off x="1476592" y="4110306"/>
            <a:ext cx="14858611" cy="1382806"/>
            <a:chOff x="2292567" y="5702612"/>
            <a:chExt cx="13991635" cy="1583760"/>
          </a:xfrm>
        </p:grpSpPr>
        <p:sp>
          <p:nvSpPr>
            <p:cNvPr id="173" name="Google Shape;173;p18"/>
            <p:cNvSpPr/>
            <p:nvPr/>
          </p:nvSpPr>
          <p:spPr>
            <a:xfrm>
              <a:off x="2292567" y="5702612"/>
              <a:ext cx="13825800" cy="1431360"/>
            </a:xfrm>
            <a:prstGeom prst="rect">
              <a:avLst/>
            </a:prstGeom>
            <a:noFill/>
            <a:ln cap="flat" cmpd="sng" w="38100">
              <a:solidFill>
                <a:srgbClr val="FFC000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4" name="Google Shape;174;p18"/>
            <p:cNvSpPr/>
            <p:nvPr/>
          </p:nvSpPr>
          <p:spPr>
            <a:xfrm>
              <a:off x="2458402" y="5855012"/>
              <a:ext cx="13825800" cy="1431360"/>
            </a:xfrm>
            <a:prstGeom prst="rect">
              <a:avLst/>
            </a:prstGeom>
            <a:solidFill>
              <a:srgbClr val="FFC00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r>
                <a:rPr b="0" i="0" lang="en-US" sz="2400" u="none" cap="none" strike="noStrike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It natively reads codebases and executes changes across multiple files.</a:t>
              </a:r>
              <a:endParaRPr b="0" i="0" sz="24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endParaRPr>
            </a:p>
          </p:txBody>
        </p:sp>
      </p:grpSp>
      <p:grpSp>
        <p:nvGrpSpPr>
          <p:cNvPr id="175" name="Google Shape;175;p18"/>
          <p:cNvGrpSpPr/>
          <p:nvPr/>
        </p:nvGrpSpPr>
        <p:grpSpPr>
          <a:xfrm>
            <a:off x="1476592" y="6014667"/>
            <a:ext cx="14858611" cy="1382806"/>
            <a:chOff x="2292567" y="7564986"/>
            <a:chExt cx="13991635" cy="1583760"/>
          </a:xfrm>
        </p:grpSpPr>
        <p:sp>
          <p:nvSpPr>
            <p:cNvPr id="176" name="Google Shape;176;p18"/>
            <p:cNvSpPr/>
            <p:nvPr/>
          </p:nvSpPr>
          <p:spPr>
            <a:xfrm>
              <a:off x="2292567" y="7564986"/>
              <a:ext cx="13825800" cy="1431360"/>
            </a:xfrm>
            <a:prstGeom prst="rect">
              <a:avLst/>
            </a:prstGeom>
            <a:noFill/>
            <a:ln cap="flat" cmpd="sng" w="38100">
              <a:solidFill>
                <a:srgbClr val="FFC000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7" name="Google Shape;177;p18"/>
            <p:cNvSpPr/>
            <p:nvPr/>
          </p:nvSpPr>
          <p:spPr>
            <a:xfrm>
              <a:off x="2458402" y="7717386"/>
              <a:ext cx="13825800" cy="1431360"/>
            </a:xfrm>
            <a:prstGeom prst="rect">
              <a:avLst/>
            </a:prstGeom>
            <a:solidFill>
              <a:srgbClr val="FFC00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r>
                <a:rPr b="0" i="0" lang="en-US" sz="2400" u="none" cap="none" strike="noStrike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Developers can also use the dedicated Visual Studio Code extension. </a:t>
              </a:r>
              <a:endParaRPr b="0" i="0" sz="24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endParaRPr>
            </a:p>
          </p:txBody>
        </p:sp>
      </p:grpSp>
      <p:grpSp>
        <p:nvGrpSpPr>
          <p:cNvPr id="178" name="Google Shape;178;p18"/>
          <p:cNvGrpSpPr/>
          <p:nvPr/>
        </p:nvGrpSpPr>
        <p:grpSpPr>
          <a:xfrm>
            <a:off x="1476591" y="7919027"/>
            <a:ext cx="14858611" cy="1382806"/>
            <a:chOff x="2292567" y="7564986"/>
            <a:chExt cx="13991635" cy="1583760"/>
          </a:xfrm>
        </p:grpSpPr>
        <p:sp>
          <p:nvSpPr>
            <p:cNvPr id="179" name="Google Shape;179;p18"/>
            <p:cNvSpPr/>
            <p:nvPr/>
          </p:nvSpPr>
          <p:spPr>
            <a:xfrm>
              <a:off x="2292567" y="7564986"/>
              <a:ext cx="13825800" cy="1431360"/>
            </a:xfrm>
            <a:prstGeom prst="rect">
              <a:avLst/>
            </a:prstGeom>
            <a:noFill/>
            <a:ln cap="flat" cmpd="sng" w="38100">
              <a:solidFill>
                <a:srgbClr val="FFC000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0" name="Google Shape;180;p18"/>
            <p:cNvSpPr/>
            <p:nvPr/>
          </p:nvSpPr>
          <p:spPr>
            <a:xfrm>
              <a:off x="2458402" y="7717386"/>
              <a:ext cx="13825800" cy="1431360"/>
            </a:xfrm>
            <a:prstGeom prst="rect">
              <a:avLst/>
            </a:prstGeom>
            <a:solidFill>
              <a:srgbClr val="FFC00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r>
                <a:rPr b="0" i="0" lang="en-US" sz="2400" u="none" cap="none" strike="noStrike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It runs tests, and reads a project context file you keep in the repo.</a:t>
              </a:r>
              <a:endParaRPr b="0" i="0" sz="24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endParaRP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19"/>
          <p:cNvSpPr txBox="1"/>
          <p:nvPr/>
        </p:nvSpPr>
        <p:spPr>
          <a:xfrm>
            <a:off x="502391" y="637523"/>
            <a:ext cx="16420800" cy="8125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r>
              <a:rPr b="1" i="0" lang="en-US" sz="4400" u="none" cap="none" strike="noStrike">
                <a:solidFill>
                  <a:srgbClr val="10253F"/>
                </a:solidFill>
                <a:latin typeface="Open Sans"/>
                <a:ea typeface="Open Sans"/>
                <a:cs typeface="Open Sans"/>
                <a:sym typeface="Open Sans"/>
              </a:rPr>
              <a:t>Key Strengths vs Other Assistants</a:t>
            </a:r>
            <a:endParaRPr b="1" i="0" sz="4400" u="none" cap="none" strike="noStrike">
              <a:solidFill>
                <a:srgbClr val="10253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87" name="Google Shape;187;p19"/>
          <p:cNvSpPr txBox="1"/>
          <p:nvPr>
            <p:ph idx="12" type="sldNum"/>
          </p:nvPr>
        </p:nvSpPr>
        <p:spPr>
          <a:xfrm>
            <a:off x="16818396" y="9148746"/>
            <a:ext cx="9525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88" name="Google Shape;188;p19"/>
          <p:cNvSpPr/>
          <p:nvPr/>
        </p:nvSpPr>
        <p:spPr>
          <a:xfrm>
            <a:off x="15908184" y="204938"/>
            <a:ext cx="2110316" cy="516024"/>
          </a:xfrm>
          <a:custGeom>
            <a:rect b="b" l="l" r="r" t="t"/>
            <a:pathLst>
              <a:path extrusionOk="0" h="516024" w="2110316">
                <a:moveTo>
                  <a:pt x="0" y="0"/>
                </a:moveTo>
                <a:lnTo>
                  <a:pt x="2110316" y="0"/>
                </a:lnTo>
                <a:lnTo>
                  <a:pt x="2110316" y="516024"/>
                </a:lnTo>
                <a:lnTo>
                  <a:pt x="0" y="51602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-70" t="0"/>
            </a:stretch>
          </a:blipFill>
          <a:ln>
            <a:noFill/>
          </a:ln>
        </p:spPr>
      </p:sp>
      <p:sp>
        <p:nvSpPr>
          <p:cNvPr id="189" name="Google Shape;189;p19"/>
          <p:cNvSpPr txBox="1"/>
          <p:nvPr/>
        </p:nvSpPr>
        <p:spPr>
          <a:xfrm>
            <a:off x="323850" y="9858375"/>
            <a:ext cx="8493992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© Copyright 2026, ZaranTech LLC. All rights reserved.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0" name="Google Shape;190;p19"/>
          <p:cNvSpPr/>
          <p:nvPr/>
        </p:nvSpPr>
        <p:spPr>
          <a:xfrm>
            <a:off x="502391" y="1581072"/>
            <a:ext cx="2514527" cy="45727"/>
          </a:xfrm>
          <a:custGeom>
            <a:rect b="b" l="l" r="r" t="t"/>
            <a:pathLst>
              <a:path extrusionOk="0" h="37252" w="7450450">
                <a:moveTo>
                  <a:pt x="0" y="0"/>
                </a:moveTo>
                <a:lnTo>
                  <a:pt x="7450450" y="0"/>
                </a:lnTo>
                <a:lnTo>
                  <a:pt x="7450450" y="37252"/>
                </a:lnTo>
                <a:lnTo>
                  <a:pt x="0" y="3725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191" name="Google Shape;191;p19"/>
          <p:cNvSpPr/>
          <p:nvPr/>
        </p:nvSpPr>
        <p:spPr>
          <a:xfrm>
            <a:off x="2295023" y="4007418"/>
            <a:ext cx="13906273" cy="1102200"/>
          </a:xfrm>
          <a:prstGeom prst="trapezoid">
            <a:avLst>
              <a:gd fmla="val 25000" name="adj"/>
            </a:avLst>
          </a:prstGeom>
          <a:solidFill>
            <a:srgbClr val="FFC000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The massive context window easily understands extensive project source code. </a:t>
            </a:r>
            <a:endParaRPr b="0" i="0" sz="2400" u="none" cap="none" strike="noStrike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92" name="Google Shape;192;p19"/>
          <p:cNvSpPr/>
          <p:nvPr/>
        </p:nvSpPr>
        <p:spPr>
          <a:xfrm>
            <a:off x="2295023" y="2423051"/>
            <a:ext cx="13906273" cy="1102200"/>
          </a:xfrm>
          <a:prstGeom prst="trapezoid">
            <a:avLst>
              <a:gd fmla="val 25000" name="adj"/>
            </a:avLst>
          </a:prstGeom>
          <a:solidFill>
            <a:srgbClr val="FFC000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Claude features exceptionally strong reasoning for complex software architecture problems. </a:t>
            </a:r>
            <a:endParaRPr b="0" i="0" sz="2400" u="none" cap="none" strike="noStrike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93" name="Google Shape;193;p19"/>
          <p:cNvSpPr/>
          <p:nvPr/>
        </p:nvSpPr>
        <p:spPr>
          <a:xfrm>
            <a:off x="2295023" y="5591785"/>
            <a:ext cx="13906273" cy="1102200"/>
          </a:xfrm>
          <a:prstGeom prst="trapezoid">
            <a:avLst>
              <a:gd fmla="val 25000" name="adj"/>
            </a:avLst>
          </a:prstGeom>
          <a:solidFill>
            <a:srgbClr val="FFC000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It maintains high focus during extended complex coding tasks securely. </a:t>
            </a:r>
            <a:endParaRPr b="0" i="0" sz="2400" u="none" cap="none" strike="noStrike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94" name="Google Shape;194;p19"/>
          <p:cNvSpPr/>
          <p:nvPr/>
        </p:nvSpPr>
        <p:spPr>
          <a:xfrm>
            <a:off x="2190863" y="7176151"/>
            <a:ext cx="13906273" cy="1102200"/>
          </a:xfrm>
          <a:prstGeom prst="trapezoid">
            <a:avLst>
              <a:gd fmla="val 25000" name="adj"/>
            </a:avLst>
          </a:prstGeom>
          <a:solidFill>
            <a:srgbClr val="FFC000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It states uncertainty rather than inventing an API that does not exist.</a:t>
            </a:r>
            <a:endParaRPr b="0" i="0" sz="2400" u="none" cap="none" strike="noStrike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9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20"/>
          <p:cNvSpPr txBox="1"/>
          <p:nvPr/>
        </p:nvSpPr>
        <p:spPr>
          <a:xfrm>
            <a:off x="502391" y="647598"/>
            <a:ext cx="16420800" cy="8125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r>
              <a:rPr b="1" i="0" lang="en-US" sz="4400" u="none" cap="none" strike="noStrike">
                <a:solidFill>
                  <a:srgbClr val="10253F"/>
                </a:solidFill>
                <a:latin typeface="Open Sans"/>
                <a:ea typeface="Open Sans"/>
                <a:cs typeface="Open Sans"/>
                <a:sym typeface="Open Sans"/>
              </a:rPr>
              <a:t>Unmatched Coding Support</a:t>
            </a:r>
            <a:endParaRPr b="1" i="0" sz="4400" u="none" cap="none" strike="noStrike">
              <a:solidFill>
                <a:srgbClr val="10253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201" name="Google Shape;201;p20"/>
          <p:cNvSpPr txBox="1"/>
          <p:nvPr>
            <p:ph idx="12" type="sldNum"/>
          </p:nvPr>
        </p:nvSpPr>
        <p:spPr>
          <a:xfrm>
            <a:off x="16818396" y="9148746"/>
            <a:ext cx="9525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02" name="Google Shape;202;p20"/>
          <p:cNvSpPr/>
          <p:nvPr/>
        </p:nvSpPr>
        <p:spPr>
          <a:xfrm>
            <a:off x="15908184" y="204938"/>
            <a:ext cx="2110316" cy="516024"/>
          </a:xfrm>
          <a:custGeom>
            <a:rect b="b" l="l" r="r" t="t"/>
            <a:pathLst>
              <a:path extrusionOk="0" h="516024" w="2110316">
                <a:moveTo>
                  <a:pt x="0" y="0"/>
                </a:moveTo>
                <a:lnTo>
                  <a:pt x="2110316" y="0"/>
                </a:lnTo>
                <a:lnTo>
                  <a:pt x="2110316" y="516024"/>
                </a:lnTo>
                <a:lnTo>
                  <a:pt x="0" y="51602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-70" t="0"/>
            </a:stretch>
          </a:blipFill>
          <a:ln>
            <a:noFill/>
          </a:ln>
        </p:spPr>
      </p:sp>
      <p:sp>
        <p:nvSpPr>
          <p:cNvPr id="203" name="Google Shape;203;p20"/>
          <p:cNvSpPr txBox="1"/>
          <p:nvPr/>
        </p:nvSpPr>
        <p:spPr>
          <a:xfrm>
            <a:off x="323850" y="9858375"/>
            <a:ext cx="8493992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© Copyright 2026, ZaranTech LLC. All rights reserved.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4" name="Google Shape;204;p20"/>
          <p:cNvSpPr/>
          <p:nvPr/>
        </p:nvSpPr>
        <p:spPr>
          <a:xfrm>
            <a:off x="502391" y="1581072"/>
            <a:ext cx="2514527" cy="45727"/>
          </a:xfrm>
          <a:custGeom>
            <a:rect b="b" l="l" r="r" t="t"/>
            <a:pathLst>
              <a:path extrusionOk="0" h="37252" w="7450450">
                <a:moveTo>
                  <a:pt x="0" y="0"/>
                </a:moveTo>
                <a:lnTo>
                  <a:pt x="7450450" y="0"/>
                </a:lnTo>
                <a:lnTo>
                  <a:pt x="7450450" y="37252"/>
                </a:lnTo>
                <a:lnTo>
                  <a:pt x="0" y="3725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205" name="Google Shape;205;p20"/>
          <p:cNvSpPr txBox="1"/>
          <p:nvPr/>
        </p:nvSpPr>
        <p:spPr>
          <a:xfrm>
            <a:off x="477775" y="2104355"/>
            <a:ext cx="17019300" cy="1976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381000" lvl="0" marL="4572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pen Sans"/>
              <a:buChar char="●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Claude models come in tiers. Pick the tier, not a version number.</a:t>
            </a:r>
            <a:endParaRPr/>
          </a:p>
          <a:p>
            <a:pPr indent="-381000" lvl="0" marL="4572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pen Sans"/>
              <a:buChar char="●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Use the most capable tier for architecture, debugging and unfamiliar code.</a:t>
            </a:r>
            <a:endParaRPr/>
          </a:p>
          <a:p>
            <a:pPr indent="-381000" lvl="0" marL="4572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pen Sans"/>
              <a:buChar char="●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Use a faster tier for repetitive, well-specified, high-volume work.</a:t>
            </a:r>
            <a:endParaRPr/>
          </a:p>
          <a:p>
            <a:pPr indent="-381000" lvl="0" marL="4572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pen Sans"/>
              <a:buChar char="●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Version identifiers change often. Read the current list from the docs.</a:t>
            </a:r>
            <a:endParaRPr/>
          </a:p>
        </p:txBody>
      </p:sp>
      <p:pic>
        <p:nvPicPr>
          <p:cNvPr id="206" name="Google Shape;206;p20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124575" y="4785477"/>
            <a:ext cx="6038850" cy="4533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21"/>
          <p:cNvSpPr txBox="1"/>
          <p:nvPr/>
        </p:nvSpPr>
        <p:spPr>
          <a:xfrm>
            <a:off x="502391" y="647598"/>
            <a:ext cx="16420800" cy="8125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r>
              <a:rPr b="1" i="0" lang="en-US" sz="4400" u="none" cap="none" strike="noStrike">
                <a:solidFill>
                  <a:srgbClr val="10253F"/>
                </a:solidFill>
                <a:latin typeface="Open Sans"/>
                <a:ea typeface="Open Sans"/>
                <a:cs typeface="Open Sans"/>
                <a:sym typeface="Open Sans"/>
              </a:rPr>
              <a:t>Overview of Developer Use Cases</a:t>
            </a:r>
            <a:endParaRPr b="1" i="0" sz="4400" u="none" cap="none" strike="noStrike">
              <a:solidFill>
                <a:srgbClr val="10253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213" name="Google Shape;213;p21"/>
          <p:cNvSpPr txBox="1"/>
          <p:nvPr>
            <p:ph idx="12" type="sldNum"/>
          </p:nvPr>
        </p:nvSpPr>
        <p:spPr>
          <a:xfrm>
            <a:off x="16818396" y="9148746"/>
            <a:ext cx="9525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14" name="Google Shape;214;p21"/>
          <p:cNvSpPr/>
          <p:nvPr/>
        </p:nvSpPr>
        <p:spPr>
          <a:xfrm>
            <a:off x="15908184" y="204938"/>
            <a:ext cx="2110316" cy="516024"/>
          </a:xfrm>
          <a:custGeom>
            <a:rect b="b" l="l" r="r" t="t"/>
            <a:pathLst>
              <a:path extrusionOk="0" h="516024" w="2110316">
                <a:moveTo>
                  <a:pt x="0" y="0"/>
                </a:moveTo>
                <a:lnTo>
                  <a:pt x="2110316" y="0"/>
                </a:lnTo>
                <a:lnTo>
                  <a:pt x="2110316" y="516024"/>
                </a:lnTo>
                <a:lnTo>
                  <a:pt x="0" y="51602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-70" t="0"/>
            </a:stretch>
          </a:blipFill>
          <a:ln>
            <a:noFill/>
          </a:ln>
        </p:spPr>
      </p:sp>
      <p:sp>
        <p:nvSpPr>
          <p:cNvPr id="215" name="Google Shape;215;p21"/>
          <p:cNvSpPr txBox="1"/>
          <p:nvPr/>
        </p:nvSpPr>
        <p:spPr>
          <a:xfrm>
            <a:off x="323850" y="9858375"/>
            <a:ext cx="8493992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© Copyright 2026, ZaranTech LLC. All rights reserved.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6" name="Google Shape;216;p21"/>
          <p:cNvSpPr/>
          <p:nvPr/>
        </p:nvSpPr>
        <p:spPr>
          <a:xfrm>
            <a:off x="502391" y="1581072"/>
            <a:ext cx="2514527" cy="45727"/>
          </a:xfrm>
          <a:custGeom>
            <a:rect b="b" l="l" r="r" t="t"/>
            <a:pathLst>
              <a:path extrusionOk="0" h="37252" w="7450450">
                <a:moveTo>
                  <a:pt x="0" y="0"/>
                </a:moveTo>
                <a:lnTo>
                  <a:pt x="7450450" y="0"/>
                </a:lnTo>
                <a:lnTo>
                  <a:pt x="7450450" y="37252"/>
                </a:lnTo>
                <a:lnTo>
                  <a:pt x="0" y="3725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217" name="Google Shape;217;p21"/>
          <p:cNvSpPr/>
          <p:nvPr/>
        </p:nvSpPr>
        <p:spPr>
          <a:xfrm>
            <a:off x="1534113" y="2475606"/>
            <a:ext cx="4427621" cy="2722236"/>
          </a:xfrm>
          <a:prstGeom prst="roundRect">
            <a:avLst>
              <a:gd fmla="val 16667" name="adj"/>
            </a:avLst>
          </a:prstGeom>
          <a:solidFill>
            <a:schemeClr val="lt1"/>
          </a:solidFill>
          <a:ln cap="flat" cmpd="sng" w="57150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Generate boilerplate code and entire functions from simple natural language. </a:t>
            </a:r>
            <a:endParaRPr b="0" i="0" sz="2400" u="none" cap="none" strike="noStrike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218" name="Google Shape;218;p21"/>
          <p:cNvSpPr/>
          <p:nvPr/>
        </p:nvSpPr>
        <p:spPr>
          <a:xfrm>
            <a:off x="6930189" y="2475606"/>
            <a:ext cx="4427621" cy="2722236"/>
          </a:xfrm>
          <a:prstGeom prst="roundRect">
            <a:avLst>
              <a:gd fmla="val 16667" name="adj"/>
            </a:avLst>
          </a:prstGeom>
          <a:solidFill>
            <a:schemeClr val="lt1"/>
          </a:solidFill>
          <a:ln cap="flat" cmpd="sng" w="57150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Rapidly debug complex errors by providing trace logs to Claude. </a:t>
            </a:r>
            <a:endParaRPr b="0" i="0" sz="2400" u="none" cap="none" strike="noStrike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219" name="Google Shape;219;p21"/>
          <p:cNvSpPr/>
          <p:nvPr/>
        </p:nvSpPr>
        <p:spPr>
          <a:xfrm>
            <a:off x="3894107" y="5835646"/>
            <a:ext cx="4427621" cy="2722236"/>
          </a:xfrm>
          <a:prstGeom prst="roundRect">
            <a:avLst>
              <a:gd fmla="val 16667" name="adj"/>
            </a:avLst>
          </a:prstGeom>
          <a:solidFill>
            <a:schemeClr val="lt1"/>
          </a:solidFill>
          <a:ln cap="flat" cmpd="sng" w="57150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Draft comprehensive technical documentation and system architecture overviews instantly. </a:t>
            </a:r>
            <a:endParaRPr b="0" i="0" sz="2400" u="none" cap="none" strike="noStrike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220" name="Google Shape;220;p21"/>
          <p:cNvSpPr/>
          <p:nvPr/>
        </p:nvSpPr>
        <p:spPr>
          <a:xfrm>
            <a:off x="9274559" y="5835646"/>
            <a:ext cx="4427621" cy="2722236"/>
          </a:xfrm>
          <a:prstGeom prst="roundRect">
            <a:avLst>
              <a:gd fmla="val 16667" name="adj"/>
            </a:avLst>
          </a:prstGeom>
          <a:solidFill>
            <a:schemeClr val="lt1"/>
          </a:solidFill>
          <a:ln cap="flat" cmpd="sng" w="57150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Automatically create rigorous unit and integration tests for existing code. </a:t>
            </a:r>
            <a:endParaRPr b="0" i="0" sz="2400" u="none" cap="none" strike="noStrike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221" name="Google Shape;221;p21"/>
          <p:cNvSpPr/>
          <p:nvPr/>
        </p:nvSpPr>
        <p:spPr>
          <a:xfrm>
            <a:off x="12326265" y="2475606"/>
            <a:ext cx="4427621" cy="2722236"/>
          </a:xfrm>
          <a:prstGeom prst="roundRect">
            <a:avLst>
              <a:gd fmla="val 16667" name="adj"/>
            </a:avLst>
          </a:prstGeom>
          <a:solidFill>
            <a:schemeClr val="lt1"/>
          </a:solidFill>
          <a:ln cap="flat" cmpd="sng" w="57150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Refactor legacy codebases securely to meet modern software engineering standards. </a:t>
            </a:r>
            <a:endParaRPr b="0" i="0" sz="2400" u="none" cap="none" strike="noStrike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22"/>
          <p:cNvSpPr txBox="1"/>
          <p:nvPr/>
        </p:nvSpPr>
        <p:spPr>
          <a:xfrm>
            <a:off x="502391" y="647598"/>
            <a:ext cx="16420800" cy="8125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r>
              <a:rPr b="1" i="0" lang="en-US" sz="4400" u="none" cap="none" strike="noStrike">
                <a:solidFill>
                  <a:srgbClr val="10253F"/>
                </a:solidFill>
                <a:latin typeface="Open Sans"/>
                <a:ea typeface="Open Sans"/>
                <a:cs typeface="Open Sans"/>
                <a:sym typeface="Open Sans"/>
              </a:rPr>
              <a:t>What is a Developer Prompt?</a:t>
            </a:r>
            <a:endParaRPr b="1" i="0" sz="4400" u="none" cap="none" strike="noStrike">
              <a:solidFill>
                <a:srgbClr val="10253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228" name="Google Shape;228;p22"/>
          <p:cNvSpPr txBox="1"/>
          <p:nvPr>
            <p:ph idx="12" type="sldNum"/>
          </p:nvPr>
        </p:nvSpPr>
        <p:spPr>
          <a:xfrm>
            <a:off x="16818396" y="9148746"/>
            <a:ext cx="9525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29" name="Google Shape;229;p22"/>
          <p:cNvSpPr/>
          <p:nvPr/>
        </p:nvSpPr>
        <p:spPr>
          <a:xfrm>
            <a:off x="15908184" y="204938"/>
            <a:ext cx="2110316" cy="516024"/>
          </a:xfrm>
          <a:custGeom>
            <a:rect b="b" l="l" r="r" t="t"/>
            <a:pathLst>
              <a:path extrusionOk="0" h="516024" w="2110316">
                <a:moveTo>
                  <a:pt x="0" y="0"/>
                </a:moveTo>
                <a:lnTo>
                  <a:pt x="2110316" y="0"/>
                </a:lnTo>
                <a:lnTo>
                  <a:pt x="2110316" y="516024"/>
                </a:lnTo>
                <a:lnTo>
                  <a:pt x="0" y="51602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-70" t="0"/>
            </a:stretch>
          </a:blipFill>
          <a:ln>
            <a:noFill/>
          </a:ln>
        </p:spPr>
      </p:sp>
      <p:sp>
        <p:nvSpPr>
          <p:cNvPr id="230" name="Google Shape;230;p22"/>
          <p:cNvSpPr txBox="1"/>
          <p:nvPr/>
        </p:nvSpPr>
        <p:spPr>
          <a:xfrm>
            <a:off x="323850" y="9858375"/>
            <a:ext cx="8493992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© Copyright 2026, ZaranTech LLC. All rights reserved.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1" name="Google Shape;231;p22"/>
          <p:cNvSpPr/>
          <p:nvPr/>
        </p:nvSpPr>
        <p:spPr>
          <a:xfrm>
            <a:off x="502391" y="1581072"/>
            <a:ext cx="2514527" cy="45727"/>
          </a:xfrm>
          <a:custGeom>
            <a:rect b="b" l="l" r="r" t="t"/>
            <a:pathLst>
              <a:path extrusionOk="0" h="37252" w="7450450">
                <a:moveTo>
                  <a:pt x="0" y="0"/>
                </a:moveTo>
                <a:lnTo>
                  <a:pt x="7450450" y="0"/>
                </a:lnTo>
                <a:lnTo>
                  <a:pt x="7450450" y="37252"/>
                </a:lnTo>
                <a:lnTo>
                  <a:pt x="0" y="3725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232" name="Google Shape;232;p22"/>
          <p:cNvSpPr txBox="1"/>
          <p:nvPr/>
        </p:nvSpPr>
        <p:spPr>
          <a:xfrm>
            <a:off x="502391" y="2294510"/>
            <a:ext cx="10470409" cy="26776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381000" lvl="0" marL="4572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pen Sans"/>
              <a:buChar char="●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A prompt is the exact instruction set given to Claude.</a:t>
            </a:r>
            <a:endParaRPr/>
          </a:p>
          <a:p>
            <a:pPr indent="-381000" lvl="0" marL="4572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pen Sans"/>
              <a:buChar char="●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It directs the AI to produce desired code or explanations.</a:t>
            </a:r>
            <a:endParaRPr/>
          </a:p>
          <a:p>
            <a:pPr indent="-381000" lvl="0" marL="4572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pen Sans"/>
              <a:buChar char="●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Prompts act as the primary interface between developers and Claude.</a:t>
            </a:r>
            <a:endParaRPr/>
          </a:p>
          <a:p>
            <a:pPr indent="-381000" lvl="0" marL="4572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pen Sans"/>
              <a:buChar char="●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Clear prompts transform vague ideas into executable software solutions quickly.</a:t>
            </a:r>
            <a:endParaRPr/>
          </a:p>
        </p:txBody>
      </p:sp>
      <p:pic>
        <p:nvPicPr>
          <p:cNvPr id="233" name="Google Shape;233;p22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1752035" y="1581072"/>
            <a:ext cx="4914900" cy="4724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8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p23"/>
          <p:cNvSpPr txBox="1"/>
          <p:nvPr/>
        </p:nvSpPr>
        <p:spPr>
          <a:xfrm>
            <a:off x="502391" y="647598"/>
            <a:ext cx="16420800" cy="8125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r>
              <a:rPr b="1" i="0" lang="en-US" sz="4400" u="none" cap="none" strike="noStrike">
                <a:solidFill>
                  <a:srgbClr val="10253F"/>
                </a:solidFill>
                <a:latin typeface="Open Sans"/>
                <a:ea typeface="Open Sans"/>
                <a:cs typeface="Open Sans"/>
                <a:sym typeface="Open Sans"/>
              </a:rPr>
              <a:t>Why Prompt Structure Matters</a:t>
            </a:r>
            <a:endParaRPr b="1" i="0" sz="4400" u="none" cap="none" strike="noStrike">
              <a:solidFill>
                <a:srgbClr val="10253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240" name="Google Shape;240;p23"/>
          <p:cNvSpPr txBox="1"/>
          <p:nvPr>
            <p:ph idx="12" type="sldNum"/>
          </p:nvPr>
        </p:nvSpPr>
        <p:spPr>
          <a:xfrm>
            <a:off x="16818396" y="9148746"/>
            <a:ext cx="9525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41" name="Google Shape;241;p23"/>
          <p:cNvSpPr/>
          <p:nvPr/>
        </p:nvSpPr>
        <p:spPr>
          <a:xfrm>
            <a:off x="15908184" y="204938"/>
            <a:ext cx="2110316" cy="516024"/>
          </a:xfrm>
          <a:custGeom>
            <a:rect b="b" l="l" r="r" t="t"/>
            <a:pathLst>
              <a:path extrusionOk="0" h="516024" w="2110316">
                <a:moveTo>
                  <a:pt x="0" y="0"/>
                </a:moveTo>
                <a:lnTo>
                  <a:pt x="2110316" y="0"/>
                </a:lnTo>
                <a:lnTo>
                  <a:pt x="2110316" y="516024"/>
                </a:lnTo>
                <a:lnTo>
                  <a:pt x="0" y="51602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-70" t="0"/>
            </a:stretch>
          </a:blipFill>
          <a:ln>
            <a:noFill/>
          </a:ln>
        </p:spPr>
      </p:sp>
      <p:sp>
        <p:nvSpPr>
          <p:cNvPr id="242" name="Google Shape;242;p23"/>
          <p:cNvSpPr txBox="1"/>
          <p:nvPr/>
        </p:nvSpPr>
        <p:spPr>
          <a:xfrm>
            <a:off x="323850" y="9858375"/>
            <a:ext cx="8493992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© Copyright 2026, ZaranTech LLC. All rights reserved.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3" name="Google Shape;243;p23"/>
          <p:cNvSpPr/>
          <p:nvPr/>
        </p:nvSpPr>
        <p:spPr>
          <a:xfrm>
            <a:off x="502391" y="1581072"/>
            <a:ext cx="2514527" cy="45727"/>
          </a:xfrm>
          <a:custGeom>
            <a:rect b="b" l="l" r="r" t="t"/>
            <a:pathLst>
              <a:path extrusionOk="0" h="37252" w="7450450">
                <a:moveTo>
                  <a:pt x="0" y="0"/>
                </a:moveTo>
                <a:lnTo>
                  <a:pt x="7450450" y="0"/>
                </a:lnTo>
                <a:lnTo>
                  <a:pt x="7450450" y="37252"/>
                </a:lnTo>
                <a:lnTo>
                  <a:pt x="0" y="3725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244" name="Google Shape;244;p23"/>
          <p:cNvSpPr txBox="1"/>
          <p:nvPr/>
        </p:nvSpPr>
        <p:spPr>
          <a:xfrm>
            <a:off x="6808819" y="2777960"/>
            <a:ext cx="10485827" cy="4284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342900" lvl="0" marL="4191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ans Symbols"/>
              <a:buChar char="∙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Well-structured prompts drastically reduce back-and-forth iteration with the AI.</a:t>
            </a:r>
            <a:endParaRPr/>
          </a:p>
          <a:p>
            <a:pPr indent="-342900" lvl="0" marL="4191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ans Symbols"/>
              <a:buChar char="∙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Structured requests yield highly predictable and consistently formatted code outputs.</a:t>
            </a:r>
            <a:endParaRPr/>
          </a:p>
          <a:p>
            <a:pPr indent="-342900" lvl="0" marL="4191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ans Symbols"/>
              <a:buChar char="∙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Good structure ensures Claude fully understands the surrounding application context.</a:t>
            </a:r>
            <a:endParaRPr/>
          </a:p>
          <a:p>
            <a:pPr indent="-342900" lvl="0" marL="4191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ans Symbols"/>
              <a:buChar char="∙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Proper formatting minimizes the risk of generating insecure or inefficient code.</a:t>
            </a:r>
            <a:endParaRPr/>
          </a:p>
        </p:txBody>
      </p:sp>
      <p:pic>
        <p:nvPicPr>
          <p:cNvPr id="245" name="Google Shape;245;p2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06664" y="2309235"/>
            <a:ext cx="4972050" cy="4752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4"/>
          <p:cNvSpPr txBox="1"/>
          <p:nvPr/>
        </p:nvSpPr>
        <p:spPr>
          <a:xfrm>
            <a:off x="502391" y="647598"/>
            <a:ext cx="16420800" cy="8125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r>
              <a:rPr b="1" i="0" lang="en-US" sz="4400" u="none" cap="none" strike="noStrike">
                <a:solidFill>
                  <a:srgbClr val="10253F"/>
                </a:solidFill>
                <a:latin typeface="Open Sans"/>
                <a:ea typeface="Open Sans"/>
                <a:cs typeface="Open Sans"/>
                <a:sym typeface="Open Sans"/>
              </a:rPr>
              <a:t>Basic Prompting Patterns: Instructions</a:t>
            </a:r>
            <a:endParaRPr b="1" i="0" sz="4400" u="none" cap="none" strike="noStrike">
              <a:solidFill>
                <a:srgbClr val="10253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252" name="Google Shape;252;p24"/>
          <p:cNvSpPr txBox="1"/>
          <p:nvPr>
            <p:ph idx="12" type="sldNum"/>
          </p:nvPr>
        </p:nvSpPr>
        <p:spPr>
          <a:xfrm>
            <a:off x="16818396" y="9148746"/>
            <a:ext cx="9525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53" name="Google Shape;253;p24"/>
          <p:cNvSpPr/>
          <p:nvPr/>
        </p:nvSpPr>
        <p:spPr>
          <a:xfrm>
            <a:off x="15908184" y="204938"/>
            <a:ext cx="2110316" cy="516024"/>
          </a:xfrm>
          <a:custGeom>
            <a:rect b="b" l="l" r="r" t="t"/>
            <a:pathLst>
              <a:path extrusionOk="0" h="516024" w="2110316">
                <a:moveTo>
                  <a:pt x="0" y="0"/>
                </a:moveTo>
                <a:lnTo>
                  <a:pt x="2110316" y="0"/>
                </a:lnTo>
                <a:lnTo>
                  <a:pt x="2110316" y="516024"/>
                </a:lnTo>
                <a:lnTo>
                  <a:pt x="0" y="51602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-70" t="0"/>
            </a:stretch>
          </a:blipFill>
          <a:ln>
            <a:noFill/>
          </a:ln>
        </p:spPr>
      </p:sp>
      <p:sp>
        <p:nvSpPr>
          <p:cNvPr id="254" name="Google Shape;254;p24"/>
          <p:cNvSpPr txBox="1"/>
          <p:nvPr/>
        </p:nvSpPr>
        <p:spPr>
          <a:xfrm>
            <a:off x="323850" y="9858375"/>
            <a:ext cx="8493992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© Copyright 2026, ZaranTech LLC. All rights reserved.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5" name="Google Shape;255;p24"/>
          <p:cNvSpPr/>
          <p:nvPr/>
        </p:nvSpPr>
        <p:spPr>
          <a:xfrm>
            <a:off x="502391" y="1581072"/>
            <a:ext cx="2514527" cy="45727"/>
          </a:xfrm>
          <a:custGeom>
            <a:rect b="b" l="l" r="r" t="t"/>
            <a:pathLst>
              <a:path extrusionOk="0" h="37252" w="7450450">
                <a:moveTo>
                  <a:pt x="0" y="0"/>
                </a:moveTo>
                <a:lnTo>
                  <a:pt x="7450450" y="0"/>
                </a:lnTo>
                <a:lnTo>
                  <a:pt x="7450450" y="37252"/>
                </a:lnTo>
                <a:lnTo>
                  <a:pt x="0" y="3725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256" name="Google Shape;256;p24"/>
          <p:cNvSpPr txBox="1"/>
          <p:nvPr/>
        </p:nvSpPr>
        <p:spPr>
          <a:xfrm>
            <a:off x="502391" y="2320742"/>
            <a:ext cx="11400049" cy="321318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342900" lvl="0" marL="4191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ans Symbols"/>
              <a:buChar char="∙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Always start prompts with clear, unambiguous, and direct action verbs.</a:t>
            </a:r>
            <a:endParaRPr/>
          </a:p>
          <a:p>
            <a:pPr indent="-342900" lvl="0" marL="4191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ans Symbols"/>
              <a:buChar char="∙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Specify the exact programming language and framework version required upfront.</a:t>
            </a:r>
            <a:endParaRPr/>
          </a:p>
          <a:p>
            <a:pPr indent="-342900" lvl="0" marL="4191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ans Symbols"/>
              <a:buChar char="∙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Break complex software engineering tasks into smaller, manageable sub-tasks.</a:t>
            </a:r>
            <a:endParaRPr/>
          </a:p>
          <a:p>
            <a:pPr indent="-342900" lvl="0" marL="4191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ans Symbols"/>
              <a:buChar char="∙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Define the precise output format needed, such as JSON only.</a:t>
            </a:r>
            <a:endParaRPr/>
          </a:p>
        </p:txBody>
      </p:sp>
      <p:pic>
        <p:nvPicPr>
          <p:cNvPr id="257" name="Google Shape;257;p2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2474996" y="1641335"/>
            <a:ext cx="4819650" cy="4572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2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p25"/>
          <p:cNvSpPr txBox="1"/>
          <p:nvPr/>
        </p:nvSpPr>
        <p:spPr>
          <a:xfrm>
            <a:off x="502391" y="647598"/>
            <a:ext cx="16420800" cy="8125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r>
              <a:rPr b="1" i="0" lang="en-US" sz="4400" u="none" cap="none" strike="noStrike">
                <a:solidFill>
                  <a:srgbClr val="10253F"/>
                </a:solidFill>
                <a:latin typeface="Open Sans"/>
                <a:ea typeface="Open Sans"/>
                <a:cs typeface="Open Sans"/>
                <a:sym typeface="Open Sans"/>
              </a:rPr>
              <a:t>Basic Prompting Patterns: Context</a:t>
            </a:r>
            <a:endParaRPr b="1" i="0" sz="4400" u="none" cap="none" strike="noStrike">
              <a:solidFill>
                <a:srgbClr val="10253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264" name="Google Shape;264;p25"/>
          <p:cNvSpPr txBox="1"/>
          <p:nvPr>
            <p:ph idx="12" type="sldNum"/>
          </p:nvPr>
        </p:nvSpPr>
        <p:spPr>
          <a:xfrm>
            <a:off x="16818396" y="9148746"/>
            <a:ext cx="9525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65" name="Google Shape;265;p25"/>
          <p:cNvSpPr/>
          <p:nvPr/>
        </p:nvSpPr>
        <p:spPr>
          <a:xfrm>
            <a:off x="15908184" y="204938"/>
            <a:ext cx="2110316" cy="516024"/>
          </a:xfrm>
          <a:custGeom>
            <a:rect b="b" l="l" r="r" t="t"/>
            <a:pathLst>
              <a:path extrusionOk="0" h="516024" w="2110316">
                <a:moveTo>
                  <a:pt x="0" y="0"/>
                </a:moveTo>
                <a:lnTo>
                  <a:pt x="2110316" y="0"/>
                </a:lnTo>
                <a:lnTo>
                  <a:pt x="2110316" y="516024"/>
                </a:lnTo>
                <a:lnTo>
                  <a:pt x="0" y="51602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-70" t="0"/>
            </a:stretch>
          </a:blipFill>
          <a:ln>
            <a:noFill/>
          </a:ln>
        </p:spPr>
      </p:sp>
      <p:sp>
        <p:nvSpPr>
          <p:cNvPr id="266" name="Google Shape;266;p25"/>
          <p:cNvSpPr txBox="1"/>
          <p:nvPr/>
        </p:nvSpPr>
        <p:spPr>
          <a:xfrm>
            <a:off x="323850" y="9858375"/>
            <a:ext cx="8493992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© Copyright 2026, ZaranTech LLC. All rights reserved.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7" name="Google Shape;267;p25"/>
          <p:cNvSpPr/>
          <p:nvPr/>
        </p:nvSpPr>
        <p:spPr>
          <a:xfrm>
            <a:off x="502391" y="1581072"/>
            <a:ext cx="2514527" cy="45727"/>
          </a:xfrm>
          <a:custGeom>
            <a:rect b="b" l="l" r="r" t="t"/>
            <a:pathLst>
              <a:path extrusionOk="0" h="37252" w="7450450">
                <a:moveTo>
                  <a:pt x="0" y="0"/>
                </a:moveTo>
                <a:lnTo>
                  <a:pt x="7450450" y="0"/>
                </a:lnTo>
                <a:lnTo>
                  <a:pt x="7450450" y="37252"/>
                </a:lnTo>
                <a:lnTo>
                  <a:pt x="0" y="3725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268" name="Google Shape;268;p25"/>
          <p:cNvSpPr txBox="1"/>
          <p:nvPr/>
        </p:nvSpPr>
        <p:spPr>
          <a:xfrm>
            <a:off x="6808819" y="2777960"/>
            <a:ext cx="10485827" cy="374871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342900" lvl="0" marL="4191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ans Symbols"/>
              <a:buChar char="∙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Provide necessary background information about your specific application architecture.</a:t>
            </a:r>
            <a:endParaRPr/>
          </a:p>
          <a:p>
            <a:pPr indent="-342900" lvl="0" marL="4191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ans Symbols"/>
              <a:buChar char="∙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Share relevant database schemas or API contracts to improve accuracy.</a:t>
            </a:r>
            <a:endParaRPr/>
          </a:p>
          <a:p>
            <a:pPr indent="-342900" lvl="0" marL="4191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ans Symbols"/>
              <a:buChar char="∙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Explain the ultimate business goal behind the requested code snippet.</a:t>
            </a:r>
            <a:endParaRPr/>
          </a:p>
          <a:p>
            <a:pPr indent="-342900" lvl="0" marL="4191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ans Symbols"/>
              <a:buChar char="∙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Include details about the current operating system or deployment environment.</a:t>
            </a:r>
            <a:endParaRPr/>
          </a:p>
        </p:txBody>
      </p:sp>
      <p:pic>
        <p:nvPicPr>
          <p:cNvPr id="269" name="Google Shape;269;p2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02391" y="2377421"/>
            <a:ext cx="5578102" cy="482880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26"/>
          <p:cNvSpPr txBox="1"/>
          <p:nvPr/>
        </p:nvSpPr>
        <p:spPr>
          <a:xfrm>
            <a:off x="502391" y="647598"/>
            <a:ext cx="16420800" cy="8125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r>
              <a:rPr b="1" i="0" lang="en-US" sz="4400" u="none" cap="none" strike="noStrike">
                <a:solidFill>
                  <a:srgbClr val="10253F"/>
                </a:solidFill>
                <a:latin typeface="Open Sans"/>
                <a:ea typeface="Open Sans"/>
                <a:cs typeface="Open Sans"/>
                <a:sym typeface="Open Sans"/>
              </a:rPr>
              <a:t>Basic Prompting Patterns: Examples</a:t>
            </a:r>
            <a:endParaRPr b="1" i="0" sz="4400" u="none" cap="none" strike="noStrike">
              <a:solidFill>
                <a:srgbClr val="10253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276" name="Google Shape;276;p26"/>
          <p:cNvSpPr txBox="1"/>
          <p:nvPr>
            <p:ph idx="12" type="sldNum"/>
          </p:nvPr>
        </p:nvSpPr>
        <p:spPr>
          <a:xfrm>
            <a:off x="16818396" y="9148746"/>
            <a:ext cx="9525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77" name="Google Shape;277;p26"/>
          <p:cNvSpPr/>
          <p:nvPr/>
        </p:nvSpPr>
        <p:spPr>
          <a:xfrm>
            <a:off x="15908184" y="204938"/>
            <a:ext cx="2110316" cy="516024"/>
          </a:xfrm>
          <a:custGeom>
            <a:rect b="b" l="l" r="r" t="t"/>
            <a:pathLst>
              <a:path extrusionOk="0" h="516024" w="2110316">
                <a:moveTo>
                  <a:pt x="0" y="0"/>
                </a:moveTo>
                <a:lnTo>
                  <a:pt x="2110316" y="0"/>
                </a:lnTo>
                <a:lnTo>
                  <a:pt x="2110316" y="516024"/>
                </a:lnTo>
                <a:lnTo>
                  <a:pt x="0" y="51602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-70" t="0"/>
            </a:stretch>
          </a:blipFill>
          <a:ln>
            <a:noFill/>
          </a:ln>
        </p:spPr>
      </p:sp>
      <p:sp>
        <p:nvSpPr>
          <p:cNvPr id="278" name="Google Shape;278;p26"/>
          <p:cNvSpPr txBox="1"/>
          <p:nvPr/>
        </p:nvSpPr>
        <p:spPr>
          <a:xfrm>
            <a:off x="323850" y="9858375"/>
            <a:ext cx="8493992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© Copyright 2026, ZaranTech LLC. All rights reserved.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9" name="Google Shape;279;p26"/>
          <p:cNvSpPr/>
          <p:nvPr/>
        </p:nvSpPr>
        <p:spPr>
          <a:xfrm>
            <a:off x="502391" y="1581072"/>
            <a:ext cx="2514527" cy="45727"/>
          </a:xfrm>
          <a:custGeom>
            <a:rect b="b" l="l" r="r" t="t"/>
            <a:pathLst>
              <a:path extrusionOk="0" h="37252" w="7450450">
                <a:moveTo>
                  <a:pt x="0" y="0"/>
                </a:moveTo>
                <a:lnTo>
                  <a:pt x="7450450" y="0"/>
                </a:lnTo>
                <a:lnTo>
                  <a:pt x="7450450" y="37252"/>
                </a:lnTo>
                <a:lnTo>
                  <a:pt x="0" y="3725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280" name="Google Shape;280;p26"/>
          <p:cNvSpPr/>
          <p:nvPr/>
        </p:nvSpPr>
        <p:spPr>
          <a:xfrm>
            <a:off x="1431305" y="2550262"/>
            <a:ext cx="5441209" cy="2386888"/>
          </a:xfrm>
          <a:prstGeom prst="trapezoid">
            <a:avLst>
              <a:gd fmla="val 25000" name="adj"/>
            </a:avLst>
          </a:prstGeom>
          <a:solidFill>
            <a:srgbClr val="FFC000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Include successful code examples to demonstrate your preferred coding style.</a:t>
            </a:r>
            <a:endParaRPr b="0" i="0" sz="2400" u="none" cap="none" strike="noStrike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281" name="Google Shape;281;p26"/>
          <p:cNvSpPr/>
          <p:nvPr/>
        </p:nvSpPr>
        <p:spPr>
          <a:xfrm>
            <a:off x="8214698" y="2550262"/>
            <a:ext cx="5441209" cy="2386888"/>
          </a:xfrm>
          <a:prstGeom prst="trapezoid">
            <a:avLst>
              <a:gd fmla="val 25000" name="adj"/>
            </a:avLst>
          </a:prstGeom>
          <a:solidFill>
            <a:srgbClr val="FFC000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Use examples to establish specific naming conventions for variables securely.</a:t>
            </a:r>
            <a:endParaRPr b="0" i="0" sz="2400" u="none" cap="none" strike="noStrike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282" name="Google Shape;282;p26"/>
          <p:cNvSpPr/>
          <p:nvPr/>
        </p:nvSpPr>
        <p:spPr>
          <a:xfrm>
            <a:off x="4280575" y="5823196"/>
            <a:ext cx="5441209" cy="2386888"/>
          </a:xfrm>
          <a:prstGeom prst="trapezoid">
            <a:avLst>
              <a:gd fmla="val 25000" name="adj"/>
            </a:avLst>
          </a:prstGeom>
          <a:solidFill>
            <a:srgbClr val="FFC000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Provide input and output data samples for complex data transformations.</a:t>
            </a:r>
            <a:endParaRPr b="0" i="0" sz="2400" u="none" cap="none" strike="noStrike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283" name="Google Shape;283;p26"/>
          <p:cNvSpPr/>
          <p:nvPr/>
        </p:nvSpPr>
        <p:spPr>
          <a:xfrm>
            <a:off x="11278036" y="5807635"/>
            <a:ext cx="5441209" cy="2386888"/>
          </a:xfrm>
          <a:prstGeom prst="trapezoid">
            <a:avLst>
              <a:gd fmla="val 25000" name="adj"/>
            </a:avLst>
          </a:prstGeom>
          <a:solidFill>
            <a:srgbClr val="FFC000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Examples dramatically improve the accuracy of Claude's generated code outputs.</a:t>
            </a:r>
            <a:endParaRPr b="0" i="0" sz="2400" u="none" cap="none" strike="noStrike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8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p27"/>
          <p:cNvSpPr txBox="1"/>
          <p:nvPr/>
        </p:nvSpPr>
        <p:spPr>
          <a:xfrm>
            <a:off x="502391" y="647598"/>
            <a:ext cx="16420800" cy="8125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r>
              <a:rPr b="1" i="0" lang="en-US" sz="4400" u="none" cap="none" strike="noStrike">
                <a:solidFill>
                  <a:srgbClr val="10253F"/>
                </a:solidFill>
                <a:latin typeface="Open Sans"/>
                <a:ea typeface="Open Sans"/>
                <a:cs typeface="Open Sans"/>
                <a:sym typeface="Open Sans"/>
              </a:rPr>
              <a:t>Basic Prompting Patterns: Constraints</a:t>
            </a:r>
            <a:endParaRPr b="1" i="0" sz="4400" u="none" cap="none" strike="noStrike">
              <a:solidFill>
                <a:srgbClr val="10253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290" name="Google Shape;290;p27"/>
          <p:cNvSpPr txBox="1"/>
          <p:nvPr>
            <p:ph idx="12" type="sldNum"/>
          </p:nvPr>
        </p:nvSpPr>
        <p:spPr>
          <a:xfrm>
            <a:off x="16818396" y="9148746"/>
            <a:ext cx="9525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91" name="Google Shape;291;p27"/>
          <p:cNvSpPr/>
          <p:nvPr/>
        </p:nvSpPr>
        <p:spPr>
          <a:xfrm>
            <a:off x="15908184" y="204938"/>
            <a:ext cx="2110316" cy="516024"/>
          </a:xfrm>
          <a:custGeom>
            <a:rect b="b" l="l" r="r" t="t"/>
            <a:pathLst>
              <a:path extrusionOk="0" h="516024" w="2110316">
                <a:moveTo>
                  <a:pt x="0" y="0"/>
                </a:moveTo>
                <a:lnTo>
                  <a:pt x="2110316" y="0"/>
                </a:lnTo>
                <a:lnTo>
                  <a:pt x="2110316" y="516024"/>
                </a:lnTo>
                <a:lnTo>
                  <a:pt x="0" y="51602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-70" t="0"/>
            </a:stretch>
          </a:blipFill>
          <a:ln>
            <a:noFill/>
          </a:ln>
        </p:spPr>
      </p:sp>
      <p:sp>
        <p:nvSpPr>
          <p:cNvPr id="292" name="Google Shape;292;p27"/>
          <p:cNvSpPr txBox="1"/>
          <p:nvPr/>
        </p:nvSpPr>
        <p:spPr>
          <a:xfrm>
            <a:off x="323850" y="9858375"/>
            <a:ext cx="8493992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© Copyright 2026, ZaranTech LLC. All rights reserved.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3" name="Google Shape;293;p27"/>
          <p:cNvSpPr/>
          <p:nvPr/>
        </p:nvSpPr>
        <p:spPr>
          <a:xfrm>
            <a:off x="502391" y="1581072"/>
            <a:ext cx="2514527" cy="45727"/>
          </a:xfrm>
          <a:custGeom>
            <a:rect b="b" l="l" r="r" t="t"/>
            <a:pathLst>
              <a:path extrusionOk="0" h="37252" w="7450450">
                <a:moveTo>
                  <a:pt x="0" y="0"/>
                </a:moveTo>
                <a:lnTo>
                  <a:pt x="7450450" y="0"/>
                </a:lnTo>
                <a:lnTo>
                  <a:pt x="7450450" y="37252"/>
                </a:lnTo>
                <a:lnTo>
                  <a:pt x="0" y="3725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294" name="Google Shape;294;p27"/>
          <p:cNvSpPr txBox="1"/>
          <p:nvPr/>
        </p:nvSpPr>
        <p:spPr>
          <a:xfrm>
            <a:off x="502391" y="2733880"/>
            <a:ext cx="10368809" cy="267765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342900" lvl="0" marL="4191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Explicitly state what Claude should completely avoid in its response.</a:t>
            </a:r>
            <a:endParaRPr/>
          </a:p>
          <a:p>
            <a:pPr indent="-342900" lvl="0" marL="4191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Set strict performance or memory usage limits for the code.</a:t>
            </a:r>
            <a:endParaRPr/>
          </a:p>
          <a:p>
            <a:pPr indent="-342900" lvl="0" marL="4191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Restrict the use of specific external libraries or deprecated functions.</a:t>
            </a:r>
            <a:endParaRPr/>
          </a:p>
          <a:p>
            <a:pPr indent="-342900" lvl="0" marL="4191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Define exact length limitations for the generated scripts or documentation.</a:t>
            </a:r>
            <a:endParaRPr/>
          </a:p>
        </p:txBody>
      </p:sp>
      <p:pic>
        <p:nvPicPr>
          <p:cNvPr id="295" name="Google Shape;295;p2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2360696" y="2167708"/>
            <a:ext cx="4457700" cy="3810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28"/>
          <p:cNvSpPr txBox="1"/>
          <p:nvPr/>
        </p:nvSpPr>
        <p:spPr>
          <a:xfrm>
            <a:off x="502391" y="647598"/>
            <a:ext cx="16420800" cy="8125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r>
              <a:rPr b="1" i="0" lang="en-US" sz="4400" u="none" cap="none" strike="noStrike">
                <a:solidFill>
                  <a:srgbClr val="10253F"/>
                </a:solidFill>
                <a:latin typeface="Open Sans"/>
                <a:ea typeface="Open Sans"/>
                <a:cs typeface="Open Sans"/>
                <a:sym typeface="Open Sans"/>
              </a:rPr>
              <a:t>Common Prompting Pitfalls</a:t>
            </a:r>
            <a:endParaRPr b="1" i="0" sz="4400" u="none" cap="none" strike="noStrike">
              <a:solidFill>
                <a:srgbClr val="10253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302" name="Google Shape;302;p28"/>
          <p:cNvSpPr txBox="1"/>
          <p:nvPr>
            <p:ph idx="12" type="sldNum"/>
          </p:nvPr>
        </p:nvSpPr>
        <p:spPr>
          <a:xfrm>
            <a:off x="16818396" y="9148746"/>
            <a:ext cx="9525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03" name="Google Shape;303;p28"/>
          <p:cNvSpPr/>
          <p:nvPr/>
        </p:nvSpPr>
        <p:spPr>
          <a:xfrm>
            <a:off x="15908184" y="204938"/>
            <a:ext cx="2110316" cy="516024"/>
          </a:xfrm>
          <a:custGeom>
            <a:rect b="b" l="l" r="r" t="t"/>
            <a:pathLst>
              <a:path extrusionOk="0" h="516024" w="2110316">
                <a:moveTo>
                  <a:pt x="0" y="0"/>
                </a:moveTo>
                <a:lnTo>
                  <a:pt x="2110316" y="0"/>
                </a:lnTo>
                <a:lnTo>
                  <a:pt x="2110316" y="516024"/>
                </a:lnTo>
                <a:lnTo>
                  <a:pt x="0" y="51602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-70" t="0"/>
            </a:stretch>
          </a:blipFill>
          <a:ln>
            <a:noFill/>
          </a:ln>
        </p:spPr>
      </p:sp>
      <p:sp>
        <p:nvSpPr>
          <p:cNvPr id="304" name="Google Shape;304;p28"/>
          <p:cNvSpPr txBox="1"/>
          <p:nvPr/>
        </p:nvSpPr>
        <p:spPr>
          <a:xfrm>
            <a:off x="323850" y="9858375"/>
            <a:ext cx="8493992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© Copyright 2026, ZaranTech LLC. All rights reserved.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5" name="Google Shape;305;p28"/>
          <p:cNvSpPr/>
          <p:nvPr/>
        </p:nvSpPr>
        <p:spPr>
          <a:xfrm>
            <a:off x="502391" y="1581072"/>
            <a:ext cx="2514527" cy="45727"/>
          </a:xfrm>
          <a:custGeom>
            <a:rect b="b" l="l" r="r" t="t"/>
            <a:pathLst>
              <a:path extrusionOk="0" h="37252" w="7450450">
                <a:moveTo>
                  <a:pt x="0" y="0"/>
                </a:moveTo>
                <a:lnTo>
                  <a:pt x="7450450" y="0"/>
                </a:lnTo>
                <a:lnTo>
                  <a:pt x="7450450" y="37252"/>
                </a:lnTo>
                <a:lnTo>
                  <a:pt x="0" y="3725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306" name="Google Shape;306;p28"/>
          <p:cNvSpPr txBox="1"/>
          <p:nvPr/>
        </p:nvSpPr>
        <p:spPr>
          <a:xfrm>
            <a:off x="7299253" y="2644060"/>
            <a:ext cx="10337039" cy="374871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342900" lvl="0" marL="4191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Providing vague instructions leads to generic and unusable code snippets.</a:t>
            </a:r>
            <a:endParaRPr/>
          </a:p>
          <a:p>
            <a:pPr indent="-342900" lvl="0" marL="4191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Missing constraints result in bloated or non-compliant software solutions.</a:t>
            </a:r>
            <a:endParaRPr/>
          </a:p>
          <a:p>
            <a:pPr indent="-342900" lvl="0" marL="4191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Omitting context causes Claude to hallucinate incorrect API methods.</a:t>
            </a:r>
            <a:endParaRPr/>
          </a:p>
          <a:p>
            <a:pPr indent="-342900" lvl="0" marL="4191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Asking too many questions simultaneously degrades the overall response quality.</a:t>
            </a:r>
            <a:endParaRPr/>
          </a:p>
        </p:txBody>
      </p:sp>
      <p:pic>
        <p:nvPicPr>
          <p:cNvPr id="307" name="Google Shape;307;p2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02391" y="2122033"/>
            <a:ext cx="5317838" cy="452234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29"/>
          <p:cNvSpPr txBox="1"/>
          <p:nvPr/>
        </p:nvSpPr>
        <p:spPr>
          <a:xfrm>
            <a:off x="502391" y="647598"/>
            <a:ext cx="16420800" cy="8125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r>
              <a:rPr b="1" i="0" lang="en-US" sz="4400" u="none" cap="none" strike="noStrike">
                <a:solidFill>
                  <a:srgbClr val="10253F"/>
                </a:solidFill>
                <a:latin typeface="Open Sans"/>
                <a:ea typeface="Open Sans"/>
                <a:cs typeface="Open Sans"/>
                <a:sym typeface="Open Sans"/>
              </a:rPr>
              <a:t>Fixing Overlong Prompts</a:t>
            </a:r>
            <a:endParaRPr b="1" i="0" sz="4400" u="none" cap="none" strike="noStrike">
              <a:solidFill>
                <a:srgbClr val="10253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314" name="Google Shape;314;p29"/>
          <p:cNvSpPr txBox="1"/>
          <p:nvPr>
            <p:ph idx="12" type="sldNum"/>
          </p:nvPr>
        </p:nvSpPr>
        <p:spPr>
          <a:xfrm>
            <a:off x="16818396" y="9148746"/>
            <a:ext cx="9525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15" name="Google Shape;315;p29"/>
          <p:cNvSpPr/>
          <p:nvPr/>
        </p:nvSpPr>
        <p:spPr>
          <a:xfrm>
            <a:off x="15908184" y="204938"/>
            <a:ext cx="2110316" cy="516024"/>
          </a:xfrm>
          <a:custGeom>
            <a:rect b="b" l="l" r="r" t="t"/>
            <a:pathLst>
              <a:path extrusionOk="0" h="516024" w="2110316">
                <a:moveTo>
                  <a:pt x="0" y="0"/>
                </a:moveTo>
                <a:lnTo>
                  <a:pt x="2110316" y="0"/>
                </a:lnTo>
                <a:lnTo>
                  <a:pt x="2110316" y="516024"/>
                </a:lnTo>
                <a:lnTo>
                  <a:pt x="0" y="51602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-70" t="0"/>
            </a:stretch>
          </a:blipFill>
          <a:ln>
            <a:noFill/>
          </a:ln>
        </p:spPr>
      </p:sp>
      <p:sp>
        <p:nvSpPr>
          <p:cNvPr id="316" name="Google Shape;316;p29"/>
          <p:cNvSpPr txBox="1"/>
          <p:nvPr/>
        </p:nvSpPr>
        <p:spPr>
          <a:xfrm>
            <a:off x="323850" y="9858375"/>
            <a:ext cx="8493992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© Copyright 2026, ZaranTech LLC. All rights reserved.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7" name="Google Shape;317;p29"/>
          <p:cNvSpPr/>
          <p:nvPr/>
        </p:nvSpPr>
        <p:spPr>
          <a:xfrm>
            <a:off x="502391" y="1581072"/>
            <a:ext cx="2514527" cy="45727"/>
          </a:xfrm>
          <a:custGeom>
            <a:rect b="b" l="l" r="r" t="t"/>
            <a:pathLst>
              <a:path extrusionOk="0" h="37252" w="7450450">
                <a:moveTo>
                  <a:pt x="0" y="0"/>
                </a:moveTo>
                <a:lnTo>
                  <a:pt x="7450450" y="0"/>
                </a:lnTo>
                <a:lnTo>
                  <a:pt x="7450450" y="37252"/>
                </a:lnTo>
                <a:lnTo>
                  <a:pt x="0" y="3725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318" name="Google Shape;318;p29"/>
          <p:cNvSpPr/>
          <p:nvPr/>
        </p:nvSpPr>
        <p:spPr>
          <a:xfrm>
            <a:off x="2168281" y="2443624"/>
            <a:ext cx="13299122" cy="900590"/>
          </a:xfrm>
          <a:prstGeom prst="roundRect">
            <a:avLst>
              <a:gd fmla="val 16667" name="adj"/>
            </a:avLst>
          </a:prstGeom>
          <a:solidFill>
            <a:schemeClr val="lt1"/>
          </a:solidFill>
          <a:ln cap="flat" cmpd="sng" w="57150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Avoid writing excessively long prompts that lose the core objective.</a:t>
            </a:r>
            <a:endParaRPr b="0" i="0" sz="2400" u="none" cap="none" strike="noStrike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319" name="Google Shape;319;p29"/>
          <p:cNvSpPr/>
          <p:nvPr/>
        </p:nvSpPr>
        <p:spPr>
          <a:xfrm>
            <a:off x="2168281" y="3985935"/>
            <a:ext cx="13299122" cy="900590"/>
          </a:xfrm>
          <a:prstGeom prst="roundRect">
            <a:avLst>
              <a:gd fmla="val 16667" name="adj"/>
            </a:avLst>
          </a:prstGeom>
          <a:solidFill>
            <a:schemeClr val="lt1"/>
          </a:solidFill>
          <a:ln cap="flat" cmpd="sng" w="57150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Remove irrelevant background details that confuse the AI model's focus.</a:t>
            </a:r>
            <a:endParaRPr b="0" i="0" sz="2400" u="none" cap="none" strike="noStrike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320" name="Google Shape;320;p29"/>
          <p:cNvSpPr/>
          <p:nvPr/>
        </p:nvSpPr>
        <p:spPr>
          <a:xfrm>
            <a:off x="2168281" y="5528246"/>
            <a:ext cx="13299122" cy="900590"/>
          </a:xfrm>
          <a:prstGeom prst="roundRect">
            <a:avLst>
              <a:gd fmla="val 16667" name="adj"/>
            </a:avLst>
          </a:prstGeom>
          <a:solidFill>
            <a:schemeClr val="lt1"/>
          </a:solidFill>
          <a:ln cap="flat" cmpd="sng" w="57150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Separate distinct coding requests into multiple sequential prompt interactions.</a:t>
            </a:r>
            <a:endParaRPr b="0" i="0" sz="2400" u="none" cap="none" strike="noStrike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321" name="Google Shape;321;p29"/>
          <p:cNvSpPr/>
          <p:nvPr/>
        </p:nvSpPr>
        <p:spPr>
          <a:xfrm>
            <a:off x="2168281" y="7070556"/>
            <a:ext cx="13299000" cy="900600"/>
          </a:xfrm>
          <a:prstGeom prst="roundRect">
            <a:avLst>
              <a:gd fmla="val 16667" name="adj"/>
            </a:avLst>
          </a:prstGeom>
          <a:solidFill>
            <a:schemeClr val="lt1"/>
          </a:solidFill>
          <a:ln cap="flat" cmpd="sng" w="57150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Use clear headings to separate instructions, context, and examples neatly.</a:t>
            </a:r>
            <a:endParaRPr b="0" i="0" sz="2400" u="none" cap="none" strike="noStrike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6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p30"/>
          <p:cNvSpPr txBox="1"/>
          <p:nvPr/>
        </p:nvSpPr>
        <p:spPr>
          <a:xfrm>
            <a:off x="502391" y="647598"/>
            <a:ext cx="16420800" cy="8125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r>
              <a:rPr b="1" i="0" lang="en-US" sz="4400" u="none" cap="none" strike="noStrike">
                <a:solidFill>
                  <a:srgbClr val="10253F"/>
                </a:solidFill>
                <a:latin typeface="Open Sans"/>
                <a:ea typeface="Open Sans"/>
                <a:cs typeface="Open Sans"/>
                <a:sym typeface="Open Sans"/>
              </a:rPr>
              <a:t>Responsible AI and Safety Guidelines</a:t>
            </a:r>
            <a:endParaRPr b="1" i="0" sz="4400" u="none" cap="none" strike="noStrike">
              <a:solidFill>
                <a:srgbClr val="10253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328" name="Google Shape;328;p30"/>
          <p:cNvSpPr txBox="1"/>
          <p:nvPr>
            <p:ph idx="12" type="sldNum"/>
          </p:nvPr>
        </p:nvSpPr>
        <p:spPr>
          <a:xfrm>
            <a:off x="16818396" y="9148746"/>
            <a:ext cx="9525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29" name="Google Shape;329;p30"/>
          <p:cNvSpPr/>
          <p:nvPr/>
        </p:nvSpPr>
        <p:spPr>
          <a:xfrm>
            <a:off x="15908184" y="204938"/>
            <a:ext cx="2110316" cy="516024"/>
          </a:xfrm>
          <a:custGeom>
            <a:rect b="b" l="l" r="r" t="t"/>
            <a:pathLst>
              <a:path extrusionOk="0" h="516024" w="2110316">
                <a:moveTo>
                  <a:pt x="0" y="0"/>
                </a:moveTo>
                <a:lnTo>
                  <a:pt x="2110316" y="0"/>
                </a:lnTo>
                <a:lnTo>
                  <a:pt x="2110316" y="516024"/>
                </a:lnTo>
                <a:lnTo>
                  <a:pt x="0" y="51602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-70" t="0"/>
            </a:stretch>
          </a:blipFill>
          <a:ln>
            <a:noFill/>
          </a:ln>
        </p:spPr>
      </p:sp>
      <p:sp>
        <p:nvSpPr>
          <p:cNvPr id="330" name="Google Shape;330;p30"/>
          <p:cNvSpPr txBox="1"/>
          <p:nvPr/>
        </p:nvSpPr>
        <p:spPr>
          <a:xfrm>
            <a:off x="323850" y="9858375"/>
            <a:ext cx="8493992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© Copyright 2026, ZaranTech LLC. All rights reserved.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1" name="Google Shape;331;p30"/>
          <p:cNvSpPr/>
          <p:nvPr/>
        </p:nvSpPr>
        <p:spPr>
          <a:xfrm>
            <a:off x="502391" y="1581072"/>
            <a:ext cx="2514527" cy="45727"/>
          </a:xfrm>
          <a:custGeom>
            <a:rect b="b" l="l" r="r" t="t"/>
            <a:pathLst>
              <a:path extrusionOk="0" h="37252" w="7450450">
                <a:moveTo>
                  <a:pt x="0" y="0"/>
                </a:moveTo>
                <a:lnTo>
                  <a:pt x="7450450" y="0"/>
                </a:lnTo>
                <a:lnTo>
                  <a:pt x="7450450" y="37252"/>
                </a:lnTo>
                <a:lnTo>
                  <a:pt x="0" y="3725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332" name="Google Shape;332;p30"/>
          <p:cNvSpPr txBox="1"/>
          <p:nvPr/>
        </p:nvSpPr>
        <p:spPr>
          <a:xfrm>
            <a:off x="502391" y="2234258"/>
            <a:ext cx="10342624" cy="374871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342900" lvl="0" marL="4191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Always review AI-generated code for security vulnerabilities before deployment.</a:t>
            </a:r>
            <a:endParaRPr/>
          </a:p>
          <a:p>
            <a:pPr indent="-342900" lvl="0" marL="4191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Ensure your use of Claude aligns with organizational compliance policies.</a:t>
            </a:r>
            <a:endParaRPr/>
          </a:p>
          <a:p>
            <a:pPr indent="-342900" lvl="0" marL="4191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Understand that AI models can occasionally produce plausible but incorrect code.</a:t>
            </a:r>
            <a:endParaRPr/>
          </a:p>
          <a:p>
            <a:pPr indent="-342900" lvl="0" marL="4191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Treat AI as a collaborative pair programmer, not an infallible oracle.</a:t>
            </a:r>
            <a:endParaRPr/>
          </a:p>
        </p:txBody>
      </p:sp>
      <p:pic>
        <p:nvPicPr>
          <p:cNvPr id="333" name="Google Shape;333;p30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1560596" y="2003592"/>
            <a:ext cx="5257800" cy="42100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8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p31"/>
          <p:cNvSpPr txBox="1"/>
          <p:nvPr/>
        </p:nvSpPr>
        <p:spPr>
          <a:xfrm>
            <a:off x="502391" y="647598"/>
            <a:ext cx="16420800" cy="8125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r>
              <a:rPr b="1" i="0" lang="en-US" sz="4400" u="none" cap="none" strike="noStrike">
                <a:solidFill>
                  <a:srgbClr val="10253F"/>
                </a:solidFill>
                <a:latin typeface="Open Sans"/>
                <a:ea typeface="Open Sans"/>
                <a:cs typeface="Open Sans"/>
                <a:sym typeface="Open Sans"/>
              </a:rPr>
              <a:t>Handling Secrets and PII Safely</a:t>
            </a:r>
            <a:endParaRPr b="1" i="0" sz="4400" u="none" cap="none" strike="noStrike">
              <a:solidFill>
                <a:srgbClr val="10253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340" name="Google Shape;340;p31"/>
          <p:cNvSpPr txBox="1"/>
          <p:nvPr>
            <p:ph idx="12" type="sldNum"/>
          </p:nvPr>
        </p:nvSpPr>
        <p:spPr>
          <a:xfrm>
            <a:off x="16818396" y="9148746"/>
            <a:ext cx="9525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1" name="Google Shape;341;p31"/>
          <p:cNvSpPr/>
          <p:nvPr/>
        </p:nvSpPr>
        <p:spPr>
          <a:xfrm>
            <a:off x="15908184" y="204938"/>
            <a:ext cx="2110316" cy="516024"/>
          </a:xfrm>
          <a:custGeom>
            <a:rect b="b" l="l" r="r" t="t"/>
            <a:pathLst>
              <a:path extrusionOk="0" h="516024" w="2110316">
                <a:moveTo>
                  <a:pt x="0" y="0"/>
                </a:moveTo>
                <a:lnTo>
                  <a:pt x="2110316" y="0"/>
                </a:lnTo>
                <a:lnTo>
                  <a:pt x="2110316" y="516024"/>
                </a:lnTo>
                <a:lnTo>
                  <a:pt x="0" y="51602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-70" t="0"/>
            </a:stretch>
          </a:blipFill>
          <a:ln>
            <a:noFill/>
          </a:ln>
        </p:spPr>
      </p:sp>
      <p:sp>
        <p:nvSpPr>
          <p:cNvPr id="342" name="Google Shape;342;p31"/>
          <p:cNvSpPr txBox="1"/>
          <p:nvPr/>
        </p:nvSpPr>
        <p:spPr>
          <a:xfrm>
            <a:off x="323850" y="9858375"/>
            <a:ext cx="8493992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© Copyright 2026, ZaranTech LLC. All rights reserved.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3" name="Google Shape;343;p31"/>
          <p:cNvSpPr/>
          <p:nvPr/>
        </p:nvSpPr>
        <p:spPr>
          <a:xfrm>
            <a:off x="502391" y="1581072"/>
            <a:ext cx="2514527" cy="45727"/>
          </a:xfrm>
          <a:custGeom>
            <a:rect b="b" l="l" r="r" t="t"/>
            <a:pathLst>
              <a:path extrusionOk="0" h="37252" w="7450450">
                <a:moveTo>
                  <a:pt x="0" y="0"/>
                </a:moveTo>
                <a:lnTo>
                  <a:pt x="7450450" y="0"/>
                </a:lnTo>
                <a:lnTo>
                  <a:pt x="7450450" y="37252"/>
                </a:lnTo>
                <a:lnTo>
                  <a:pt x="0" y="3725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344" name="Google Shape;344;p31"/>
          <p:cNvSpPr/>
          <p:nvPr/>
        </p:nvSpPr>
        <p:spPr>
          <a:xfrm>
            <a:off x="1525845" y="2400220"/>
            <a:ext cx="4777700" cy="2722236"/>
          </a:xfrm>
          <a:prstGeom prst="roundRect">
            <a:avLst>
              <a:gd fmla="val 16667" name="adj"/>
            </a:avLst>
          </a:prstGeom>
          <a:solidFill>
            <a:schemeClr val="lt1"/>
          </a:solidFill>
          <a:ln cap="flat" cmpd="sng" w="57150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Never include API keys or database passwords in your prompts.</a:t>
            </a:r>
            <a:endParaRPr b="0" i="0" sz="2400" u="none" cap="none" strike="noStrike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345" name="Google Shape;345;p31"/>
          <p:cNvSpPr/>
          <p:nvPr/>
        </p:nvSpPr>
        <p:spPr>
          <a:xfrm>
            <a:off x="8948470" y="2400220"/>
            <a:ext cx="4777700" cy="2722236"/>
          </a:xfrm>
          <a:prstGeom prst="roundRect">
            <a:avLst>
              <a:gd fmla="val 16667" name="adj"/>
            </a:avLst>
          </a:prstGeom>
          <a:solidFill>
            <a:schemeClr val="lt1"/>
          </a:solidFill>
          <a:ln cap="flat" cmpd="sng" w="57150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Use environment variables placeholders in prompts instead of hardcoded credentials.</a:t>
            </a:r>
            <a:endParaRPr b="0" i="0" sz="2400" u="none" cap="none" strike="noStrike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346" name="Google Shape;346;p31"/>
          <p:cNvSpPr/>
          <p:nvPr/>
        </p:nvSpPr>
        <p:spPr>
          <a:xfrm>
            <a:off x="4486633" y="6050117"/>
            <a:ext cx="4777700" cy="2722236"/>
          </a:xfrm>
          <a:prstGeom prst="roundRect">
            <a:avLst>
              <a:gd fmla="val 16667" name="adj"/>
            </a:avLst>
          </a:prstGeom>
          <a:solidFill>
            <a:schemeClr val="lt1"/>
          </a:solidFill>
          <a:ln cap="flat" cmpd="sng" w="57150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Scrub all Personally Identifiable Information before sharing logs with Claude.</a:t>
            </a:r>
            <a:endParaRPr b="0" i="0" sz="2400" u="none" cap="none" strike="noStrike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347" name="Google Shape;347;p31"/>
          <p:cNvSpPr/>
          <p:nvPr/>
        </p:nvSpPr>
        <p:spPr>
          <a:xfrm>
            <a:off x="11704370" y="6007744"/>
            <a:ext cx="4777700" cy="2722236"/>
          </a:xfrm>
          <a:prstGeom prst="roundRect">
            <a:avLst>
              <a:gd fmla="val 16667" name="adj"/>
            </a:avLst>
          </a:prstGeom>
          <a:solidFill>
            <a:schemeClr val="lt1"/>
          </a:solidFill>
          <a:ln cap="flat" cmpd="sng" w="57150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Sanitize production database dumps thoroughly before pasting them as context.</a:t>
            </a:r>
            <a:endParaRPr b="0" i="0" sz="2400" u="none" cap="none" strike="noStrike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2" name="Shape 3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3" name="Google Shape;353;p32"/>
          <p:cNvSpPr txBox="1"/>
          <p:nvPr/>
        </p:nvSpPr>
        <p:spPr>
          <a:xfrm>
            <a:off x="502391" y="647598"/>
            <a:ext cx="16420800" cy="8125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r>
              <a:rPr b="1" i="0" lang="en-US" sz="4400" u="none" cap="none" strike="noStrike">
                <a:solidFill>
                  <a:srgbClr val="10253F"/>
                </a:solidFill>
                <a:latin typeface="Open Sans"/>
                <a:ea typeface="Open Sans"/>
                <a:cs typeface="Open Sans"/>
                <a:sym typeface="Open Sans"/>
              </a:rPr>
              <a:t>Trust vs. Verify in AI Code</a:t>
            </a:r>
            <a:endParaRPr b="1" i="0" sz="4400" u="none" cap="none" strike="noStrike">
              <a:solidFill>
                <a:srgbClr val="10253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354" name="Google Shape;354;p32"/>
          <p:cNvSpPr txBox="1"/>
          <p:nvPr>
            <p:ph idx="12" type="sldNum"/>
          </p:nvPr>
        </p:nvSpPr>
        <p:spPr>
          <a:xfrm>
            <a:off x="16818396" y="9148746"/>
            <a:ext cx="9525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55" name="Google Shape;355;p32"/>
          <p:cNvSpPr/>
          <p:nvPr/>
        </p:nvSpPr>
        <p:spPr>
          <a:xfrm>
            <a:off x="15908184" y="204938"/>
            <a:ext cx="2110316" cy="516024"/>
          </a:xfrm>
          <a:custGeom>
            <a:rect b="b" l="l" r="r" t="t"/>
            <a:pathLst>
              <a:path extrusionOk="0" h="516024" w="2110316">
                <a:moveTo>
                  <a:pt x="0" y="0"/>
                </a:moveTo>
                <a:lnTo>
                  <a:pt x="2110316" y="0"/>
                </a:lnTo>
                <a:lnTo>
                  <a:pt x="2110316" y="516024"/>
                </a:lnTo>
                <a:lnTo>
                  <a:pt x="0" y="51602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-70" t="0"/>
            </a:stretch>
          </a:blipFill>
          <a:ln>
            <a:noFill/>
          </a:ln>
        </p:spPr>
      </p:sp>
      <p:sp>
        <p:nvSpPr>
          <p:cNvPr id="356" name="Google Shape;356;p32"/>
          <p:cNvSpPr txBox="1"/>
          <p:nvPr/>
        </p:nvSpPr>
        <p:spPr>
          <a:xfrm>
            <a:off x="323850" y="9858375"/>
            <a:ext cx="8493992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© Copyright 2026, ZaranTech LLC. All rights reserved.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7" name="Google Shape;357;p32"/>
          <p:cNvSpPr/>
          <p:nvPr/>
        </p:nvSpPr>
        <p:spPr>
          <a:xfrm>
            <a:off x="502391" y="1581072"/>
            <a:ext cx="2514527" cy="45727"/>
          </a:xfrm>
          <a:custGeom>
            <a:rect b="b" l="l" r="r" t="t"/>
            <a:pathLst>
              <a:path extrusionOk="0" h="37252" w="7450450">
                <a:moveTo>
                  <a:pt x="0" y="0"/>
                </a:moveTo>
                <a:lnTo>
                  <a:pt x="7450450" y="0"/>
                </a:lnTo>
                <a:lnTo>
                  <a:pt x="7450450" y="37252"/>
                </a:lnTo>
                <a:lnTo>
                  <a:pt x="0" y="3725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358" name="Google Shape;358;p32"/>
          <p:cNvSpPr txBox="1"/>
          <p:nvPr/>
        </p:nvSpPr>
        <p:spPr>
          <a:xfrm>
            <a:off x="6006481" y="2958677"/>
            <a:ext cx="10695603" cy="321318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342900" lvl="0" marL="4191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ans Symbols"/>
              <a:buChar char="∙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Treat all AI-generated code as a helpful initial draft only.</a:t>
            </a:r>
            <a:endParaRPr/>
          </a:p>
          <a:p>
            <a:pPr indent="-342900" lvl="0" marL="4191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ans Symbols"/>
              <a:buChar char="∙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Verify every function against your existing unit test suite rigorously.</a:t>
            </a:r>
            <a:endParaRPr/>
          </a:p>
          <a:p>
            <a:pPr indent="-342900" lvl="0" marL="4191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ans Symbols"/>
              <a:buChar char="∙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Cross-reference suggested third-party libraries for known security vulnerabilities manually.</a:t>
            </a:r>
            <a:endParaRPr/>
          </a:p>
          <a:p>
            <a:pPr indent="-342900" lvl="0" marL="4191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Noto Sans Symbols"/>
              <a:buChar char="∙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Never blindly copy and paste code directly into production environments.</a:t>
            </a:r>
            <a:endParaRPr/>
          </a:p>
        </p:txBody>
      </p:sp>
      <p:pic>
        <p:nvPicPr>
          <p:cNvPr id="359" name="Google Shape;359;p32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18507" y="2204991"/>
            <a:ext cx="4403438" cy="460997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4" name="Shape 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Google Shape;365;p33"/>
          <p:cNvSpPr txBox="1"/>
          <p:nvPr/>
        </p:nvSpPr>
        <p:spPr>
          <a:xfrm>
            <a:off x="502391" y="647598"/>
            <a:ext cx="16420800" cy="8125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r>
              <a:rPr b="1" i="0" lang="en-US" sz="4400" u="none" cap="none" strike="noStrike">
                <a:solidFill>
                  <a:srgbClr val="10253F"/>
                </a:solidFill>
                <a:latin typeface="Open Sans"/>
                <a:ea typeface="Open Sans"/>
                <a:cs typeface="Open Sans"/>
                <a:sym typeface="Open Sans"/>
              </a:rPr>
              <a:t>AI Code Review Best Practices</a:t>
            </a:r>
            <a:endParaRPr b="1" i="0" sz="4400" u="none" cap="none" strike="noStrike">
              <a:solidFill>
                <a:srgbClr val="10253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366" name="Google Shape;366;p33"/>
          <p:cNvSpPr txBox="1"/>
          <p:nvPr>
            <p:ph idx="12" type="sldNum"/>
          </p:nvPr>
        </p:nvSpPr>
        <p:spPr>
          <a:xfrm>
            <a:off x="16818396" y="9148746"/>
            <a:ext cx="9525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67" name="Google Shape;367;p33"/>
          <p:cNvSpPr/>
          <p:nvPr/>
        </p:nvSpPr>
        <p:spPr>
          <a:xfrm>
            <a:off x="15908184" y="204938"/>
            <a:ext cx="2110316" cy="516024"/>
          </a:xfrm>
          <a:custGeom>
            <a:rect b="b" l="l" r="r" t="t"/>
            <a:pathLst>
              <a:path extrusionOk="0" h="516024" w="2110316">
                <a:moveTo>
                  <a:pt x="0" y="0"/>
                </a:moveTo>
                <a:lnTo>
                  <a:pt x="2110316" y="0"/>
                </a:lnTo>
                <a:lnTo>
                  <a:pt x="2110316" y="516024"/>
                </a:lnTo>
                <a:lnTo>
                  <a:pt x="0" y="51602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-70" t="0"/>
            </a:stretch>
          </a:blipFill>
          <a:ln>
            <a:noFill/>
          </a:ln>
        </p:spPr>
      </p:sp>
      <p:sp>
        <p:nvSpPr>
          <p:cNvPr id="368" name="Google Shape;368;p33"/>
          <p:cNvSpPr txBox="1"/>
          <p:nvPr/>
        </p:nvSpPr>
        <p:spPr>
          <a:xfrm>
            <a:off x="323850" y="9858375"/>
            <a:ext cx="8493992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© Copyright 2026, ZaranTech LLC. All rights reserved.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9" name="Google Shape;369;p33"/>
          <p:cNvSpPr/>
          <p:nvPr/>
        </p:nvSpPr>
        <p:spPr>
          <a:xfrm>
            <a:off x="502391" y="1581072"/>
            <a:ext cx="2514527" cy="45727"/>
          </a:xfrm>
          <a:custGeom>
            <a:rect b="b" l="l" r="r" t="t"/>
            <a:pathLst>
              <a:path extrusionOk="0" h="37252" w="7450450">
                <a:moveTo>
                  <a:pt x="0" y="0"/>
                </a:moveTo>
                <a:lnTo>
                  <a:pt x="7450450" y="0"/>
                </a:lnTo>
                <a:lnTo>
                  <a:pt x="7450450" y="37252"/>
                </a:lnTo>
                <a:lnTo>
                  <a:pt x="0" y="3725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370" name="Google Shape;370;p33"/>
          <p:cNvSpPr txBox="1"/>
          <p:nvPr/>
        </p:nvSpPr>
        <p:spPr>
          <a:xfrm>
            <a:off x="502391" y="2446064"/>
            <a:ext cx="10866649" cy="21421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342900" lvl="0" marL="4191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Review Claude's output with the same scrutiny as human code.</a:t>
            </a:r>
            <a:endParaRPr/>
          </a:p>
          <a:p>
            <a:pPr indent="-342900" lvl="0" marL="4191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Check for edge cases that the AI model might have missed.</a:t>
            </a:r>
            <a:endParaRPr/>
          </a:p>
          <a:p>
            <a:pPr indent="-342900" lvl="0" marL="4191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Ensure the generated code adheres to internal secure coding standards.</a:t>
            </a:r>
            <a:endParaRPr/>
          </a:p>
          <a:p>
            <a:pPr indent="-342900" lvl="0" marL="4191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Validate that the AI code properly handles exceptions and errors.</a:t>
            </a:r>
            <a:endParaRPr/>
          </a:p>
        </p:txBody>
      </p:sp>
      <p:pic>
        <p:nvPicPr>
          <p:cNvPr id="371" name="Google Shape;371;p3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1659355" y="1163622"/>
            <a:ext cx="4277025" cy="43101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6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Google Shape;377;p34"/>
          <p:cNvSpPr txBox="1"/>
          <p:nvPr/>
        </p:nvSpPr>
        <p:spPr>
          <a:xfrm>
            <a:off x="502391" y="647598"/>
            <a:ext cx="16420800" cy="8125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r>
              <a:rPr b="1" i="0" lang="en-US" sz="4400" u="none" cap="none" strike="noStrike">
                <a:solidFill>
                  <a:srgbClr val="10253F"/>
                </a:solidFill>
                <a:latin typeface="Open Sans"/>
                <a:ea typeface="Open Sans"/>
                <a:cs typeface="Open Sans"/>
                <a:sym typeface="Open Sans"/>
              </a:rPr>
              <a:t>Time-Saving Strategies and Templates</a:t>
            </a:r>
            <a:endParaRPr b="1" i="0" sz="4400" u="none" cap="none" strike="noStrike">
              <a:solidFill>
                <a:srgbClr val="10253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378" name="Google Shape;378;p34"/>
          <p:cNvSpPr txBox="1"/>
          <p:nvPr>
            <p:ph idx="12" type="sldNum"/>
          </p:nvPr>
        </p:nvSpPr>
        <p:spPr>
          <a:xfrm>
            <a:off x="16818396" y="9148746"/>
            <a:ext cx="9525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79" name="Google Shape;379;p34"/>
          <p:cNvSpPr/>
          <p:nvPr/>
        </p:nvSpPr>
        <p:spPr>
          <a:xfrm>
            <a:off x="15908184" y="204938"/>
            <a:ext cx="2110316" cy="516024"/>
          </a:xfrm>
          <a:custGeom>
            <a:rect b="b" l="l" r="r" t="t"/>
            <a:pathLst>
              <a:path extrusionOk="0" h="516024" w="2110316">
                <a:moveTo>
                  <a:pt x="0" y="0"/>
                </a:moveTo>
                <a:lnTo>
                  <a:pt x="2110316" y="0"/>
                </a:lnTo>
                <a:lnTo>
                  <a:pt x="2110316" y="516024"/>
                </a:lnTo>
                <a:lnTo>
                  <a:pt x="0" y="51602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-70" t="0"/>
            </a:stretch>
          </a:blipFill>
          <a:ln>
            <a:noFill/>
          </a:ln>
        </p:spPr>
      </p:sp>
      <p:sp>
        <p:nvSpPr>
          <p:cNvPr id="380" name="Google Shape;380;p34"/>
          <p:cNvSpPr txBox="1"/>
          <p:nvPr/>
        </p:nvSpPr>
        <p:spPr>
          <a:xfrm>
            <a:off x="323850" y="9858375"/>
            <a:ext cx="8493992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© Copyright 2026, ZaranTech LLC. All rights reserved.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1" name="Google Shape;381;p34"/>
          <p:cNvSpPr/>
          <p:nvPr/>
        </p:nvSpPr>
        <p:spPr>
          <a:xfrm>
            <a:off x="502391" y="1581072"/>
            <a:ext cx="2514527" cy="45727"/>
          </a:xfrm>
          <a:custGeom>
            <a:rect b="b" l="l" r="r" t="t"/>
            <a:pathLst>
              <a:path extrusionOk="0" h="37252" w="7450450">
                <a:moveTo>
                  <a:pt x="0" y="0"/>
                </a:moveTo>
                <a:lnTo>
                  <a:pt x="7450450" y="0"/>
                </a:lnTo>
                <a:lnTo>
                  <a:pt x="7450450" y="37252"/>
                </a:lnTo>
                <a:lnTo>
                  <a:pt x="0" y="3725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382" name="Google Shape;382;p34"/>
          <p:cNvSpPr/>
          <p:nvPr/>
        </p:nvSpPr>
        <p:spPr>
          <a:xfrm>
            <a:off x="1496150" y="2955623"/>
            <a:ext cx="5441209" cy="2386888"/>
          </a:xfrm>
          <a:prstGeom prst="trapezoid">
            <a:avLst>
              <a:gd fmla="val 25000" name="adj"/>
            </a:avLst>
          </a:prstGeom>
          <a:solidFill>
            <a:srgbClr val="FFC000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Create standardized prompt templates for recurring tasks like unit testing.</a:t>
            </a:r>
            <a:endParaRPr b="0" i="0" sz="2400" u="none" cap="none" strike="noStrike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383" name="Google Shape;383;p34"/>
          <p:cNvSpPr/>
          <p:nvPr/>
        </p:nvSpPr>
        <p:spPr>
          <a:xfrm>
            <a:off x="8087955" y="2955623"/>
            <a:ext cx="5441209" cy="2386888"/>
          </a:xfrm>
          <a:prstGeom prst="trapezoid">
            <a:avLst>
              <a:gd fmla="val 25000" name="adj"/>
            </a:avLst>
          </a:prstGeom>
          <a:solidFill>
            <a:srgbClr val="FFC000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Automate code scaffolding requests using predefined system architecture templates.</a:t>
            </a:r>
            <a:endParaRPr b="0" i="0" sz="2400" u="none" cap="none" strike="noStrike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384" name="Google Shape;384;p34"/>
          <p:cNvSpPr/>
          <p:nvPr/>
        </p:nvSpPr>
        <p:spPr>
          <a:xfrm>
            <a:off x="3873262" y="6245588"/>
            <a:ext cx="5441209" cy="2386888"/>
          </a:xfrm>
          <a:prstGeom prst="trapezoid">
            <a:avLst>
              <a:gd fmla="val 25000" name="adj"/>
            </a:avLst>
          </a:prstGeom>
          <a:solidFill>
            <a:srgbClr val="FFC000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Build a shared team repository of highly effective Claude prompts.</a:t>
            </a:r>
            <a:endParaRPr b="0" i="0" sz="2400" u="none" cap="none" strike="noStrike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385" name="Google Shape;385;p34"/>
          <p:cNvSpPr/>
          <p:nvPr/>
        </p:nvSpPr>
        <p:spPr>
          <a:xfrm>
            <a:off x="10808559" y="6245588"/>
            <a:ext cx="5441209" cy="2386888"/>
          </a:xfrm>
          <a:prstGeom prst="trapezoid">
            <a:avLst>
              <a:gd fmla="val 25000" name="adj"/>
            </a:avLst>
          </a:prstGeom>
          <a:solidFill>
            <a:srgbClr val="FFC000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Use modular prompt structures to assemble complex queries much faster.</a:t>
            </a:r>
            <a:endParaRPr b="0" i="0" sz="2400" u="none" cap="none" strike="noStrike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0" name="Shape 3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Google Shape;391;p35"/>
          <p:cNvSpPr txBox="1"/>
          <p:nvPr/>
        </p:nvSpPr>
        <p:spPr>
          <a:xfrm>
            <a:off x="502391" y="647598"/>
            <a:ext cx="16420800" cy="8125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r>
              <a:rPr b="1" i="0" lang="en-US" sz="4400" u="none" cap="none" strike="noStrike">
                <a:solidFill>
                  <a:srgbClr val="10253F"/>
                </a:solidFill>
                <a:latin typeface="Open Sans"/>
                <a:ea typeface="Open Sans"/>
                <a:cs typeface="Open Sans"/>
                <a:sym typeface="Open Sans"/>
              </a:rPr>
              <a:t>Reusable Snippets and Checklists</a:t>
            </a:r>
            <a:endParaRPr b="1" i="0" sz="4400" u="none" cap="none" strike="noStrike">
              <a:solidFill>
                <a:srgbClr val="10253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392" name="Google Shape;392;p35"/>
          <p:cNvSpPr txBox="1"/>
          <p:nvPr>
            <p:ph idx="12" type="sldNum"/>
          </p:nvPr>
        </p:nvSpPr>
        <p:spPr>
          <a:xfrm>
            <a:off x="16818396" y="9148746"/>
            <a:ext cx="9525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93" name="Google Shape;393;p35"/>
          <p:cNvSpPr/>
          <p:nvPr/>
        </p:nvSpPr>
        <p:spPr>
          <a:xfrm>
            <a:off x="15908184" y="204938"/>
            <a:ext cx="2110316" cy="516024"/>
          </a:xfrm>
          <a:custGeom>
            <a:rect b="b" l="l" r="r" t="t"/>
            <a:pathLst>
              <a:path extrusionOk="0" h="516024" w="2110316">
                <a:moveTo>
                  <a:pt x="0" y="0"/>
                </a:moveTo>
                <a:lnTo>
                  <a:pt x="2110316" y="0"/>
                </a:lnTo>
                <a:lnTo>
                  <a:pt x="2110316" y="516024"/>
                </a:lnTo>
                <a:lnTo>
                  <a:pt x="0" y="51602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-70" t="0"/>
            </a:stretch>
          </a:blipFill>
          <a:ln>
            <a:noFill/>
          </a:ln>
        </p:spPr>
      </p:sp>
      <p:sp>
        <p:nvSpPr>
          <p:cNvPr id="394" name="Google Shape;394;p35"/>
          <p:cNvSpPr txBox="1"/>
          <p:nvPr/>
        </p:nvSpPr>
        <p:spPr>
          <a:xfrm>
            <a:off x="323850" y="9858375"/>
            <a:ext cx="8493992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© Copyright 2026, ZaranTech LLC. All rights reserved.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5" name="Google Shape;395;p35"/>
          <p:cNvSpPr/>
          <p:nvPr/>
        </p:nvSpPr>
        <p:spPr>
          <a:xfrm>
            <a:off x="502391" y="1581072"/>
            <a:ext cx="2514527" cy="45727"/>
          </a:xfrm>
          <a:custGeom>
            <a:rect b="b" l="l" r="r" t="t"/>
            <a:pathLst>
              <a:path extrusionOk="0" h="37252" w="7450450">
                <a:moveTo>
                  <a:pt x="0" y="0"/>
                </a:moveTo>
                <a:lnTo>
                  <a:pt x="7450450" y="0"/>
                </a:lnTo>
                <a:lnTo>
                  <a:pt x="7450450" y="37252"/>
                </a:lnTo>
                <a:lnTo>
                  <a:pt x="0" y="3725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396" name="Google Shape;396;p35"/>
          <p:cNvSpPr/>
          <p:nvPr/>
        </p:nvSpPr>
        <p:spPr>
          <a:xfrm>
            <a:off x="2168281" y="2527733"/>
            <a:ext cx="13299122" cy="900590"/>
          </a:xfrm>
          <a:prstGeom prst="roundRect">
            <a:avLst>
              <a:gd fmla="val 16667" name="adj"/>
            </a:avLst>
          </a:prstGeom>
          <a:solidFill>
            <a:schemeClr val="lt1"/>
          </a:solidFill>
          <a:ln cap="flat" cmpd="sng" w="57150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Save successful prompt snippets in your IDE for quick access.</a:t>
            </a:r>
            <a:endParaRPr b="0" i="0" sz="2400" u="none" cap="none" strike="noStrike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397" name="Google Shape;397;p35"/>
          <p:cNvSpPr/>
          <p:nvPr/>
        </p:nvSpPr>
        <p:spPr>
          <a:xfrm>
            <a:off x="2168281" y="4098700"/>
            <a:ext cx="13299122" cy="900590"/>
          </a:xfrm>
          <a:prstGeom prst="roundRect">
            <a:avLst>
              <a:gd fmla="val 16667" name="adj"/>
            </a:avLst>
          </a:prstGeom>
          <a:solidFill>
            <a:schemeClr val="lt1"/>
          </a:solidFill>
          <a:ln cap="flat" cmpd="sng" w="57150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Develop a standard checklist for reviewing AI-generated code securely.</a:t>
            </a:r>
            <a:endParaRPr b="0" i="0" sz="2400" u="none" cap="none" strike="noStrike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398" name="Google Shape;398;p35"/>
          <p:cNvSpPr/>
          <p:nvPr/>
        </p:nvSpPr>
        <p:spPr>
          <a:xfrm>
            <a:off x="2168281" y="5669667"/>
            <a:ext cx="13299122" cy="900590"/>
          </a:xfrm>
          <a:prstGeom prst="roundRect">
            <a:avLst>
              <a:gd fmla="val 16667" name="adj"/>
            </a:avLst>
          </a:prstGeom>
          <a:solidFill>
            <a:schemeClr val="lt1"/>
          </a:solidFill>
          <a:ln cap="flat" cmpd="sng" w="57150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Use a prompt checklist to ensure context and constraints are present.</a:t>
            </a:r>
            <a:endParaRPr b="0" i="0" sz="2400" u="none" cap="none" strike="noStrike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399" name="Google Shape;399;p35"/>
          <p:cNvSpPr/>
          <p:nvPr/>
        </p:nvSpPr>
        <p:spPr>
          <a:xfrm>
            <a:off x="2168281" y="7240633"/>
            <a:ext cx="13299122" cy="900590"/>
          </a:xfrm>
          <a:prstGeom prst="roundRect">
            <a:avLst>
              <a:gd fmla="val 16667" name="adj"/>
            </a:avLst>
          </a:prstGeom>
          <a:solidFill>
            <a:schemeClr val="lt1"/>
          </a:solidFill>
          <a:ln cap="flat" cmpd="sng" w="57150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Document your team's best prompting patterns in an internal wiki.</a:t>
            </a:r>
            <a:endParaRPr b="0" i="0" sz="2400" u="none" cap="none" strike="noStrike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4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Google Shape;405;p36"/>
          <p:cNvSpPr txBox="1"/>
          <p:nvPr/>
        </p:nvSpPr>
        <p:spPr>
          <a:xfrm>
            <a:off x="502391" y="647598"/>
            <a:ext cx="16420800" cy="8125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r>
              <a:rPr b="1" i="0" lang="en-US" sz="4400" u="none" cap="none" strike="noStrike">
                <a:solidFill>
                  <a:srgbClr val="10253F"/>
                </a:solidFill>
                <a:latin typeface="Open Sans"/>
                <a:ea typeface="Open Sans"/>
                <a:cs typeface="Open Sans"/>
                <a:sym typeface="Open Sans"/>
              </a:rPr>
              <a:t>Key Takeaways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6" name="Google Shape;406;p36"/>
          <p:cNvSpPr txBox="1"/>
          <p:nvPr>
            <p:ph idx="12" type="sldNum"/>
          </p:nvPr>
        </p:nvSpPr>
        <p:spPr>
          <a:xfrm>
            <a:off x="16818396" y="9148746"/>
            <a:ext cx="9525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07" name="Google Shape;407;p36"/>
          <p:cNvSpPr/>
          <p:nvPr/>
        </p:nvSpPr>
        <p:spPr>
          <a:xfrm>
            <a:off x="15908184" y="204938"/>
            <a:ext cx="2110316" cy="516024"/>
          </a:xfrm>
          <a:custGeom>
            <a:rect b="b" l="l" r="r" t="t"/>
            <a:pathLst>
              <a:path extrusionOk="0" h="516024" w="2110316">
                <a:moveTo>
                  <a:pt x="0" y="0"/>
                </a:moveTo>
                <a:lnTo>
                  <a:pt x="2110316" y="0"/>
                </a:lnTo>
                <a:lnTo>
                  <a:pt x="2110316" y="516024"/>
                </a:lnTo>
                <a:lnTo>
                  <a:pt x="0" y="51602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-70" t="0"/>
            </a:stretch>
          </a:blipFill>
          <a:ln>
            <a:noFill/>
          </a:ln>
        </p:spPr>
      </p:sp>
      <p:sp>
        <p:nvSpPr>
          <p:cNvPr id="408" name="Google Shape;408;p36"/>
          <p:cNvSpPr txBox="1"/>
          <p:nvPr/>
        </p:nvSpPr>
        <p:spPr>
          <a:xfrm>
            <a:off x="323850" y="9858375"/>
            <a:ext cx="8493992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© Copyright 2026, ZaranTech LLC. All rights reserved.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9" name="Google Shape;409;p36"/>
          <p:cNvSpPr/>
          <p:nvPr/>
        </p:nvSpPr>
        <p:spPr>
          <a:xfrm>
            <a:off x="502391" y="1581072"/>
            <a:ext cx="2514527" cy="45727"/>
          </a:xfrm>
          <a:custGeom>
            <a:rect b="b" l="l" r="r" t="t"/>
            <a:pathLst>
              <a:path extrusionOk="0" h="37252" w="7450450">
                <a:moveTo>
                  <a:pt x="0" y="0"/>
                </a:moveTo>
                <a:lnTo>
                  <a:pt x="7450450" y="0"/>
                </a:lnTo>
                <a:lnTo>
                  <a:pt x="7450450" y="37252"/>
                </a:lnTo>
                <a:lnTo>
                  <a:pt x="0" y="3725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410" name="Google Shape;410;p36"/>
          <p:cNvSpPr txBox="1"/>
          <p:nvPr/>
        </p:nvSpPr>
        <p:spPr>
          <a:xfrm>
            <a:off x="502391" y="2273250"/>
            <a:ext cx="9937009" cy="4284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342900" lvl="0" marL="4191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We covered Claude's access points, capabilities, and superior reasoning strengths.</a:t>
            </a:r>
            <a:endParaRPr/>
          </a:p>
          <a:p>
            <a:pPr indent="-342900" lvl="0" marL="4191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You learned how to craft structured prompts with context and constraints.</a:t>
            </a:r>
            <a:endParaRPr/>
          </a:p>
          <a:p>
            <a:pPr indent="-342900" lvl="0" marL="4191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We discussed vital security practices for handling secrets and PII safely.</a:t>
            </a:r>
            <a:endParaRPr/>
          </a:p>
          <a:p>
            <a:pPr indent="-342900" lvl="0" marL="4191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You gained time-saving strategies to review and integrate AI code efficiently.</a:t>
            </a:r>
            <a:endParaRPr/>
          </a:p>
        </p:txBody>
      </p:sp>
      <p:pic>
        <p:nvPicPr>
          <p:cNvPr id="411" name="Google Shape;411;p3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1645368" y="2120502"/>
            <a:ext cx="5649278" cy="419378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17" name="Google Shape;417;p37"/>
          <p:cNvGrpSpPr/>
          <p:nvPr/>
        </p:nvGrpSpPr>
        <p:grpSpPr>
          <a:xfrm>
            <a:off x="-378374" y="-159439"/>
            <a:ext cx="19123574" cy="10605878"/>
            <a:chOff x="0" y="0"/>
            <a:chExt cx="24451818" cy="13783818"/>
          </a:xfrm>
        </p:grpSpPr>
        <p:sp>
          <p:nvSpPr>
            <p:cNvPr id="418" name="Google Shape;418;p37"/>
            <p:cNvSpPr/>
            <p:nvPr/>
          </p:nvSpPr>
          <p:spPr>
            <a:xfrm>
              <a:off x="33909" y="33909"/>
              <a:ext cx="24384001" cy="13716001"/>
            </a:xfrm>
            <a:custGeom>
              <a:rect b="b" l="l" r="r" t="t"/>
              <a:pathLst>
                <a:path extrusionOk="0" h="13716001" w="24384001">
                  <a:moveTo>
                    <a:pt x="0" y="0"/>
                  </a:moveTo>
                  <a:lnTo>
                    <a:pt x="24384001" y="0"/>
                  </a:lnTo>
                  <a:lnTo>
                    <a:pt x="24384001" y="13716001"/>
                  </a:lnTo>
                  <a:lnTo>
                    <a:pt x="0" y="13716001"/>
                  </a:lnTo>
                  <a:close/>
                </a:path>
              </a:pathLst>
            </a:custGeom>
            <a:solidFill>
              <a:srgbClr val="262626"/>
            </a:solidFill>
            <a:ln>
              <a:noFill/>
            </a:ln>
          </p:spPr>
        </p:sp>
        <p:sp>
          <p:nvSpPr>
            <p:cNvPr id="419" name="Google Shape;419;p37"/>
            <p:cNvSpPr/>
            <p:nvPr/>
          </p:nvSpPr>
          <p:spPr>
            <a:xfrm>
              <a:off x="0" y="0"/>
              <a:ext cx="24451818" cy="13783818"/>
            </a:xfrm>
            <a:custGeom>
              <a:rect b="b" l="l" r="r" t="t"/>
              <a:pathLst>
                <a:path extrusionOk="0" h="13783818" w="24451818">
                  <a:moveTo>
                    <a:pt x="33909" y="0"/>
                  </a:moveTo>
                  <a:lnTo>
                    <a:pt x="24417910" y="0"/>
                  </a:lnTo>
                  <a:cubicBezTo>
                    <a:pt x="24436578" y="0"/>
                    <a:pt x="24451818" y="15113"/>
                    <a:pt x="24451818" y="33909"/>
                  </a:cubicBezTo>
                  <a:lnTo>
                    <a:pt x="24451818" y="13749910"/>
                  </a:lnTo>
                  <a:cubicBezTo>
                    <a:pt x="24451818" y="13768578"/>
                    <a:pt x="24436705" y="13783818"/>
                    <a:pt x="24417910" y="13783818"/>
                  </a:cubicBezTo>
                  <a:lnTo>
                    <a:pt x="33909" y="13783818"/>
                  </a:lnTo>
                  <a:cubicBezTo>
                    <a:pt x="15240" y="13783818"/>
                    <a:pt x="0" y="13768705"/>
                    <a:pt x="0" y="13749910"/>
                  </a:cubicBezTo>
                  <a:lnTo>
                    <a:pt x="0" y="33909"/>
                  </a:lnTo>
                  <a:cubicBezTo>
                    <a:pt x="0" y="15113"/>
                    <a:pt x="15113" y="0"/>
                    <a:pt x="33909" y="0"/>
                  </a:cubicBezTo>
                  <a:moveTo>
                    <a:pt x="33909" y="67691"/>
                  </a:moveTo>
                  <a:lnTo>
                    <a:pt x="33909" y="33909"/>
                  </a:lnTo>
                  <a:lnTo>
                    <a:pt x="67691" y="33909"/>
                  </a:lnTo>
                  <a:lnTo>
                    <a:pt x="67691" y="13749910"/>
                  </a:lnTo>
                  <a:lnTo>
                    <a:pt x="33909" y="13749910"/>
                  </a:lnTo>
                  <a:lnTo>
                    <a:pt x="33909" y="13716000"/>
                  </a:lnTo>
                  <a:lnTo>
                    <a:pt x="24417910" y="13716000"/>
                  </a:lnTo>
                  <a:lnTo>
                    <a:pt x="24417910" y="13749910"/>
                  </a:lnTo>
                  <a:lnTo>
                    <a:pt x="24384000" y="13749910"/>
                  </a:lnTo>
                  <a:lnTo>
                    <a:pt x="24384000" y="33909"/>
                  </a:lnTo>
                  <a:lnTo>
                    <a:pt x="24417910" y="33909"/>
                  </a:lnTo>
                  <a:lnTo>
                    <a:pt x="24417910" y="67691"/>
                  </a:lnTo>
                  <a:lnTo>
                    <a:pt x="33909" y="67691"/>
                  </a:lnTo>
                  <a:close/>
                </a:path>
              </a:pathLst>
            </a:custGeom>
            <a:solidFill>
              <a:srgbClr val="0F243E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20" name="Google Shape;420;p37"/>
          <p:cNvSpPr txBox="1"/>
          <p:nvPr/>
        </p:nvSpPr>
        <p:spPr>
          <a:xfrm>
            <a:off x="10582298" y="6464001"/>
            <a:ext cx="3196186" cy="45307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9958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www.zarantech.com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1" name="Google Shape;421;p37"/>
          <p:cNvSpPr/>
          <p:nvPr/>
        </p:nvSpPr>
        <p:spPr>
          <a:xfrm>
            <a:off x="10134151" y="6485798"/>
            <a:ext cx="381880" cy="399958"/>
          </a:xfrm>
          <a:custGeom>
            <a:rect b="b" l="l" r="r" t="t"/>
            <a:pathLst>
              <a:path extrusionOk="0" h="399958" w="381880">
                <a:moveTo>
                  <a:pt x="0" y="0"/>
                </a:moveTo>
                <a:lnTo>
                  <a:pt x="381880" y="0"/>
                </a:lnTo>
                <a:lnTo>
                  <a:pt x="381880" y="399958"/>
                </a:lnTo>
                <a:lnTo>
                  <a:pt x="0" y="39995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422" name="Google Shape;422;p37"/>
          <p:cNvSpPr/>
          <p:nvPr/>
        </p:nvSpPr>
        <p:spPr>
          <a:xfrm>
            <a:off x="15775388" y="330356"/>
            <a:ext cx="2238872" cy="461178"/>
          </a:xfrm>
          <a:custGeom>
            <a:rect b="b" l="l" r="r" t="t"/>
            <a:pathLst>
              <a:path extrusionOk="0" h="461178" w="2238872">
                <a:moveTo>
                  <a:pt x="0" y="0"/>
                </a:moveTo>
                <a:lnTo>
                  <a:pt x="2238872" y="0"/>
                </a:lnTo>
                <a:lnTo>
                  <a:pt x="2238872" y="461178"/>
                </a:lnTo>
                <a:lnTo>
                  <a:pt x="0" y="461178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423" name="Google Shape;423;p37"/>
          <p:cNvSpPr txBox="1"/>
          <p:nvPr/>
        </p:nvSpPr>
        <p:spPr>
          <a:xfrm>
            <a:off x="10134151" y="3262096"/>
            <a:ext cx="6115454" cy="273613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200"/>
              <a:buFont typeface="Arial"/>
              <a:buNone/>
            </a:pPr>
            <a:r>
              <a:rPr b="1" i="0" lang="en-US" sz="7200" u="none" cap="none" strike="noStrik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Thank You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39986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200"/>
              <a:buFont typeface="Arial"/>
              <a:buNone/>
            </a:pPr>
            <a:r>
              <a:t/>
            </a:r>
            <a:endParaRPr b="1" i="0" sz="7200" u="none" cap="none" strike="noStrike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indent="0" lvl="0" marL="0" marR="0" rtl="0" algn="l">
              <a:lnSpc>
                <a:spcPct val="119958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rgbClr val="FFC000"/>
                </a:solidFill>
                <a:latin typeface="Open Sans"/>
                <a:ea typeface="Open Sans"/>
                <a:cs typeface="Open Sans"/>
                <a:sym typeface="Open Sans"/>
              </a:rPr>
              <a:t>For more informative Videos, Subscribe to our YouTube Channel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4" name="Google Shape;424;p37"/>
          <p:cNvSpPr txBox="1"/>
          <p:nvPr/>
        </p:nvSpPr>
        <p:spPr>
          <a:xfrm>
            <a:off x="9702583" y="9770575"/>
            <a:ext cx="8493992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© Copyright 2026, ZaranTech LLC. All rights reserved.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25" name="Google Shape;425;p37"/>
          <p:cNvPicPr preferRelativeResize="0"/>
          <p:nvPr/>
        </p:nvPicPr>
        <p:blipFill rotWithShape="1">
          <a:blip r:embed="rId5">
            <a:alphaModFix/>
          </a:blip>
          <a:srcRect b="0" l="0" r="41821" t="0"/>
          <a:stretch/>
        </p:blipFill>
        <p:spPr>
          <a:xfrm>
            <a:off x="-392265" y="-185528"/>
            <a:ext cx="9275007" cy="1062818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38" name="Google Shape;138;p16"/>
          <p:cNvSpPr txBox="1"/>
          <p:nvPr/>
        </p:nvSpPr>
        <p:spPr>
          <a:xfrm>
            <a:off x="502391" y="647598"/>
            <a:ext cx="16420800" cy="8125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r>
              <a:rPr b="1" i="0" lang="en-US" sz="4400" u="none" cap="none" strike="noStrike">
                <a:solidFill>
                  <a:srgbClr val="10253F"/>
                </a:solidFill>
                <a:latin typeface="Open Sans"/>
                <a:ea typeface="Open Sans"/>
                <a:cs typeface="Open Sans"/>
                <a:sym typeface="Open Sans"/>
              </a:rPr>
              <a:t>Exercises in This Module</a:t>
            </a:r>
            <a:endParaRPr b="1" i="0" sz="4400" u="none" cap="none" strike="noStrike">
              <a:solidFill>
                <a:srgbClr val="10253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39" name="Google Shape;139;p16"/>
          <p:cNvSpPr txBox="1"/>
          <p:nvPr>
            <p:ph idx="12" type="sldNum"/>
          </p:nvPr>
        </p:nvSpPr>
        <p:spPr>
          <a:xfrm>
            <a:off x="16818396" y="9148746"/>
            <a:ext cx="9525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40" name="Google Shape;140;p16"/>
          <p:cNvSpPr/>
          <p:nvPr/>
        </p:nvSpPr>
        <p:spPr>
          <a:xfrm>
            <a:off x="15908184" y="204938"/>
            <a:ext cx="2110316" cy="516024"/>
          </a:xfrm>
          <a:custGeom>
            <a:rect b="b" l="l" r="r" t="t"/>
            <a:pathLst>
              <a:path extrusionOk="0" h="516024" w="2110316">
                <a:moveTo>
                  <a:pt x="0" y="0"/>
                </a:moveTo>
                <a:lnTo>
                  <a:pt x="2110316" y="0"/>
                </a:lnTo>
                <a:lnTo>
                  <a:pt x="2110316" y="516024"/>
                </a:lnTo>
                <a:lnTo>
                  <a:pt x="0" y="51602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-70" t="0"/>
            </a:stretch>
          </a:blipFill>
          <a:ln>
            <a:noFill/>
          </a:ln>
        </p:spPr>
      </p:sp>
      <p:sp>
        <p:nvSpPr>
          <p:cNvPr id="141" name="Google Shape;141;p16"/>
          <p:cNvSpPr txBox="1"/>
          <p:nvPr/>
        </p:nvSpPr>
        <p:spPr>
          <a:xfrm>
            <a:off x="323850" y="9858375"/>
            <a:ext cx="8493992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© Copyright 2026, ZaranTech LLC. All rights reserved.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2" name="Google Shape;142;p16"/>
          <p:cNvSpPr/>
          <p:nvPr/>
        </p:nvSpPr>
        <p:spPr>
          <a:xfrm>
            <a:off x="502391" y="1581072"/>
            <a:ext cx="2514527" cy="45727"/>
          </a:xfrm>
          <a:custGeom>
            <a:rect b="b" l="l" r="r" t="t"/>
            <a:pathLst>
              <a:path extrusionOk="0" h="37252" w="7450450">
                <a:moveTo>
                  <a:pt x="0" y="0"/>
                </a:moveTo>
                <a:lnTo>
                  <a:pt x="7450450" y="0"/>
                </a:lnTo>
                <a:lnTo>
                  <a:pt x="7450450" y="37252"/>
                </a:lnTo>
                <a:lnTo>
                  <a:pt x="0" y="3725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143" name="Google Shape;143;p16"/>
          <p:cNvSpPr txBox="1"/>
          <p:nvPr/>
        </p:nvSpPr>
        <p:spPr>
          <a:xfrm>
            <a:off x="502391" y="2249498"/>
            <a:ext cx="10151095" cy="321318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381000" lvl="0" marL="4572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pen Sans"/>
              <a:buChar char="●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Exercise 1: Explore Claude's interface and explain sample code. 12 minutes.</a:t>
            </a:r>
            <a:endParaRPr/>
          </a:p>
          <a:p>
            <a:pPr indent="-381000" lvl="0" marL="4572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pen Sans"/>
              <a:buChar char="●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Exercise 2: Structure a developer prompt. 12 minutes.</a:t>
            </a:r>
            <a:endParaRPr/>
          </a:p>
          <a:p>
            <a:pPr indent="-381000" lvl="0" marL="4572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pen Sans"/>
              <a:buChar char="●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Exercise 3: Apply a code review checklist. 15 minutes.</a:t>
            </a:r>
            <a:endParaRPr/>
          </a:p>
          <a:p>
            <a:pPr indent="-381000" lvl="0" marL="4572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pen Sans"/>
              <a:buChar char="●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All three run in the browser. No terminal and no API key in this module.</a:t>
            </a:r>
            <a:endParaRPr/>
          </a:p>
        </p:txBody>
      </p:sp>
      <p:grpSp>
        <p:nvGrpSpPr>
          <p:cNvPr id="144" name="Google Shape;144;p16"/>
          <p:cNvGrpSpPr/>
          <p:nvPr/>
        </p:nvGrpSpPr>
        <p:grpSpPr>
          <a:xfrm>
            <a:off x="11453601" y="1163622"/>
            <a:ext cx="4454583" cy="4774001"/>
            <a:chOff x="11453601" y="1626799"/>
            <a:chExt cx="4454583" cy="4774001"/>
          </a:xfrm>
        </p:grpSpPr>
        <p:pic>
          <p:nvPicPr>
            <p:cNvPr id="145" name="Google Shape;145;p16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11453601" y="1626799"/>
              <a:ext cx="4454583" cy="4774001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46" name="Google Shape;146;p16"/>
            <p:cNvSpPr/>
            <p:nvPr/>
          </p:nvSpPr>
          <p:spPr>
            <a:xfrm>
              <a:off x="11466286" y="1626799"/>
              <a:ext cx="812800" cy="896503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38" name="Google Shape;138;p16"/>
          <p:cNvSpPr txBox="1"/>
          <p:nvPr/>
        </p:nvSpPr>
        <p:spPr>
          <a:xfrm>
            <a:off x="502391" y="647598"/>
            <a:ext cx="16420800" cy="8125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r>
              <a:rPr b="1" i="0" lang="en-US" sz="4400" u="none" cap="none" strike="noStrike">
                <a:solidFill>
                  <a:srgbClr val="10253F"/>
                </a:solidFill>
                <a:latin typeface="Open Sans"/>
                <a:ea typeface="Open Sans"/>
                <a:cs typeface="Open Sans"/>
                <a:sym typeface="Open Sans"/>
              </a:rPr>
              <a:t>Repo as Context, Repo as Workspace</a:t>
            </a:r>
            <a:endParaRPr b="1" i="0" sz="4400" u="none" cap="none" strike="noStrike">
              <a:solidFill>
                <a:srgbClr val="10253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39" name="Google Shape;139;p16"/>
          <p:cNvSpPr txBox="1"/>
          <p:nvPr>
            <p:ph idx="12" type="sldNum"/>
          </p:nvPr>
        </p:nvSpPr>
        <p:spPr>
          <a:xfrm>
            <a:off x="16818396" y="9148746"/>
            <a:ext cx="9525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40" name="Google Shape;140;p16"/>
          <p:cNvSpPr/>
          <p:nvPr/>
        </p:nvSpPr>
        <p:spPr>
          <a:xfrm>
            <a:off x="15908184" y="204938"/>
            <a:ext cx="2110316" cy="516024"/>
          </a:xfrm>
          <a:custGeom>
            <a:rect b="b" l="l" r="r" t="t"/>
            <a:pathLst>
              <a:path extrusionOk="0" h="516024" w="2110316">
                <a:moveTo>
                  <a:pt x="0" y="0"/>
                </a:moveTo>
                <a:lnTo>
                  <a:pt x="2110316" y="0"/>
                </a:lnTo>
                <a:lnTo>
                  <a:pt x="2110316" y="516024"/>
                </a:lnTo>
                <a:lnTo>
                  <a:pt x="0" y="51602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0" l="0" r="-70" t="0"/>
            </a:stretch>
          </a:blipFill>
          <a:ln>
            <a:noFill/>
          </a:ln>
        </p:spPr>
      </p:sp>
      <p:sp>
        <p:nvSpPr>
          <p:cNvPr id="141" name="Google Shape;141;p16"/>
          <p:cNvSpPr txBox="1"/>
          <p:nvPr/>
        </p:nvSpPr>
        <p:spPr>
          <a:xfrm>
            <a:off x="323850" y="9858375"/>
            <a:ext cx="8493992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en-US" sz="2000" u="none" cap="none" strike="noStrik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© Copyright 2026, ZaranTech LLC. All rights reserved.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2" name="Google Shape;142;p16"/>
          <p:cNvSpPr/>
          <p:nvPr/>
        </p:nvSpPr>
        <p:spPr>
          <a:xfrm>
            <a:off x="502391" y="1581072"/>
            <a:ext cx="2514527" cy="45727"/>
          </a:xfrm>
          <a:custGeom>
            <a:rect b="b" l="l" r="r" t="t"/>
            <a:pathLst>
              <a:path extrusionOk="0" h="37252" w="7450450">
                <a:moveTo>
                  <a:pt x="0" y="0"/>
                </a:moveTo>
                <a:lnTo>
                  <a:pt x="7450450" y="0"/>
                </a:lnTo>
                <a:lnTo>
                  <a:pt x="7450450" y="37252"/>
                </a:lnTo>
                <a:lnTo>
                  <a:pt x="0" y="3725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</p:sp>
      <p:sp>
        <p:nvSpPr>
          <p:cNvPr id="143" name="Google Shape;143;p16"/>
          <p:cNvSpPr txBox="1"/>
          <p:nvPr/>
        </p:nvSpPr>
        <p:spPr>
          <a:xfrm>
            <a:off x="502391" y="2249498"/>
            <a:ext cx="10151095" cy="321318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381000" lvl="0" marL="4572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pen Sans"/>
              <a:buChar char="●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Attaching a repository in the Claude app syncs file contents as reading material.</a:t>
            </a:r>
            <a:endParaRPr/>
          </a:p>
          <a:p>
            <a:pPr indent="-381000" lvl="0" marL="4572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pen Sans"/>
              <a:buChar char="●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That is context. Claude can read and reason about it, and nothing more.</a:t>
            </a:r>
            <a:endParaRPr/>
          </a:p>
          <a:p>
            <a:pPr indent="-381000" lvl="0" marL="4572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pen Sans"/>
              <a:buChar char="●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It grants no commit access, no pull requests and no commit history.</a:t>
            </a:r>
            <a:endParaRPr/>
          </a:p>
          <a:p>
            <a:pPr indent="-381000" lvl="0" marL="4572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pen Sans"/>
              <a:buChar char="●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Claude Code is what operates on a repository: it edits files and runs commands.</a:t>
            </a:r>
            <a:endParaRPr/>
          </a:p>
          <a:p>
            <a:pPr indent="-381000" lvl="0" marL="457200" marR="0" rtl="0"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Open Sans"/>
              <a:buChar char="●"/>
            </a:pPr>
            <a:r>
              <a:rPr b="0" i="0" lang="en-US" sz="2400" u="none" cap="none" strike="noStrik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If you need something changed on disk, you need the workspace, not the context.</a:t>
            </a:r>
            <a:endParaRPr/>
          </a:p>
        </p:txBody>
      </p:sp>
      <p:grpSp>
        <p:nvGrpSpPr>
          <p:cNvPr id="144" name="Google Shape;144;p16"/>
          <p:cNvGrpSpPr/>
          <p:nvPr/>
        </p:nvGrpSpPr>
        <p:grpSpPr>
          <a:xfrm>
            <a:off x="11453601" y="1163622"/>
            <a:ext cx="4454583" cy="4774001"/>
            <a:chOff x="11453601" y="1626799"/>
            <a:chExt cx="4454583" cy="4774001"/>
          </a:xfrm>
        </p:grpSpPr>
        <p:pic>
          <p:nvPicPr>
            <p:cNvPr id="145" name="Google Shape;145;p16"/>
            <p:cNvPicPr preferRelativeResize="0"/>
            <p:nvPr/>
          </p:nvPicPr>
          <p:blipFill rotWithShape="1">
            <a:blip r:embed="rId5">
              <a:alphaModFix/>
            </a:blip>
            <a:srcRect b="0" l="0" r="0" t="0"/>
            <a:stretch/>
          </p:blipFill>
          <p:spPr>
            <a:xfrm>
              <a:off x="11453601" y="1626799"/>
              <a:ext cx="4454583" cy="4774001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46" name="Google Shape;146;p16"/>
            <p:cNvSpPr/>
            <p:nvPr/>
          </p:nvSpPr>
          <p:spPr>
            <a:xfrm>
              <a:off x="11466286" y="1626799"/>
              <a:ext cx="812800" cy="896503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