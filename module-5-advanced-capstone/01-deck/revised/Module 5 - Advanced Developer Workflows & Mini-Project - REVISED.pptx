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80" r:id="rId3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81" r:id="rId39"/>
    <p:sldId id="277" r:id="rId27"/>
    <p:sldId id="278" r:id="rId28"/>
    <p:sldId id="279" r:id="rId29"/>
  </p:sldIdLst>
  <p:sldSz cy="10287000" cx="18288000"/>
  <p:notesSz cx="6858000" cy="9144000"/>
  <p:embeddedFontLst>
    <p:embeddedFont>
      <p:font typeface="Lato"/>
      <p:regular r:id="rId30"/>
      <p:bold r:id="rId31"/>
      <p:italic r:id="rId32"/>
      <p:boldItalic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font" Target="fonts/Lato-regular.fntdata"/><Relationship Id="rId31" Type="http://schemas.openxmlformats.org/officeDocument/2006/relationships/font" Target="fonts/Lato-bold.fntdata"/><Relationship Id="rId32" Type="http://schemas.openxmlformats.org/officeDocument/2006/relationships/font" Target="fonts/Lato-italic.fntdata"/><Relationship Id="rId33" Type="http://schemas.openxmlformats.org/officeDocument/2006/relationships/font" Target="fonts/Lato-boldItalic.fntdata"/><Relationship Id="rId34" Type="http://schemas.openxmlformats.org/officeDocument/2006/relationships/font" Target="fonts/OpenSans-regular.fntdata"/><Relationship Id="rId35" Type="http://schemas.openxmlformats.org/officeDocument/2006/relationships/font" Target="fonts/OpenSans-bold.fntdata"/><Relationship Id="rId36" Type="http://schemas.openxmlformats.org/officeDocument/2006/relationships/font" Target="fonts/OpenSans-italic.fntdata"/><Relationship Id="rId37" Type="http://schemas.openxmlformats.org/officeDocument/2006/relationships/font" Target="fonts/OpenSans-boldItalic.fntdata"/><Relationship Id="rId38" Type="http://schemas.openxmlformats.org/officeDocument/2006/relationships/slide" Target="slides/slide25.xml"/><Relationship Id="rId39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2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2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2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3" name="Google Shape;38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2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2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9" name="Google Shape;19;p2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0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0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3"/>
          <p:cNvGrpSpPr/>
          <p:nvPr/>
        </p:nvGrpSpPr>
        <p:grpSpPr>
          <a:xfrm>
            <a:off x="-448267" y="0"/>
            <a:ext cx="19123574" cy="10605878"/>
            <a:chOff x="0" y="0"/>
            <a:chExt cx="24451818" cy="13783818"/>
          </a:xfrm>
        </p:grpSpPr>
        <p:sp>
          <p:nvSpPr>
            <p:cNvPr id="93" name="Google Shape;93;p13"/>
            <p:cNvSpPr/>
            <p:nvPr/>
          </p:nvSpPr>
          <p:spPr>
            <a:xfrm>
              <a:off x="33909" y="33909"/>
              <a:ext cx="24384001" cy="13716001"/>
            </a:xfrm>
            <a:custGeom>
              <a:rect b="b" l="l" r="r" t="t"/>
              <a:pathLst>
                <a:path extrusionOk="0"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94" name="Google Shape;94;p13"/>
            <p:cNvSpPr/>
            <p:nvPr/>
          </p:nvSpPr>
          <p:spPr>
            <a:xfrm>
              <a:off x="0" y="0"/>
              <a:ext cx="24451818" cy="13783818"/>
            </a:xfrm>
            <a:custGeom>
              <a:rect b="b" l="l" r="r" t="t"/>
              <a:pathLst>
                <a:path extrusionOk="0" h="13783818" w="24451818">
                  <a:moveTo>
                    <a:pt x="33909" y="0"/>
                  </a:moveTo>
                  <a:lnTo>
                    <a:pt x="24417910" y="0"/>
                  </a:lnTo>
                  <a:cubicBezTo>
                    <a:pt x="24436578" y="0"/>
                    <a:pt x="24451818" y="15113"/>
                    <a:pt x="24451818" y="33909"/>
                  </a:cubicBezTo>
                  <a:lnTo>
                    <a:pt x="24451818" y="13749910"/>
                  </a:lnTo>
                  <a:cubicBezTo>
                    <a:pt x="24451818" y="13768578"/>
                    <a:pt x="24436705" y="13783818"/>
                    <a:pt x="24417910" y="13783818"/>
                  </a:cubicBezTo>
                  <a:lnTo>
                    <a:pt x="33909" y="13783818"/>
                  </a:lnTo>
                  <a:cubicBezTo>
                    <a:pt x="15240" y="13783818"/>
                    <a:pt x="0" y="13768705"/>
                    <a:pt x="0" y="13749910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3749910"/>
                  </a:lnTo>
                  <a:lnTo>
                    <a:pt x="33909" y="13749910"/>
                  </a:lnTo>
                  <a:lnTo>
                    <a:pt x="33909" y="13716000"/>
                  </a:lnTo>
                  <a:lnTo>
                    <a:pt x="24417910" y="13716000"/>
                  </a:lnTo>
                  <a:lnTo>
                    <a:pt x="24417910" y="13749910"/>
                  </a:lnTo>
                  <a:lnTo>
                    <a:pt x="24384000" y="13749910"/>
                  </a:lnTo>
                  <a:lnTo>
                    <a:pt x="24384000" y="33909"/>
                  </a:lnTo>
                  <a:lnTo>
                    <a:pt x="24417910" y="33909"/>
                  </a:lnTo>
                  <a:lnTo>
                    <a:pt x="244179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F24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Google Shape;95;p13"/>
          <p:cNvGrpSpPr/>
          <p:nvPr/>
        </p:nvGrpSpPr>
        <p:grpSpPr>
          <a:xfrm>
            <a:off x="9395642" y="3246048"/>
            <a:ext cx="8618618" cy="3397792"/>
            <a:chOff x="9645115" y="130296"/>
            <a:chExt cx="8754820" cy="3397792"/>
          </a:xfrm>
        </p:grpSpPr>
        <p:sp>
          <p:nvSpPr>
            <p:cNvPr id="96" name="Google Shape;96;p13"/>
            <p:cNvSpPr txBox="1"/>
            <p:nvPr/>
          </p:nvSpPr>
          <p:spPr>
            <a:xfrm>
              <a:off x="9645115" y="130296"/>
              <a:ext cx="8754820" cy="2862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00"/>
                <a:buFont typeface="Arial"/>
                <a:buNone/>
              </a:pPr>
              <a:r>
                <a:rPr b="1" i="0" lang="en-US" sz="6200" u="none" cap="none" strike="noStrike">
                  <a:solidFill>
                    <a:srgbClr val="FFC000"/>
                  </a:solidFill>
                  <a:latin typeface="Open Sans"/>
                  <a:ea typeface="Open Sans"/>
                  <a:cs typeface="Open Sans"/>
                  <a:sym typeface="Open Sans"/>
                </a:rPr>
                <a:t>Advanced Developer Workflows &amp; Mini-Project</a:t>
              </a:r>
              <a:endParaRPr b="1" i="0" sz="6200" u="none" cap="none" strike="noStrike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97" name="Google Shape;97;p13"/>
            <p:cNvGrpSpPr/>
            <p:nvPr/>
          </p:nvGrpSpPr>
          <p:grpSpPr>
            <a:xfrm>
              <a:off x="9729879" y="3114482"/>
              <a:ext cx="3735772" cy="413606"/>
              <a:chOff x="9870618" y="3713509"/>
              <a:chExt cx="3735772" cy="413606"/>
            </a:xfrm>
          </p:grpSpPr>
          <p:sp>
            <p:nvSpPr>
              <p:cNvPr id="98" name="Google Shape;98;p13"/>
              <p:cNvSpPr txBox="1"/>
              <p:nvPr/>
            </p:nvSpPr>
            <p:spPr>
              <a:xfrm>
                <a:off x="10410190" y="3713509"/>
                <a:ext cx="31962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995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www.zarantech.com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9870618" y="3727157"/>
                <a:ext cx="381880" cy="399958"/>
              </a:xfrm>
              <a:custGeom>
                <a:rect b="b" l="l" r="r" t="t"/>
                <a:pathLst>
                  <a:path extrusionOk="0" h="399958" w="381880">
                    <a:moveTo>
                      <a:pt x="0" y="0"/>
                    </a:moveTo>
                    <a:lnTo>
                      <a:pt x="381880" y="0"/>
                    </a:lnTo>
                    <a:lnTo>
                      <a:pt x="381880" y="399958"/>
                    </a:lnTo>
                    <a:lnTo>
                      <a:pt x="0" y="399958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1">
                <a:blip r:embed="rId3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</p:sp>
        </p:grpSp>
      </p:grpSp>
      <p:sp>
        <p:nvSpPr>
          <p:cNvPr id="100" name="Google Shape;100;p13"/>
          <p:cNvSpPr/>
          <p:nvPr/>
        </p:nvSpPr>
        <p:spPr>
          <a:xfrm>
            <a:off x="15775388" y="330356"/>
            <a:ext cx="2238872" cy="461178"/>
          </a:xfrm>
          <a:custGeom>
            <a:rect b="b" l="l" r="r" t="t"/>
            <a:pathLst>
              <a:path extrusionOk="0" h="461178" w="2238872">
                <a:moveTo>
                  <a:pt x="0" y="0"/>
                </a:moveTo>
                <a:lnTo>
                  <a:pt x="2238872" y="0"/>
                </a:lnTo>
                <a:lnTo>
                  <a:pt x="2238872" y="461178"/>
                </a:lnTo>
                <a:lnTo>
                  <a:pt x="0" y="461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3"/>
          <p:cNvSpPr txBox="1"/>
          <p:nvPr/>
        </p:nvSpPr>
        <p:spPr>
          <a:xfrm>
            <a:off x="9702583" y="97705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3"/>
          <p:cNvPicPr preferRelativeResize="0"/>
          <p:nvPr/>
        </p:nvPicPr>
        <p:blipFill rotWithShape="1">
          <a:blip r:embed="rId5">
            <a:alphaModFix/>
          </a:blip>
          <a:srcRect b="0" l="0" r="41821" t="0"/>
          <a:stretch/>
        </p:blipFill>
        <p:spPr>
          <a:xfrm>
            <a:off x="-508831" y="-1"/>
            <a:ext cx="9255542" cy="10605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/>
          <p:nvPr/>
        </p:nvSpPr>
        <p:spPr>
          <a:xfrm>
            <a:off x="9144000" y="583020"/>
            <a:ext cx="9448800" cy="9710538"/>
          </a:xfrm>
          <a:custGeom>
            <a:rect b="b" l="l" r="r" t="t"/>
            <a:pathLst>
              <a:path extrusionOk="0" h="12689306" w="12689306">
                <a:moveTo>
                  <a:pt x="0" y="0"/>
                </a:moveTo>
                <a:lnTo>
                  <a:pt x="12689306" y="0"/>
                </a:lnTo>
                <a:lnTo>
                  <a:pt x="12689306" y="12689306"/>
                </a:lnTo>
                <a:lnTo>
                  <a:pt x="0" y="12689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428" l="-22357" r="-16672" t="-15062"/>
            </a:stretch>
          </a:blipFill>
          <a:ln>
            <a:noFill/>
          </a:ln>
        </p:spPr>
      </p:sp>
      <p:grpSp>
        <p:nvGrpSpPr>
          <p:cNvPr id="110" name="Google Shape;110;p14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11" name="Google Shape;111;p14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14"/>
          <p:cNvSpPr txBox="1"/>
          <p:nvPr/>
        </p:nvSpPr>
        <p:spPr>
          <a:xfrm>
            <a:off x="502391" y="404547"/>
            <a:ext cx="14900900" cy="1055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Disclaimer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323850" y="1460370"/>
            <a:ext cx="8820150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presentation, including examples, images, and references are provided for informational purposes only.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Complying with all applicable copyrights laws is the responsibility of the user.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Without limiting the rights under copyright, no part of this document may be  reproduced, stored or introduced into a retrieval system, or transmitted in any form or by any means.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Credits shall be given to the images taken from the open-source and cannot be used for promotional activities.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58" t="0"/>
            </a:stretch>
          </a:blipFill>
          <a:ln>
            <a:noFill/>
          </a:ln>
        </p:spPr>
      </p:sp>
      <p:sp>
        <p:nvSpPr>
          <p:cNvPr id="116" name="Google Shape;116;p1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17114219" y="9163493"/>
            <a:ext cx="34324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24" name="Google Shape;124;p15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15"/>
          <p:cNvSpPr txBox="1"/>
          <p:nvPr/>
        </p:nvSpPr>
        <p:spPr>
          <a:xfrm>
            <a:off x="502391" y="404547"/>
            <a:ext cx="14900900" cy="1055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502391" y="2066255"/>
            <a:ext cx="10209152" cy="5318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Master system planning and design using Claude as your thought partner.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Create technical specifications and generate sequence diagrams from text descriptions.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Integrate Claude into daily tooling for version control and infrastructure management.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Complete a capstone project demonstrating robust prompt design and API integration.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10893284" y="-38176"/>
            <a:ext cx="7187978" cy="10325176"/>
          </a:xfrm>
          <a:custGeom>
            <a:rect b="b" l="l" r="r" t="t"/>
            <a:pathLst>
              <a:path extrusionOk="0" h="10325176" w="7187978">
                <a:moveTo>
                  <a:pt x="0" y="0"/>
                </a:moveTo>
                <a:lnTo>
                  <a:pt x="7187978" y="0"/>
                </a:lnTo>
                <a:lnTo>
                  <a:pt x="7187978" y="10325176"/>
                </a:lnTo>
                <a:lnTo>
                  <a:pt x="0" y="10325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58" t="0"/>
            </a:stretch>
          </a:blipFill>
          <a:ln>
            <a:noFill/>
          </a:ln>
        </p:spPr>
      </p:sp>
      <p:sp>
        <p:nvSpPr>
          <p:cNvPr id="130" name="Google Shape;130;p1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02391" y="1458435"/>
            <a:ext cx="2507429" cy="45719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5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Planning and Design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Treat Claude as a pair architect to brainstorm scalable system architecture.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Describe business logic and let Claude propose optimal microservices design patterns.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Validate database schema decisions by asking Claude for bottleneck analysis.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Refine architectural drafts through an iterative dialogue to ensure best practices.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Writing Technical Specifications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17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53" name="Google Shape;153;p17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7"/>
          <p:cNvSpPr txBox="1"/>
          <p:nvPr/>
        </p:nvSpPr>
        <p:spPr>
          <a:xfrm>
            <a:off x="502391" y="2170292"/>
            <a:ext cx="10180123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Transform project ideas into comprehensive technical specification documents within minutes.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Outline endpoints and let Claude generate standard OpenAPI specification formats easily.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Define system constraints to receive non-functional requirements for your application.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Standardize team documentation formats by applying custom prompt templates during generation.</a:t>
            </a:r>
            <a:endParaRPr/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74796" y="2436433"/>
            <a:ext cx="6419850" cy="42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Generating Sequence Diagrams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18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65" name="Google Shape;165;p18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7" name="Google Shape;167;p18"/>
          <p:cNvGrpSpPr/>
          <p:nvPr/>
        </p:nvGrpSpPr>
        <p:grpSpPr>
          <a:xfrm>
            <a:off x="1476591" y="1975437"/>
            <a:ext cx="14858611" cy="1382806"/>
            <a:chOff x="2292567" y="3922998"/>
            <a:chExt cx="13991635" cy="1583760"/>
          </a:xfrm>
        </p:grpSpPr>
        <p:sp>
          <p:nvSpPr>
            <p:cNvPr id="168" name="Google Shape;168;p18"/>
            <p:cNvSpPr/>
            <p:nvPr/>
          </p:nvSpPr>
          <p:spPr>
            <a:xfrm>
              <a:off x="2292567" y="3922998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2458402" y="4075398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Describe system interactions in text to generate accurate Mermaid sequence diagrams.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0" name="Google Shape;170;p18"/>
          <p:cNvGrpSpPr/>
          <p:nvPr/>
        </p:nvGrpSpPr>
        <p:grpSpPr>
          <a:xfrm>
            <a:off x="1476592" y="3905834"/>
            <a:ext cx="14858611" cy="1382806"/>
            <a:chOff x="2292567" y="7564986"/>
            <a:chExt cx="13991635" cy="1583760"/>
          </a:xfrm>
        </p:grpSpPr>
        <p:sp>
          <p:nvSpPr>
            <p:cNvPr id="171" name="Google Shape;171;p18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Visualize asynchronous messaging workflows between microservices using simple text prompts.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3" name="Google Shape;173;p18"/>
          <p:cNvGrpSpPr/>
          <p:nvPr/>
        </p:nvGrpSpPr>
        <p:grpSpPr>
          <a:xfrm>
            <a:off x="1476591" y="7766627"/>
            <a:ext cx="14858611" cy="1382806"/>
            <a:chOff x="2292567" y="7564986"/>
            <a:chExt cx="13991635" cy="1583760"/>
          </a:xfrm>
        </p:grpSpPr>
        <p:sp>
          <p:nvSpPr>
            <p:cNvPr id="174" name="Google Shape;174;p18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Export generated diagram code into your markdown documentation for seamless sharing.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6" name="Google Shape;176;p18"/>
          <p:cNvGrpSpPr/>
          <p:nvPr/>
        </p:nvGrpSpPr>
        <p:grpSpPr>
          <a:xfrm>
            <a:off x="1476591" y="5836231"/>
            <a:ext cx="14858611" cy="1382806"/>
            <a:chOff x="2292567" y="7564986"/>
            <a:chExt cx="13991635" cy="1583760"/>
          </a:xfrm>
        </p:grpSpPr>
        <p:sp>
          <p:nvSpPr>
            <p:cNvPr id="177" name="Google Shape;177;p18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8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Update existing diagrams quickly by instructing Claude to add new components.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/>
        </p:nvSpPr>
        <p:spPr>
          <a:xfrm>
            <a:off x="502391" y="637523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Creating Task Breakdowns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19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87" name="Google Shape;187;p19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19"/>
          <p:cNvSpPr/>
          <p:nvPr/>
        </p:nvSpPr>
        <p:spPr>
          <a:xfrm>
            <a:off x="1806612" y="3952185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Identify critical path dependencies early by asking Claude to sequence steps.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1806612" y="2029152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Input technical specs to receive structured, logical development task breakdowns.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1806612" y="5875218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Break monolithic features into smaller tickets suitable for agile sprint cycles.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1806612" y="7798251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Estimate development complexity for each task using previously provided historical context.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Building Agile Backlogs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0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01" name="Google Shape;201;p20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20"/>
          <p:cNvSpPr txBox="1"/>
          <p:nvPr/>
        </p:nvSpPr>
        <p:spPr>
          <a:xfrm>
            <a:off x="477775" y="2104355"/>
            <a:ext cx="17019300" cy="214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Convert high-level business requirements directly into detailed product backlog items.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Generate clear user stories formatted with standard acceptance criteria for developers.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Prioritize your backlog logically by asking Claude to analyze business metrics.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comprehensive feature coverage by having Claude identify missing edge cases.</a:t>
            </a:r>
            <a:endParaRPr/>
          </a:p>
        </p:txBody>
      </p:sp>
      <p:pic>
        <p:nvPicPr>
          <p:cNvPr id="204" name="Google Shape;20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5904" y="4576522"/>
            <a:ext cx="6433773" cy="457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Defining Sprint Tasks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21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13" name="Google Shape;213;p21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21"/>
          <p:cNvSpPr/>
          <p:nvPr/>
        </p:nvSpPr>
        <p:spPr>
          <a:xfrm>
            <a:off x="1826673" y="2301955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Translate accepted user stories into technical tasks for immediate sprint execution.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8763689" y="2363023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Define exact input and output parameters for every backend API task.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4244960" y="5927086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Draft initial unit test scenarios corresponding to each individual sprint task.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11013036" y="5927086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Allocate appropriate story points based on technical complexity assessed by Claude.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Integrations and Tooling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5" name="Google Shape;225;p22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27" name="Google Shape;227;p22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22"/>
          <p:cNvSpPr txBox="1"/>
          <p:nvPr/>
        </p:nvSpPr>
        <p:spPr>
          <a:xfrm>
            <a:off x="502391" y="2294510"/>
            <a:ext cx="11278129" cy="3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Enhance daily productivity by integrating Claude directly within your code editors.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Leverage IDE extensions for contextual code suggestions without switching application windows.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Highlight complex code blocks and ask Claude to explain underlying logic.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Generate boilerplate code and test structures directly inside your development environment.</a:t>
            </a:r>
            <a:endParaRPr/>
          </a:p>
        </p:txBody>
      </p:sp>
      <p:pic>
        <p:nvPicPr>
          <p:cNvPr id="230" name="Google Shape;23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51071" y="1787619"/>
            <a:ext cx="5743575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Streamlining Git Workflows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23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39" name="Google Shape;239;p23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23"/>
          <p:cNvSpPr txBox="1"/>
          <p:nvPr/>
        </p:nvSpPr>
        <p:spPr>
          <a:xfrm>
            <a:off x="7702321" y="2890833"/>
            <a:ext cx="9220870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Summarize complex code changes automatically to generate meaningful commit messages.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Draft pull request descriptions explaining the technical rationale behind recent changes.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Analyze code diffs quickly to identify potential logic conflicts before merging.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Standardize your team commit history by applying strict format rules.</a:t>
            </a:r>
            <a:endParaRPr/>
          </a:p>
        </p:txBody>
      </p:sp>
      <p:pic>
        <p:nvPicPr>
          <p:cNvPr id="242" name="Google Shape;24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200214"/>
            <a:ext cx="6038677" cy="4974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CI/CD Integration for Documentation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p24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51" name="Google Shape;251;p2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24"/>
          <p:cNvSpPr txBox="1"/>
          <p:nvPr/>
        </p:nvSpPr>
        <p:spPr>
          <a:xfrm>
            <a:off x="502391" y="2275022"/>
            <a:ext cx="1063910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Call the API from a non-interactive script in the pipeline. CI has no terminal to prompt.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Generate dynamic release notes automatically based on merged pull requests.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updated functions contain accurate docstrings before reaching production servers.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Maintain synchronized architectural documentation automatically when structural changes are merged.</a:t>
            </a:r>
            <a:endParaRPr/>
          </a:p>
        </p:txBody>
      </p:sp>
      <p:pic>
        <p:nvPicPr>
          <p:cNvPr id="254" name="Google Shape;25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03471" y="2358747"/>
            <a:ext cx="5591175" cy="4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CI/CD Automated Checks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1" name="Google Shape;261;p25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63" name="Google Shape;263;p2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25"/>
          <p:cNvSpPr txBox="1"/>
          <p:nvPr/>
        </p:nvSpPr>
        <p:spPr>
          <a:xfrm>
            <a:off x="6858915" y="2593571"/>
            <a:ext cx="9999267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intelligent static analysis checks to review code style during execution.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Utilize Claude to flag potential security vulnerabilities before staging deployments.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Suggest automated remediation steps for failed builds directly in pipeline logs.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Reduce manual code review time by prioritizing critical issues highlighted.</a:t>
            </a:r>
            <a:endParaRPr/>
          </a:p>
        </p:txBody>
      </p:sp>
      <p:pic>
        <p:nvPicPr>
          <p:cNvPr id="266" name="Google Shape;26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173715"/>
            <a:ext cx="5410200" cy="486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Generating Migration Scripts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2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2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75" name="Google Shape;275;p2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p26"/>
          <p:cNvSpPr/>
          <p:nvPr/>
        </p:nvSpPr>
        <p:spPr>
          <a:xfrm>
            <a:off x="1614186" y="2128708"/>
            <a:ext cx="5409764" cy="2769083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Describe schema changes to generate database migration scripts automatically using Claude.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8709878" y="2128708"/>
            <a:ext cx="5409764" cy="2769083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Validate generated migration code against best practices to prevent data loss.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3821187" y="5711082"/>
            <a:ext cx="5409764" cy="2769083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Create complex data transformation logic across formats without manual coding efforts.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10860408" y="5711081"/>
            <a:ext cx="5409764" cy="2769083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Draft safe rollback scripts simultaneously to ensure zero downtime during failures.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DevOps and Infrastructure as Code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7" name="Google Shape;287;p27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" name="Google Shape;288;p27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89" name="Google Shape;289;p27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7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27"/>
          <p:cNvSpPr txBox="1"/>
          <p:nvPr/>
        </p:nvSpPr>
        <p:spPr>
          <a:xfrm>
            <a:off x="502391" y="2167708"/>
            <a:ext cx="1006400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Formulate robust Terraform configurations from simple text descriptions of cloud architecture.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Generate Dockerfiles tailored specifically to your application dependencies and runtime requirements.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Create resilient Kubernetes deployment manifests without consulting extensive external reference documentation.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Optimize cloud infrastructure by asking Claude to identify potential cost-saving configurations.</a:t>
            </a:r>
            <a:endParaRPr/>
          </a:p>
        </p:txBody>
      </p:sp>
      <p:pic>
        <p:nvPicPr>
          <p:cNvPr id="292" name="Google Shape;29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71200" y="2167708"/>
            <a:ext cx="6168572" cy="4687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Capstone Mini-Project Overview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9" name="Google Shape;299;p28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" name="Google Shape;300;p28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01" name="Google Shape;301;p28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28"/>
          <p:cNvSpPr txBox="1"/>
          <p:nvPr/>
        </p:nvSpPr>
        <p:spPr>
          <a:xfrm>
            <a:off x="7208538" y="2394825"/>
            <a:ext cx="1033703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Build one small service: a summarise endpoint and a health endpoint. That is the whole scope.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Experience a complete development lifecycle utilizing Claude as your coding assistant.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Your brief was issued at the end of Module 4. A skeleton project is provided.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You are graded on prompt design and failure handling, not on feature count.</a:t>
            </a:r>
            <a:endParaRPr/>
          </a:p>
        </p:txBody>
      </p:sp>
      <p:pic>
        <p:nvPicPr>
          <p:cNvPr id="304" name="Google Shape;30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289411"/>
            <a:ext cx="6162675" cy="44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9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Capstone Phase 1 - Prompt Design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1" name="Google Shape;311;p29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2" name="Google Shape;312;p29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13" name="Google Shape;313;p29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5" name="Google Shape;315;p29"/>
          <p:cNvSpPr/>
          <p:nvPr/>
        </p:nvSpPr>
        <p:spPr>
          <a:xfrm>
            <a:off x="809580" y="1926001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Craft robust system prompts to establish consistent personas and boundaries.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809580" y="3819476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Utilize zero-shot and few-shot prompting to guide accurate code generation.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809580" y="5712951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context window management strategies to maintain state across complex tasks.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809580" y="7606426"/>
            <a:ext cx="16668686" cy="119538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Iteratively refine instructional prompts to reduce hallucination and ensure predictable outputs.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Capstone Phase 2 - API Integration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6" name="Google Shape;326;p30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27" name="Google Shape;327;p30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0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p30"/>
          <p:cNvSpPr txBox="1"/>
          <p:nvPr/>
        </p:nvSpPr>
        <p:spPr>
          <a:xfrm>
            <a:off x="502391" y="2234258"/>
            <a:ext cx="9686638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Connect your application backend securely to the required external programming interfaces.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Handle rate limits and connection timeouts gracefully using exponential backoff logic.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Securely manage authentication tokens and credentials using environment variable best practices.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Process unstructured textual responses into standardized JSON formats for predictable rendering.</a:t>
            </a:r>
            <a:endParaRPr/>
          </a:p>
        </p:txBody>
      </p:sp>
      <p:pic>
        <p:nvPicPr>
          <p:cNvPr id="330" name="Google Shape;33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4771" y="2179258"/>
            <a:ext cx="6619875" cy="47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1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Capstone Phase 3 - Testing the Application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7" name="Google Shape;337;p31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39" name="Google Shape;339;p31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1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1" name="Google Shape;341;p31"/>
          <p:cNvSpPr/>
          <p:nvPr/>
        </p:nvSpPr>
        <p:spPr>
          <a:xfrm>
            <a:off x="1581842" y="2362438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Prompt Claude to generate comprehensive unit tests covering all business logic.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2" name="Google Shape;342;p31"/>
          <p:cNvSpPr/>
          <p:nvPr/>
        </p:nvSpPr>
        <p:spPr>
          <a:xfrm>
            <a:off x="8329554" y="2362438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Design mocked API responses to simulate network errors and edge cases.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3" name="Google Shape;343;p31"/>
          <p:cNvSpPr/>
          <p:nvPr/>
        </p:nvSpPr>
        <p:spPr>
          <a:xfrm>
            <a:off x="4288513" y="6029072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Validate end-to-end user workflows using automated integration tests generated by AI.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4" name="Google Shape;344;p31"/>
          <p:cNvSpPr/>
          <p:nvPr/>
        </p:nvSpPr>
        <p:spPr>
          <a:xfrm>
            <a:off x="11210136" y="6029072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Measure code coverage automatically and address missing test cases via prompts.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2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Evaluation Criteria - Correctness &amp; Robustness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" name="Google Shape;351;p32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2" name="Google Shape;352;p32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53" name="Google Shape;353;p32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2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32"/>
          <p:cNvSpPr txBox="1"/>
          <p:nvPr/>
        </p:nvSpPr>
        <p:spPr>
          <a:xfrm>
            <a:off x="7099267" y="2135613"/>
            <a:ext cx="1019537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service runs, both endpoints respond, and invalid input returns a clear error.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generated code compiles successfully and executes without unexpected runtime exceptions.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Validate the system handles erroneous inputs securely without exposing sensitive data.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Missing key, empty input, oversized payload and upstream failure each fail cleanly.</a:t>
            </a:r>
            <a:endParaRPr/>
          </a:p>
        </p:txBody>
      </p:sp>
      <p:pic>
        <p:nvPicPr>
          <p:cNvPr id="356" name="Google Shape;35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135613"/>
            <a:ext cx="5953125" cy="42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3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Evaluation Criteria - Clarity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3" name="Google Shape;363;p33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p33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65" name="Google Shape;365;p33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7" name="Google Shape;367;p33"/>
          <p:cNvSpPr txBox="1"/>
          <p:nvPr/>
        </p:nvSpPr>
        <p:spPr>
          <a:xfrm>
            <a:off x="502391" y="2039948"/>
            <a:ext cx="9918866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code remains readable, modular, and follows standard language styling conventions.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Maintain clear inline documentation explaining complex logic and specific design choices.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Structure your project directories logically to enable intuitive navigation for developers.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Provide an extensive readme file outlining complete setup and deployment instructions.</a:t>
            </a:r>
            <a:endParaRPr/>
          </a:p>
        </p:txBody>
      </p:sp>
      <p:pic>
        <p:nvPicPr>
          <p:cNvPr id="368" name="Google Shape;36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38767" y="1902788"/>
            <a:ext cx="6124575" cy="471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4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Evaluation Criteria - Responsible Practices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5" name="Google Shape;375;p34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6" name="Google Shape;376;p3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77" name="Google Shape;377;p3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4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9" name="Google Shape;379;p34"/>
          <p:cNvSpPr txBox="1"/>
          <p:nvPr/>
        </p:nvSpPr>
        <p:spPr>
          <a:xfrm>
            <a:off x="7099267" y="2135613"/>
            <a:ext cx="1019537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Demonstrate safe prompt engineering by sanitizing user inputs before API calls.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ethical safeguards preventing applications from generating harmful or biased content.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Securely protect user privacy by anonymizing personal data before cloud processing.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Document transparent AI usage guidelines clearly within your final project repository.</a:t>
            </a:r>
            <a:endParaRPr/>
          </a:p>
        </p:txBody>
      </p:sp>
      <p:pic>
        <p:nvPicPr>
          <p:cNvPr id="380" name="Google Shape;38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0404" y="1925063"/>
            <a:ext cx="5429250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5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5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8" name="Google Shape;388;p3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89" name="Google Shape;389;p3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5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1" name="Google Shape;391;p35"/>
          <p:cNvSpPr txBox="1"/>
          <p:nvPr/>
        </p:nvSpPr>
        <p:spPr>
          <a:xfrm>
            <a:off x="502391" y="2227530"/>
            <a:ext cx="981508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Leveraged Claude as a collaborative pair architect to plan complex systems.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Integrated AI seamlessly into daily tooling spanning code editors and pipelines.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Automated infrastructure tasks like generating migration scripts and terraform deployment files.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Validated practical skills by deploying a robust, fully tested capstone application.</a:t>
            </a:r>
            <a:endParaRPr/>
          </a:p>
        </p:txBody>
      </p:sp>
      <p:pic>
        <p:nvPicPr>
          <p:cNvPr id="392" name="Google Shape;392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14064" y="2272761"/>
            <a:ext cx="5649278" cy="4193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36"/>
          <p:cNvGrpSpPr/>
          <p:nvPr/>
        </p:nvGrpSpPr>
        <p:grpSpPr>
          <a:xfrm>
            <a:off x="-378374" y="-159439"/>
            <a:ext cx="19123574" cy="10605878"/>
            <a:chOff x="0" y="0"/>
            <a:chExt cx="24451818" cy="13783818"/>
          </a:xfrm>
        </p:grpSpPr>
        <p:sp>
          <p:nvSpPr>
            <p:cNvPr id="399" name="Google Shape;399;p36"/>
            <p:cNvSpPr/>
            <p:nvPr/>
          </p:nvSpPr>
          <p:spPr>
            <a:xfrm>
              <a:off x="33909" y="33909"/>
              <a:ext cx="24384001" cy="13716001"/>
            </a:xfrm>
            <a:custGeom>
              <a:rect b="b" l="l" r="r" t="t"/>
              <a:pathLst>
                <a:path extrusionOk="0"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400" name="Google Shape;400;p36"/>
            <p:cNvSpPr/>
            <p:nvPr/>
          </p:nvSpPr>
          <p:spPr>
            <a:xfrm>
              <a:off x="0" y="0"/>
              <a:ext cx="24451818" cy="13783818"/>
            </a:xfrm>
            <a:custGeom>
              <a:rect b="b" l="l" r="r" t="t"/>
              <a:pathLst>
                <a:path extrusionOk="0" h="13783818" w="24451818">
                  <a:moveTo>
                    <a:pt x="33909" y="0"/>
                  </a:moveTo>
                  <a:lnTo>
                    <a:pt x="24417910" y="0"/>
                  </a:lnTo>
                  <a:cubicBezTo>
                    <a:pt x="24436578" y="0"/>
                    <a:pt x="24451818" y="15113"/>
                    <a:pt x="24451818" y="33909"/>
                  </a:cubicBezTo>
                  <a:lnTo>
                    <a:pt x="24451818" y="13749910"/>
                  </a:lnTo>
                  <a:cubicBezTo>
                    <a:pt x="24451818" y="13768578"/>
                    <a:pt x="24436705" y="13783818"/>
                    <a:pt x="24417910" y="13783818"/>
                  </a:cubicBezTo>
                  <a:lnTo>
                    <a:pt x="33909" y="13783818"/>
                  </a:lnTo>
                  <a:cubicBezTo>
                    <a:pt x="15240" y="13783818"/>
                    <a:pt x="0" y="13768705"/>
                    <a:pt x="0" y="13749910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3749910"/>
                  </a:lnTo>
                  <a:lnTo>
                    <a:pt x="33909" y="13749910"/>
                  </a:lnTo>
                  <a:lnTo>
                    <a:pt x="33909" y="13716000"/>
                  </a:lnTo>
                  <a:lnTo>
                    <a:pt x="24417910" y="13716000"/>
                  </a:lnTo>
                  <a:lnTo>
                    <a:pt x="24417910" y="13749910"/>
                  </a:lnTo>
                  <a:lnTo>
                    <a:pt x="24384000" y="13749910"/>
                  </a:lnTo>
                  <a:lnTo>
                    <a:pt x="24384000" y="33909"/>
                  </a:lnTo>
                  <a:lnTo>
                    <a:pt x="24417910" y="33909"/>
                  </a:lnTo>
                  <a:lnTo>
                    <a:pt x="244179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F24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1" name="Google Shape;401;p36"/>
          <p:cNvSpPr txBox="1"/>
          <p:nvPr/>
        </p:nvSpPr>
        <p:spPr>
          <a:xfrm>
            <a:off x="10582298" y="6464001"/>
            <a:ext cx="3196186" cy="453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www.zarantech.com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6"/>
          <p:cNvSpPr/>
          <p:nvPr/>
        </p:nvSpPr>
        <p:spPr>
          <a:xfrm>
            <a:off x="10134151" y="6485798"/>
            <a:ext cx="381880" cy="399958"/>
          </a:xfrm>
          <a:custGeom>
            <a:rect b="b" l="l" r="r" t="t"/>
            <a:pathLst>
              <a:path extrusionOk="0" h="399958" w="381880">
                <a:moveTo>
                  <a:pt x="0" y="0"/>
                </a:moveTo>
                <a:lnTo>
                  <a:pt x="381880" y="0"/>
                </a:lnTo>
                <a:lnTo>
                  <a:pt x="381880" y="399958"/>
                </a:lnTo>
                <a:lnTo>
                  <a:pt x="0" y="399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3" name="Google Shape;403;p36"/>
          <p:cNvSpPr/>
          <p:nvPr/>
        </p:nvSpPr>
        <p:spPr>
          <a:xfrm>
            <a:off x="15775388" y="330356"/>
            <a:ext cx="2238872" cy="461178"/>
          </a:xfrm>
          <a:custGeom>
            <a:rect b="b" l="l" r="r" t="t"/>
            <a:pathLst>
              <a:path extrusionOk="0" h="461178" w="2238872">
                <a:moveTo>
                  <a:pt x="0" y="0"/>
                </a:moveTo>
                <a:lnTo>
                  <a:pt x="2238872" y="0"/>
                </a:lnTo>
                <a:lnTo>
                  <a:pt x="2238872" y="461178"/>
                </a:lnTo>
                <a:lnTo>
                  <a:pt x="0" y="461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4" name="Google Shape;404;p36"/>
          <p:cNvSpPr txBox="1"/>
          <p:nvPr/>
        </p:nvSpPr>
        <p:spPr>
          <a:xfrm>
            <a:off x="10134151" y="3262096"/>
            <a:ext cx="6115454" cy="2736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99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9958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rPr>
              <a:t>For more informative Videos, Subscribe to our YouTube Channel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6"/>
          <p:cNvSpPr txBox="1"/>
          <p:nvPr/>
        </p:nvSpPr>
        <p:spPr>
          <a:xfrm>
            <a:off x="9702583" y="97705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6" name="Google Shape;406;p36"/>
          <p:cNvPicPr preferRelativeResize="0"/>
          <p:nvPr/>
        </p:nvPicPr>
        <p:blipFill rotWithShape="1">
          <a:blip r:embed="rId5">
            <a:alphaModFix/>
          </a:blip>
          <a:srcRect b="0" l="0" r="41821" t="0"/>
          <a:stretch/>
        </p:blipFill>
        <p:spPr>
          <a:xfrm>
            <a:off x="-392265" y="-185528"/>
            <a:ext cx="9275007" cy="10628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Exercises in This Module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 13: Turn a feature brief into a spec and tickets. 18 minutes.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 14: Generate and correct a configuration file. 12 minutes.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 15: Build the summariser service. 35 minutes, across three videos.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 15 is the capstone build itself, not a rehearsal for it.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How the Capstone Is Marked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Prompt design, 25 points. A real template: role, task, tagged input, output constraints.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Robustness, 25 points. Four named failure paths each return a clean, specific error.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Correctness 15, tests 15, structure and responsible practice 10.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Reflection, 10 points. What you corrected, and which prompt change mattered most.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Full thresholds are in the capstone brief. Read them before you start building.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