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10287000" cx="18288000"/>
  <p:notesSz cx="6858000" cy="9144000"/>
  <p:embeddedFontLst>
    <p:embeddedFont>
      <p:font typeface="Lato"/>
      <p:regular r:id="rId30"/>
      <p:bold r:id="rId31"/>
      <p:italic r:id="rId32"/>
      <p:boldItalic r:id="rId33"/>
    </p:embeddedFont>
    <p:embeddedFont>
      <p:font typeface="Open Sans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bold.fntdata"/><Relationship Id="rId30" Type="http://schemas.openxmlformats.org/officeDocument/2006/relationships/font" Target="fonts/Lato-regular.fntdata"/><Relationship Id="rId11" Type="http://schemas.openxmlformats.org/officeDocument/2006/relationships/slide" Target="slides/slide6.xml"/><Relationship Id="rId33" Type="http://schemas.openxmlformats.org/officeDocument/2006/relationships/font" Target="fonts/Lato-boldItalic.fntdata"/><Relationship Id="rId10" Type="http://schemas.openxmlformats.org/officeDocument/2006/relationships/slide" Target="slides/slide5.xml"/><Relationship Id="rId32" Type="http://schemas.openxmlformats.org/officeDocument/2006/relationships/font" Target="fonts/Lato-italic.fntdata"/><Relationship Id="rId13" Type="http://schemas.openxmlformats.org/officeDocument/2006/relationships/slide" Target="slides/slide8.xml"/><Relationship Id="rId35" Type="http://schemas.openxmlformats.org/officeDocument/2006/relationships/font" Target="fonts/OpenSans-bold.fntdata"/><Relationship Id="rId12" Type="http://schemas.openxmlformats.org/officeDocument/2006/relationships/slide" Target="slides/slide7.xml"/><Relationship Id="rId34" Type="http://schemas.openxmlformats.org/officeDocument/2006/relationships/font" Target="fonts/OpenSans-regular.fntdata"/><Relationship Id="rId15" Type="http://schemas.openxmlformats.org/officeDocument/2006/relationships/slide" Target="slides/slide10.xml"/><Relationship Id="rId37" Type="http://schemas.openxmlformats.org/officeDocument/2006/relationships/font" Target="fonts/OpenSans-boldItalic.fntdata"/><Relationship Id="rId14" Type="http://schemas.openxmlformats.org/officeDocument/2006/relationships/slide" Target="slides/slide9.xml"/><Relationship Id="rId36" Type="http://schemas.openxmlformats.org/officeDocument/2006/relationships/font" Target="fonts/OpenSans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1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" name="Google Shape;107;p2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3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4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5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6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7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8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9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10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1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" name="Google Shape;24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2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13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9" name="Google Shape;26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14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15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" name="Google Shape;29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16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7" name="Google Shape;30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17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18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3" name="Google Shape;33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19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7" name="Google Shape;34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20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9" name="Google Shape;35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p21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1" name="Google Shape;37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22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3" name="Google Shape;383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p23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5" name="Google Shape;39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p24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16901127" y="8949505"/>
            <a:ext cx="769430" cy="754475"/>
            <a:chOff x="0" y="0"/>
            <a:chExt cx="1025906" cy="1005967"/>
          </a:xfrm>
        </p:grpSpPr>
        <p:sp>
          <p:nvSpPr>
            <p:cNvPr id="19" name="Google Shape;19;p2"/>
            <p:cNvSpPr/>
            <p:nvPr/>
          </p:nvSpPr>
          <p:spPr>
            <a:xfrm>
              <a:off x="12700" y="12700"/>
              <a:ext cx="1000506" cy="980440"/>
            </a:xfrm>
            <a:custGeom>
              <a:rect b="b" l="l" r="r" t="t"/>
              <a:pathLst>
                <a:path extrusionOk="0" h="980440" w="1000506">
                  <a:moveTo>
                    <a:pt x="0" y="490220"/>
                  </a:moveTo>
                  <a:cubicBezTo>
                    <a:pt x="0" y="219456"/>
                    <a:pt x="224028" y="0"/>
                    <a:pt x="500253" y="0"/>
                  </a:cubicBezTo>
                  <a:cubicBezTo>
                    <a:pt x="776478" y="0"/>
                    <a:pt x="1000506" y="219456"/>
                    <a:pt x="1000506" y="490220"/>
                  </a:cubicBezTo>
                  <a:cubicBezTo>
                    <a:pt x="1000506" y="760984"/>
                    <a:pt x="776478" y="980440"/>
                    <a:pt x="500253" y="980440"/>
                  </a:cubicBezTo>
                  <a:cubicBezTo>
                    <a:pt x="224028" y="980440"/>
                    <a:pt x="0" y="760984"/>
                    <a:pt x="0" y="4902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0" y="0"/>
              <a:ext cx="1025906" cy="1005967"/>
            </a:xfrm>
            <a:custGeom>
              <a:rect b="b" l="l" r="r" t="t"/>
              <a:pathLst>
                <a:path extrusionOk="0" h="1005967" w="1025906">
                  <a:moveTo>
                    <a:pt x="0" y="502920"/>
                  </a:moveTo>
                  <a:cubicBezTo>
                    <a:pt x="0" y="224917"/>
                    <a:pt x="229870" y="0"/>
                    <a:pt x="512953" y="0"/>
                  </a:cubicBezTo>
                  <a:lnTo>
                    <a:pt x="512953" y="12700"/>
                  </a:lnTo>
                  <a:lnTo>
                    <a:pt x="512953" y="0"/>
                  </a:lnTo>
                  <a:cubicBezTo>
                    <a:pt x="796036" y="0"/>
                    <a:pt x="1025906" y="224917"/>
                    <a:pt x="1025906" y="502920"/>
                  </a:cubicBezTo>
                  <a:lnTo>
                    <a:pt x="1013206" y="502920"/>
                  </a:lnTo>
                  <a:lnTo>
                    <a:pt x="1025906" y="502920"/>
                  </a:lnTo>
                  <a:cubicBezTo>
                    <a:pt x="1025906" y="780923"/>
                    <a:pt x="796036" y="1005840"/>
                    <a:pt x="512953" y="1005840"/>
                  </a:cubicBezTo>
                  <a:lnTo>
                    <a:pt x="512953" y="993140"/>
                  </a:lnTo>
                  <a:lnTo>
                    <a:pt x="512953" y="1005840"/>
                  </a:lnTo>
                  <a:cubicBezTo>
                    <a:pt x="229870" y="1005967"/>
                    <a:pt x="0" y="781050"/>
                    <a:pt x="0" y="502920"/>
                  </a:cubicBezTo>
                  <a:lnTo>
                    <a:pt x="12700" y="502920"/>
                  </a:lnTo>
                  <a:lnTo>
                    <a:pt x="25400" y="502920"/>
                  </a:lnTo>
                  <a:lnTo>
                    <a:pt x="12700" y="502920"/>
                  </a:lnTo>
                  <a:lnTo>
                    <a:pt x="0" y="502920"/>
                  </a:lnTo>
                  <a:moveTo>
                    <a:pt x="25400" y="502920"/>
                  </a:moveTo>
                  <a:cubicBezTo>
                    <a:pt x="25400" y="509905"/>
                    <a:pt x="19685" y="515620"/>
                    <a:pt x="12700" y="515620"/>
                  </a:cubicBezTo>
                  <a:cubicBezTo>
                    <a:pt x="5715" y="515620"/>
                    <a:pt x="0" y="509905"/>
                    <a:pt x="0" y="502920"/>
                  </a:cubicBezTo>
                  <a:cubicBezTo>
                    <a:pt x="0" y="495935"/>
                    <a:pt x="5715" y="490220"/>
                    <a:pt x="12700" y="490220"/>
                  </a:cubicBezTo>
                  <a:cubicBezTo>
                    <a:pt x="19685" y="490220"/>
                    <a:pt x="25400" y="495935"/>
                    <a:pt x="25400" y="502920"/>
                  </a:cubicBezTo>
                  <a:cubicBezTo>
                    <a:pt x="25400" y="766445"/>
                    <a:pt x="243459" y="980440"/>
                    <a:pt x="512953" y="980440"/>
                  </a:cubicBezTo>
                  <a:cubicBezTo>
                    <a:pt x="782447" y="980440"/>
                    <a:pt x="1000506" y="766445"/>
                    <a:pt x="1000506" y="502920"/>
                  </a:cubicBezTo>
                  <a:cubicBezTo>
                    <a:pt x="1000506" y="239395"/>
                    <a:pt x="782447" y="25400"/>
                    <a:pt x="512953" y="25400"/>
                  </a:cubicBezTo>
                  <a:lnTo>
                    <a:pt x="512953" y="12700"/>
                  </a:lnTo>
                  <a:lnTo>
                    <a:pt x="512953" y="25400"/>
                  </a:lnTo>
                  <a:cubicBezTo>
                    <a:pt x="243459" y="25400"/>
                    <a:pt x="25400" y="239395"/>
                    <a:pt x="25400" y="5029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16809592" y="9161103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4" name="Google Shape;44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3" name="Google Shape;53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2" name="Google Shape;7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13"/>
          <p:cNvGrpSpPr/>
          <p:nvPr/>
        </p:nvGrpSpPr>
        <p:grpSpPr>
          <a:xfrm>
            <a:off x="-448267" y="0"/>
            <a:ext cx="19123574" cy="10605878"/>
            <a:chOff x="0" y="0"/>
            <a:chExt cx="24451818" cy="13783818"/>
          </a:xfrm>
        </p:grpSpPr>
        <p:sp>
          <p:nvSpPr>
            <p:cNvPr id="93" name="Google Shape;93;p13"/>
            <p:cNvSpPr/>
            <p:nvPr/>
          </p:nvSpPr>
          <p:spPr>
            <a:xfrm>
              <a:off x="33909" y="33909"/>
              <a:ext cx="24384001" cy="13716001"/>
            </a:xfrm>
            <a:custGeom>
              <a:rect b="b" l="l" r="r" t="t"/>
              <a:pathLst>
                <a:path extrusionOk="0" h="1371600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3716001"/>
                  </a:lnTo>
                  <a:lnTo>
                    <a:pt x="0" y="13716001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94" name="Google Shape;94;p13"/>
            <p:cNvSpPr/>
            <p:nvPr/>
          </p:nvSpPr>
          <p:spPr>
            <a:xfrm>
              <a:off x="0" y="0"/>
              <a:ext cx="24451818" cy="13783818"/>
            </a:xfrm>
            <a:custGeom>
              <a:rect b="b" l="l" r="r" t="t"/>
              <a:pathLst>
                <a:path extrusionOk="0" h="13783818" w="24451818">
                  <a:moveTo>
                    <a:pt x="33909" y="0"/>
                  </a:moveTo>
                  <a:lnTo>
                    <a:pt x="24417910" y="0"/>
                  </a:lnTo>
                  <a:cubicBezTo>
                    <a:pt x="24436578" y="0"/>
                    <a:pt x="24451818" y="15113"/>
                    <a:pt x="24451818" y="33909"/>
                  </a:cubicBezTo>
                  <a:lnTo>
                    <a:pt x="24451818" y="13749910"/>
                  </a:lnTo>
                  <a:cubicBezTo>
                    <a:pt x="24451818" y="13768578"/>
                    <a:pt x="24436705" y="13783818"/>
                    <a:pt x="24417910" y="13783818"/>
                  </a:cubicBezTo>
                  <a:lnTo>
                    <a:pt x="33909" y="13783818"/>
                  </a:lnTo>
                  <a:cubicBezTo>
                    <a:pt x="15240" y="13783818"/>
                    <a:pt x="0" y="13768705"/>
                    <a:pt x="0" y="13749910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13749910"/>
                  </a:lnTo>
                  <a:lnTo>
                    <a:pt x="33909" y="13749910"/>
                  </a:lnTo>
                  <a:lnTo>
                    <a:pt x="33909" y="13716000"/>
                  </a:lnTo>
                  <a:lnTo>
                    <a:pt x="24417910" y="13716000"/>
                  </a:lnTo>
                  <a:lnTo>
                    <a:pt x="24417910" y="13749910"/>
                  </a:lnTo>
                  <a:lnTo>
                    <a:pt x="24384000" y="13749910"/>
                  </a:lnTo>
                  <a:lnTo>
                    <a:pt x="24384000" y="33909"/>
                  </a:lnTo>
                  <a:lnTo>
                    <a:pt x="24417910" y="33909"/>
                  </a:lnTo>
                  <a:lnTo>
                    <a:pt x="24417910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0F24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" name="Google Shape;95;p13"/>
          <p:cNvGrpSpPr/>
          <p:nvPr/>
        </p:nvGrpSpPr>
        <p:grpSpPr>
          <a:xfrm>
            <a:off x="9395642" y="3246048"/>
            <a:ext cx="8618618" cy="3397792"/>
            <a:chOff x="9645115" y="130296"/>
            <a:chExt cx="8754820" cy="3397792"/>
          </a:xfrm>
        </p:grpSpPr>
        <p:sp>
          <p:nvSpPr>
            <p:cNvPr id="96" name="Google Shape;96;p13"/>
            <p:cNvSpPr txBox="1"/>
            <p:nvPr/>
          </p:nvSpPr>
          <p:spPr>
            <a:xfrm>
              <a:off x="9645115" y="130296"/>
              <a:ext cx="8754820" cy="28623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00"/>
                <a:buFont typeface="Arial"/>
                <a:buNone/>
              </a:pPr>
              <a:r>
                <a:rPr b="1" i="0" lang="en-US" sz="6200" u="none" cap="none" strike="noStrike">
                  <a:solidFill>
                    <a:srgbClr val="FFC000"/>
                  </a:solidFill>
                  <a:latin typeface="Open Sans"/>
                  <a:ea typeface="Open Sans"/>
                  <a:cs typeface="Open Sans"/>
                  <a:sym typeface="Open Sans"/>
                </a:rPr>
                <a:t>Advanced Developer Workflows &amp; Mini-Project</a:t>
              </a:r>
              <a:endParaRPr b="1" i="0" sz="6200" u="none" cap="none" strike="noStrike">
                <a:solidFill>
                  <a:srgbClr val="FFC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97" name="Google Shape;97;p13"/>
            <p:cNvGrpSpPr/>
            <p:nvPr/>
          </p:nvGrpSpPr>
          <p:grpSpPr>
            <a:xfrm>
              <a:off x="9729879" y="3114482"/>
              <a:ext cx="3735772" cy="413606"/>
              <a:chOff x="9870618" y="3713509"/>
              <a:chExt cx="3735772" cy="413606"/>
            </a:xfrm>
          </p:grpSpPr>
          <p:sp>
            <p:nvSpPr>
              <p:cNvPr id="98" name="Google Shape;98;p13"/>
              <p:cNvSpPr txBox="1"/>
              <p:nvPr/>
            </p:nvSpPr>
            <p:spPr>
              <a:xfrm>
                <a:off x="10410190" y="3713509"/>
                <a:ext cx="31962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19958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www.zarantech.com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" name="Google Shape;99;p13"/>
              <p:cNvSpPr/>
              <p:nvPr/>
            </p:nvSpPr>
            <p:spPr>
              <a:xfrm>
                <a:off x="9870618" y="3727157"/>
                <a:ext cx="381880" cy="399958"/>
              </a:xfrm>
              <a:custGeom>
                <a:rect b="b" l="l" r="r" t="t"/>
                <a:pathLst>
                  <a:path extrusionOk="0" h="399958" w="381880">
                    <a:moveTo>
                      <a:pt x="0" y="0"/>
                    </a:moveTo>
                    <a:lnTo>
                      <a:pt x="381880" y="0"/>
                    </a:lnTo>
                    <a:lnTo>
                      <a:pt x="381880" y="399958"/>
                    </a:lnTo>
                    <a:lnTo>
                      <a:pt x="0" y="399958"/>
                    </a:lnTo>
                    <a:lnTo>
                      <a:pt x="0" y="0"/>
                    </a:lnTo>
                    <a:close/>
                  </a:path>
                </a:pathLst>
              </a:custGeom>
              <a:blipFill rotWithShape="1">
                <a:blip r:embed="rId3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</p:sp>
        </p:grpSp>
      </p:grpSp>
      <p:sp>
        <p:nvSpPr>
          <p:cNvPr id="100" name="Google Shape;100;p13"/>
          <p:cNvSpPr/>
          <p:nvPr/>
        </p:nvSpPr>
        <p:spPr>
          <a:xfrm>
            <a:off x="15775388" y="330356"/>
            <a:ext cx="2238872" cy="461178"/>
          </a:xfrm>
          <a:custGeom>
            <a:rect b="b" l="l" r="r" t="t"/>
            <a:pathLst>
              <a:path extrusionOk="0" h="461178" w="2238872">
                <a:moveTo>
                  <a:pt x="0" y="0"/>
                </a:moveTo>
                <a:lnTo>
                  <a:pt x="2238872" y="0"/>
                </a:lnTo>
                <a:lnTo>
                  <a:pt x="2238872" y="461178"/>
                </a:lnTo>
                <a:lnTo>
                  <a:pt x="0" y="4611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3"/>
          <p:cNvSpPr txBox="1"/>
          <p:nvPr/>
        </p:nvSpPr>
        <p:spPr>
          <a:xfrm>
            <a:off x="9702583" y="97705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13"/>
          <p:cNvPicPr preferRelativeResize="0"/>
          <p:nvPr/>
        </p:nvPicPr>
        <p:blipFill rotWithShape="1">
          <a:blip r:embed="rId5">
            <a:alphaModFix/>
          </a:blip>
          <a:srcRect b="0" l="0" r="41821" t="0"/>
          <a:stretch/>
        </p:blipFill>
        <p:spPr>
          <a:xfrm>
            <a:off x="-508831" y="-1"/>
            <a:ext cx="9255542" cy="10605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/>
          <p:cNvSpPr/>
          <p:nvPr/>
        </p:nvSpPr>
        <p:spPr>
          <a:xfrm>
            <a:off x="9144000" y="583020"/>
            <a:ext cx="9448800" cy="9710538"/>
          </a:xfrm>
          <a:custGeom>
            <a:rect b="b" l="l" r="r" t="t"/>
            <a:pathLst>
              <a:path extrusionOk="0" h="12689306" w="12689306">
                <a:moveTo>
                  <a:pt x="0" y="0"/>
                </a:moveTo>
                <a:lnTo>
                  <a:pt x="12689306" y="0"/>
                </a:lnTo>
                <a:lnTo>
                  <a:pt x="12689306" y="12689306"/>
                </a:lnTo>
                <a:lnTo>
                  <a:pt x="0" y="126893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0428" l="-22357" r="-16672" t="-15062"/>
            </a:stretch>
          </a:blipFill>
          <a:ln>
            <a:noFill/>
          </a:ln>
        </p:spPr>
      </p:sp>
      <p:grpSp>
        <p:nvGrpSpPr>
          <p:cNvPr id="110" name="Google Shape;110;p14"/>
          <p:cNvGrpSpPr/>
          <p:nvPr/>
        </p:nvGrpSpPr>
        <p:grpSpPr>
          <a:xfrm>
            <a:off x="16901127" y="8949505"/>
            <a:ext cx="769430" cy="754475"/>
            <a:chOff x="0" y="0"/>
            <a:chExt cx="1025906" cy="1005967"/>
          </a:xfrm>
        </p:grpSpPr>
        <p:sp>
          <p:nvSpPr>
            <p:cNvPr id="111" name="Google Shape;111;p14"/>
            <p:cNvSpPr/>
            <p:nvPr/>
          </p:nvSpPr>
          <p:spPr>
            <a:xfrm>
              <a:off x="12700" y="12700"/>
              <a:ext cx="1000506" cy="980440"/>
            </a:xfrm>
            <a:custGeom>
              <a:rect b="b" l="l" r="r" t="t"/>
              <a:pathLst>
                <a:path extrusionOk="0" h="980440" w="1000506">
                  <a:moveTo>
                    <a:pt x="0" y="490220"/>
                  </a:moveTo>
                  <a:cubicBezTo>
                    <a:pt x="0" y="219456"/>
                    <a:pt x="224028" y="0"/>
                    <a:pt x="500253" y="0"/>
                  </a:cubicBezTo>
                  <a:cubicBezTo>
                    <a:pt x="776478" y="0"/>
                    <a:pt x="1000506" y="219456"/>
                    <a:pt x="1000506" y="490220"/>
                  </a:cubicBezTo>
                  <a:cubicBezTo>
                    <a:pt x="1000506" y="760984"/>
                    <a:pt x="776478" y="980440"/>
                    <a:pt x="500253" y="980440"/>
                  </a:cubicBezTo>
                  <a:cubicBezTo>
                    <a:pt x="224028" y="980440"/>
                    <a:pt x="0" y="760984"/>
                    <a:pt x="0" y="4902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4"/>
            <p:cNvSpPr/>
            <p:nvPr/>
          </p:nvSpPr>
          <p:spPr>
            <a:xfrm>
              <a:off x="0" y="0"/>
              <a:ext cx="1025906" cy="1005967"/>
            </a:xfrm>
            <a:custGeom>
              <a:rect b="b" l="l" r="r" t="t"/>
              <a:pathLst>
                <a:path extrusionOk="0" h="1005967" w="1025906">
                  <a:moveTo>
                    <a:pt x="0" y="502920"/>
                  </a:moveTo>
                  <a:cubicBezTo>
                    <a:pt x="0" y="224917"/>
                    <a:pt x="229870" y="0"/>
                    <a:pt x="512953" y="0"/>
                  </a:cubicBezTo>
                  <a:lnTo>
                    <a:pt x="512953" y="12700"/>
                  </a:lnTo>
                  <a:lnTo>
                    <a:pt x="512953" y="0"/>
                  </a:lnTo>
                  <a:cubicBezTo>
                    <a:pt x="796036" y="0"/>
                    <a:pt x="1025906" y="224917"/>
                    <a:pt x="1025906" y="502920"/>
                  </a:cubicBezTo>
                  <a:lnTo>
                    <a:pt x="1013206" y="502920"/>
                  </a:lnTo>
                  <a:lnTo>
                    <a:pt x="1025906" y="502920"/>
                  </a:lnTo>
                  <a:cubicBezTo>
                    <a:pt x="1025906" y="780923"/>
                    <a:pt x="796036" y="1005840"/>
                    <a:pt x="512953" y="1005840"/>
                  </a:cubicBezTo>
                  <a:lnTo>
                    <a:pt x="512953" y="993140"/>
                  </a:lnTo>
                  <a:lnTo>
                    <a:pt x="512953" y="1005840"/>
                  </a:lnTo>
                  <a:cubicBezTo>
                    <a:pt x="229870" y="1005967"/>
                    <a:pt x="0" y="781050"/>
                    <a:pt x="0" y="502920"/>
                  </a:cubicBezTo>
                  <a:lnTo>
                    <a:pt x="12700" y="502920"/>
                  </a:lnTo>
                  <a:lnTo>
                    <a:pt x="25400" y="502920"/>
                  </a:lnTo>
                  <a:lnTo>
                    <a:pt x="12700" y="502920"/>
                  </a:lnTo>
                  <a:lnTo>
                    <a:pt x="0" y="502920"/>
                  </a:lnTo>
                  <a:moveTo>
                    <a:pt x="25400" y="502920"/>
                  </a:moveTo>
                  <a:cubicBezTo>
                    <a:pt x="25400" y="509905"/>
                    <a:pt x="19685" y="515620"/>
                    <a:pt x="12700" y="515620"/>
                  </a:cubicBezTo>
                  <a:cubicBezTo>
                    <a:pt x="5715" y="515620"/>
                    <a:pt x="0" y="509905"/>
                    <a:pt x="0" y="502920"/>
                  </a:cubicBezTo>
                  <a:cubicBezTo>
                    <a:pt x="0" y="495935"/>
                    <a:pt x="5715" y="490220"/>
                    <a:pt x="12700" y="490220"/>
                  </a:cubicBezTo>
                  <a:cubicBezTo>
                    <a:pt x="19685" y="490220"/>
                    <a:pt x="25400" y="495935"/>
                    <a:pt x="25400" y="502920"/>
                  </a:cubicBezTo>
                  <a:cubicBezTo>
                    <a:pt x="25400" y="766445"/>
                    <a:pt x="243459" y="980440"/>
                    <a:pt x="512953" y="980440"/>
                  </a:cubicBezTo>
                  <a:cubicBezTo>
                    <a:pt x="782447" y="980440"/>
                    <a:pt x="1000506" y="766445"/>
                    <a:pt x="1000506" y="502920"/>
                  </a:cubicBezTo>
                  <a:cubicBezTo>
                    <a:pt x="1000506" y="239395"/>
                    <a:pt x="782447" y="25400"/>
                    <a:pt x="512953" y="25400"/>
                  </a:cubicBezTo>
                  <a:lnTo>
                    <a:pt x="512953" y="12700"/>
                  </a:lnTo>
                  <a:lnTo>
                    <a:pt x="512953" y="25400"/>
                  </a:lnTo>
                  <a:cubicBezTo>
                    <a:pt x="243459" y="25400"/>
                    <a:pt x="25400" y="239395"/>
                    <a:pt x="25400" y="5029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" name="Google Shape;113;p14"/>
          <p:cNvSpPr txBox="1"/>
          <p:nvPr/>
        </p:nvSpPr>
        <p:spPr>
          <a:xfrm>
            <a:off x="502391" y="404547"/>
            <a:ext cx="14900900" cy="1055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Disclaimer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323850" y="1460370"/>
            <a:ext cx="8820150" cy="6647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1" marL="63246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This presentation, including examples, images, and references are provided for informational purposes only.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63246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Complying with all applicable copyrights laws is the responsibility of the user.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63246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Without limiting the rights under copyright, no part of this document may be  reproduced, stored or introduced into a retrieval system, or transmitted in any form or by any means.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63246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Credits shall be given to the images taken from the open-source and cannot be used for promotional activities.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58" t="0"/>
            </a:stretch>
          </a:blipFill>
          <a:ln>
            <a:noFill/>
          </a:ln>
        </p:spPr>
      </p:sp>
      <p:sp>
        <p:nvSpPr>
          <p:cNvPr id="116" name="Google Shape;116;p14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4"/>
          <p:cNvSpPr txBox="1"/>
          <p:nvPr>
            <p:ph idx="12" type="sldNum"/>
          </p:nvPr>
        </p:nvSpPr>
        <p:spPr>
          <a:xfrm>
            <a:off x="17114219" y="9163493"/>
            <a:ext cx="34324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15"/>
          <p:cNvGrpSpPr/>
          <p:nvPr/>
        </p:nvGrpSpPr>
        <p:grpSpPr>
          <a:xfrm>
            <a:off x="16901127" y="8949505"/>
            <a:ext cx="769430" cy="754475"/>
            <a:chOff x="0" y="0"/>
            <a:chExt cx="1025906" cy="1005967"/>
          </a:xfrm>
        </p:grpSpPr>
        <p:sp>
          <p:nvSpPr>
            <p:cNvPr id="124" name="Google Shape;124;p15"/>
            <p:cNvSpPr/>
            <p:nvPr/>
          </p:nvSpPr>
          <p:spPr>
            <a:xfrm>
              <a:off x="12700" y="12700"/>
              <a:ext cx="1000506" cy="980440"/>
            </a:xfrm>
            <a:custGeom>
              <a:rect b="b" l="l" r="r" t="t"/>
              <a:pathLst>
                <a:path extrusionOk="0" h="980440" w="1000506">
                  <a:moveTo>
                    <a:pt x="0" y="490220"/>
                  </a:moveTo>
                  <a:cubicBezTo>
                    <a:pt x="0" y="219456"/>
                    <a:pt x="224028" y="0"/>
                    <a:pt x="500253" y="0"/>
                  </a:cubicBezTo>
                  <a:cubicBezTo>
                    <a:pt x="776478" y="0"/>
                    <a:pt x="1000506" y="219456"/>
                    <a:pt x="1000506" y="490220"/>
                  </a:cubicBezTo>
                  <a:cubicBezTo>
                    <a:pt x="1000506" y="760984"/>
                    <a:pt x="776478" y="980440"/>
                    <a:pt x="500253" y="980440"/>
                  </a:cubicBezTo>
                  <a:cubicBezTo>
                    <a:pt x="224028" y="980440"/>
                    <a:pt x="0" y="760984"/>
                    <a:pt x="0" y="4902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5"/>
            <p:cNvSpPr/>
            <p:nvPr/>
          </p:nvSpPr>
          <p:spPr>
            <a:xfrm>
              <a:off x="0" y="0"/>
              <a:ext cx="1025906" cy="1005967"/>
            </a:xfrm>
            <a:custGeom>
              <a:rect b="b" l="l" r="r" t="t"/>
              <a:pathLst>
                <a:path extrusionOk="0" h="1005967" w="1025906">
                  <a:moveTo>
                    <a:pt x="0" y="502920"/>
                  </a:moveTo>
                  <a:cubicBezTo>
                    <a:pt x="0" y="224917"/>
                    <a:pt x="229870" y="0"/>
                    <a:pt x="512953" y="0"/>
                  </a:cubicBezTo>
                  <a:lnTo>
                    <a:pt x="512953" y="12700"/>
                  </a:lnTo>
                  <a:lnTo>
                    <a:pt x="512953" y="0"/>
                  </a:lnTo>
                  <a:cubicBezTo>
                    <a:pt x="796036" y="0"/>
                    <a:pt x="1025906" y="224917"/>
                    <a:pt x="1025906" y="502920"/>
                  </a:cubicBezTo>
                  <a:lnTo>
                    <a:pt x="1013206" y="502920"/>
                  </a:lnTo>
                  <a:lnTo>
                    <a:pt x="1025906" y="502920"/>
                  </a:lnTo>
                  <a:cubicBezTo>
                    <a:pt x="1025906" y="780923"/>
                    <a:pt x="796036" y="1005840"/>
                    <a:pt x="512953" y="1005840"/>
                  </a:cubicBezTo>
                  <a:lnTo>
                    <a:pt x="512953" y="993140"/>
                  </a:lnTo>
                  <a:lnTo>
                    <a:pt x="512953" y="1005840"/>
                  </a:lnTo>
                  <a:cubicBezTo>
                    <a:pt x="229870" y="1005967"/>
                    <a:pt x="0" y="781050"/>
                    <a:pt x="0" y="502920"/>
                  </a:cubicBezTo>
                  <a:lnTo>
                    <a:pt x="12700" y="502920"/>
                  </a:lnTo>
                  <a:lnTo>
                    <a:pt x="25400" y="502920"/>
                  </a:lnTo>
                  <a:lnTo>
                    <a:pt x="12700" y="502920"/>
                  </a:lnTo>
                  <a:lnTo>
                    <a:pt x="0" y="502920"/>
                  </a:lnTo>
                  <a:moveTo>
                    <a:pt x="25400" y="502920"/>
                  </a:moveTo>
                  <a:cubicBezTo>
                    <a:pt x="25400" y="509905"/>
                    <a:pt x="19685" y="515620"/>
                    <a:pt x="12700" y="515620"/>
                  </a:cubicBezTo>
                  <a:cubicBezTo>
                    <a:pt x="5715" y="515620"/>
                    <a:pt x="0" y="509905"/>
                    <a:pt x="0" y="502920"/>
                  </a:cubicBezTo>
                  <a:cubicBezTo>
                    <a:pt x="0" y="495935"/>
                    <a:pt x="5715" y="490220"/>
                    <a:pt x="12700" y="490220"/>
                  </a:cubicBezTo>
                  <a:cubicBezTo>
                    <a:pt x="19685" y="490220"/>
                    <a:pt x="25400" y="495935"/>
                    <a:pt x="25400" y="502920"/>
                  </a:cubicBezTo>
                  <a:cubicBezTo>
                    <a:pt x="25400" y="766445"/>
                    <a:pt x="243459" y="980440"/>
                    <a:pt x="512953" y="980440"/>
                  </a:cubicBezTo>
                  <a:cubicBezTo>
                    <a:pt x="782447" y="980440"/>
                    <a:pt x="1000506" y="766445"/>
                    <a:pt x="1000506" y="502920"/>
                  </a:cubicBezTo>
                  <a:cubicBezTo>
                    <a:pt x="1000506" y="239395"/>
                    <a:pt x="782447" y="25400"/>
                    <a:pt x="512953" y="25400"/>
                  </a:cubicBezTo>
                  <a:lnTo>
                    <a:pt x="512953" y="12700"/>
                  </a:lnTo>
                  <a:lnTo>
                    <a:pt x="512953" y="25400"/>
                  </a:lnTo>
                  <a:cubicBezTo>
                    <a:pt x="243459" y="25400"/>
                    <a:pt x="25400" y="239395"/>
                    <a:pt x="25400" y="5029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" name="Google Shape;126;p15"/>
          <p:cNvSpPr txBox="1"/>
          <p:nvPr/>
        </p:nvSpPr>
        <p:spPr>
          <a:xfrm>
            <a:off x="502391" y="404547"/>
            <a:ext cx="14900900" cy="1055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502391" y="2066255"/>
            <a:ext cx="10209152" cy="53183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Master system planning and design using Claude as your thought partner.</a:t>
            </a:r>
            <a:endParaRPr/>
          </a:p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Create technical specifications and generate sequence diagrams from text descriptions.</a:t>
            </a:r>
            <a:endParaRPr/>
          </a:p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Integrate Claude into daily tooling for version control and infrastructure management.</a:t>
            </a:r>
            <a:endParaRPr/>
          </a:p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Complete a capstone project demonstrating robust prompt design and API integration.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10893284" y="-38176"/>
            <a:ext cx="7187978" cy="10325176"/>
          </a:xfrm>
          <a:custGeom>
            <a:rect b="b" l="l" r="r" t="t"/>
            <a:pathLst>
              <a:path extrusionOk="0" h="10325176" w="7187978">
                <a:moveTo>
                  <a:pt x="0" y="0"/>
                </a:moveTo>
                <a:lnTo>
                  <a:pt x="7187978" y="0"/>
                </a:lnTo>
                <a:lnTo>
                  <a:pt x="7187978" y="10325176"/>
                </a:lnTo>
                <a:lnTo>
                  <a:pt x="0" y="103251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9" name="Google Shape;129;p15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58" t="0"/>
            </a:stretch>
          </a:blipFill>
          <a:ln>
            <a:noFill/>
          </a:ln>
        </p:spPr>
      </p:sp>
      <p:sp>
        <p:nvSpPr>
          <p:cNvPr id="130" name="Google Shape;130;p15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502391" y="1458435"/>
            <a:ext cx="2507429" cy="45719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2" name="Google Shape;132;p15"/>
          <p:cNvSpPr txBox="1"/>
          <p:nvPr>
            <p:ph idx="12" type="sldNum"/>
          </p:nvPr>
        </p:nvSpPr>
        <p:spPr>
          <a:xfrm>
            <a:off x="16809592" y="9161103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Planning and Design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Treat Claude as a pair architect to brainstorm scalable system architecture.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Describe business logic and let Claude propose optimal microservices design patterns.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Validate database schema decisions by asking Claude for bottleneck analysis.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Refine architectural drafts through an iterative dialogue to ensure best practices.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09830" y="1743131"/>
            <a:ext cx="4944608" cy="5696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Writing Technical Specifications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1" name="Google Shape;151;p17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53" name="Google Shape;153;p17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p17"/>
          <p:cNvSpPr txBox="1"/>
          <p:nvPr/>
        </p:nvSpPr>
        <p:spPr>
          <a:xfrm>
            <a:off x="502391" y="2170292"/>
            <a:ext cx="10180123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Transform project ideas into comprehensive technical specification documents within minutes.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Outline endpoints and let Claude generate standard OpenAPI specification formats easily.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Define system constraints to receive non-functional requirements for your application.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Standardize team documentation formats by applying custom prompt templates during generation.</a:t>
            </a:r>
            <a:endParaRPr/>
          </a:p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74796" y="2436433"/>
            <a:ext cx="6419850" cy="425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Generating Sequence Diagrams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3" name="Google Shape;163;p18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65" name="Google Shape;165;p18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67" name="Google Shape;167;p18"/>
          <p:cNvGrpSpPr/>
          <p:nvPr/>
        </p:nvGrpSpPr>
        <p:grpSpPr>
          <a:xfrm>
            <a:off x="1476591" y="1975437"/>
            <a:ext cx="14858611" cy="1382806"/>
            <a:chOff x="2292567" y="3922998"/>
            <a:chExt cx="13991635" cy="1583760"/>
          </a:xfrm>
        </p:grpSpPr>
        <p:sp>
          <p:nvSpPr>
            <p:cNvPr id="168" name="Google Shape;168;p18"/>
            <p:cNvSpPr/>
            <p:nvPr/>
          </p:nvSpPr>
          <p:spPr>
            <a:xfrm>
              <a:off x="2292567" y="3922998"/>
              <a:ext cx="13825800" cy="1431360"/>
            </a:xfrm>
            <a:prstGeom prst="rect">
              <a:avLst/>
            </a:prstGeom>
            <a:noFill/>
            <a:ln cap="flat" cmpd="sng" w="38100">
              <a:solidFill>
                <a:srgbClr val="FFC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18"/>
            <p:cNvSpPr/>
            <p:nvPr/>
          </p:nvSpPr>
          <p:spPr>
            <a:xfrm>
              <a:off x="2458402" y="4075398"/>
              <a:ext cx="13825800" cy="143136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Describe system interactions in text to generate accurate Mermaid sequence diagrams.</a:t>
              </a:r>
              <a:endParaRPr b="0" i="0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70" name="Google Shape;170;p18"/>
          <p:cNvGrpSpPr/>
          <p:nvPr/>
        </p:nvGrpSpPr>
        <p:grpSpPr>
          <a:xfrm>
            <a:off x="1476592" y="3905834"/>
            <a:ext cx="14858611" cy="1382806"/>
            <a:chOff x="2292567" y="7564986"/>
            <a:chExt cx="13991635" cy="1583760"/>
          </a:xfrm>
        </p:grpSpPr>
        <p:sp>
          <p:nvSpPr>
            <p:cNvPr id="171" name="Google Shape;171;p18"/>
            <p:cNvSpPr/>
            <p:nvPr/>
          </p:nvSpPr>
          <p:spPr>
            <a:xfrm>
              <a:off x="2292567" y="7564986"/>
              <a:ext cx="13825800" cy="1431360"/>
            </a:xfrm>
            <a:prstGeom prst="rect">
              <a:avLst/>
            </a:prstGeom>
            <a:noFill/>
            <a:ln cap="flat" cmpd="sng" w="38100">
              <a:solidFill>
                <a:srgbClr val="FFC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18"/>
            <p:cNvSpPr/>
            <p:nvPr/>
          </p:nvSpPr>
          <p:spPr>
            <a:xfrm>
              <a:off x="2458402" y="7717386"/>
              <a:ext cx="13825800" cy="143136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Visualize asynchronous messaging workflows between microservices using simple text prompts.</a:t>
              </a:r>
              <a:endParaRPr b="0" i="0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73" name="Google Shape;173;p18"/>
          <p:cNvGrpSpPr/>
          <p:nvPr/>
        </p:nvGrpSpPr>
        <p:grpSpPr>
          <a:xfrm>
            <a:off x="1476591" y="7766627"/>
            <a:ext cx="14858611" cy="1382806"/>
            <a:chOff x="2292567" y="7564986"/>
            <a:chExt cx="13991635" cy="1583760"/>
          </a:xfrm>
        </p:grpSpPr>
        <p:sp>
          <p:nvSpPr>
            <p:cNvPr id="174" name="Google Shape;174;p18"/>
            <p:cNvSpPr/>
            <p:nvPr/>
          </p:nvSpPr>
          <p:spPr>
            <a:xfrm>
              <a:off x="2292567" y="7564986"/>
              <a:ext cx="13825800" cy="1431360"/>
            </a:xfrm>
            <a:prstGeom prst="rect">
              <a:avLst/>
            </a:prstGeom>
            <a:noFill/>
            <a:ln cap="flat" cmpd="sng" w="38100">
              <a:solidFill>
                <a:srgbClr val="FFC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8"/>
            <p:cNvSpPr/>
            <p:nvPr/>
          </p:nvSpPr>
          <p:spPr>
            <a:xfrm>
              <a:off x="2458402" y="7717386"/>
              <a:ext cx="13825800" cy="143136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Export generated diagram code into your markdown documentation for seamless sharing.</a:t>
              </a:r>
              <a:endParaRPr b="0" i="0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76" name="Google Shape;176;p18"/>
          <p:cNvGrpSpPr/>
          <p:nvPr/>
        </p:nvGrpSpPr>
        <p:grpSpPr>
          <a:xfrm>
            <a:off x="1476591" y="5836231"/>
            <a:ext cx="14858611" cy="1382806"/>
            <a:chOff x="2292567" y="7564986"/>
            <a:chExt cx="13991635" cy="1583760"/>
          </a:xfrm>
        </p:grpSpPr>
        <p:sp>
          <p:nvSpPr>
            <p:cNvPr id="177" name="Google Shape;177;p18"/>
            <p:cNvSpPr/>
            <p:nvPr/>
          </p:nvSpPr>
          <p:spPr>
            <a:xfrm>
              <a:off x="2292567" y="7564986"/>
              <a:ext cx="13825800" cy="1431360"/>
            </a:xfrm>
            <a:prstGeom prst="rect">
              <a:avLst/>
            </a:prstGeom>
            <a:noFill/>
            <a:ln cap="flat" cmpd="sng" w="38100">
              <a:solidFill>
                <a:srgbClr val="FFC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18"/>
            <p:cNvSpPr/>
            <p:nvPr/>
          </p:nvSpPr>
          <p:spPr>
            <a:xfrm>
              <a:off x="2458402" y="7717386"/>
              <a:ext cx="13825800" cy="143136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Update existing diagrams quickly by instructing Claude to add new components.</a:t>
              </a:r>
              <a:endParaRPr b="0" i="0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"/>
          <p:cNvSpPr txBox="1"/>
          <p:nvPr/>
        </p:nvSpPr>
        <p:spPr>
          <a:xfrm>
            <a:off x="502391" y="637523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Creating Task Breakdowns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5" name="Google Shape;185;p19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87" name="Google Shape;187;p19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9" name="Google Shape;189;p19"/>
          <p:cNvSpPr/>
          <p:nvPr/>
        </p:nvSpPr>
        <p:spPr>
          <a:xfrm>
            <a:off x="1806612" y="3952185"/>
            <a:ext cx="14570616" cy="1102200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Identify critical path dependencies early by asking Claude to sequence steps.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1806612" y="2029152"/>
            <a:ext cx="14570616" cy="1102200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Input technical specs to receive structured, logical development task breakdowns.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1806612" y="5875218"/>
            <a:ext cx="14570616" cy="1102200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Break monolithic features into smaller tickets suitable for agile sprint cycles.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1806612" y="7798251"/>
            <a:ext cx="14570616" cy="1102200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Estimate development complexity for each task using previously provided historical context.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0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Building Agile Backlogs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9" name="Google Shape;199;p20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01" name="Google Shape;201;p20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3" name="Google Shape;203;p20"/>
          <p:cNvSpPr txBox="1"/>
          <p:nvPr/>
        </p:nvSpPr>
        <p:spPr>
          <a:xfrm>
            <a:off x="477775" y="2104355"/>
            <a:ext cx="17019300" cy="2142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Convert high-level business requirements directly into detailed product backlog items.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Generate clear user stories formatted with standard acceptance criteria for developers.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Prioritize your backlog logically by asking Claude to analyze business metrics.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Ensure comprehensive feature coverage by having Claude identify missing edge cases.</a:t>
            </a:r>
            <a:endParaRPr/>
          </a:p>
        </p:txBody>
      </p:sp>
      <p:pic>
        <p:nvPicPr>
          <p:cNvPr id="204" name="Google Shape;20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95904" y="4576522"/>
            <a:ext cx="6433773" cy="4572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Defining Sprint Tasks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1" name="Google Shape;211;p21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2" name="Google Shape;212;p21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13" name="Google Shape;213;p21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5" name="Google Shape;215;p21"/>
          <p:cNvSpPr/>
          <p:nvPr/>
        </p:nvSpPr>
        <p:spPr>
          <a:xfrm>
            <a:off x="1826673" y="2301955"/>
            <a:ext cx="4803494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Translate accepted user stories into technical tasks for immediate sprint execution.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8763689" y="2363023"/>
            <a:ext cx="4803494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Define exact input and output parameters for every backend API task.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4244960" y="5927086"/>
            <a:ext cx="4803494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Draft initial unit test scenarios corresponding to each individual sprint task.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11013036" y="5927086"/>
            <a:ext cx="4803494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Allocate appropriate story points based on technical complexity assessed by Claude.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2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Integrations and Tooling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5" name="Google Shape;225;p22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6" name="Google Shape;226;p22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27" name="Google Shape;227;p22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9" name="Google Shape;229;p22"/>
          <p:cNvSpPr txBox="1"/>
          <p:nvPr/>
        </p:nvSpPr>
        <p:spPr>
          <a:xfrm>
            <a:off x="502391" y="2294510"/>
            <a:ext cx="11278129" cy="37487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Enhance daily productivity by integrating Claude directly within your code editors.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Leverage IDE extensions for contextual code suggestions without switching application windows.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Highlight complex code blocks and ask Claude to explain underlying logic.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Generate boilerplate code and test structures directly inside your development environment.</a:t>
            </a:r>
            <a:endParaRPr/>
          </a:p>
        </p:txBody>
      </p:sp>
      <p:pic>
        <p:nvPicPr>
          <p:cNvPr id="230" name="Google Shape;23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51071" y="1787619"/>
            <a:ext cx="5743575" cy="47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3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Streamlining Git Workflows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7" name="Google Shape;237;p23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8" name="Google Shape;238;p23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39" name="Google Shape;239;p23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1" name="Google Shape;241;p23"/>
          <p:cNvSpPr txBox="1"/>
          <p:nvPr/>
        </p:nvSpPr>
        <p:spPr>
          <a:xfrm>
            <a:off x="7702321" y="2890833"/>
            <a:ext cx="9220870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Summarize complex code changes automatically to generate meaningful commit messages.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Draft pull request descriptions explaining the technical rationale behind recent changes.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Analyze code diffs quickly to identify potential logic conflicts before merging.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Standardize your team commit history by applying strict format rules.</a:t>
            </a:r>
            <a:endParaRPr/>
          </a:p>
        </p:txBody>
      </p:sp>
      <p:pic>
        <p:nvPicPr>
          <p:cNvPr id="242" name="Google Shape;24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391" y="2200214"/>
            <a:ext cx="6038677" cy="4974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4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CI/CD Integration for Documentation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9" name="Google Shape;249;p24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0" name="Google Shape;250;p24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51" name="Google Shape;251;p24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4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3" name="Google Shape;253;p24"/>
          <p:cNvSpPr txBox="1"/>
          <p:nvPr/>
        </p:nvSpPr>
        <p:spPr>
          <a:xfrm>
            <a:off x="502391" y="2275022"/>
            <a:ext cx="1063910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Automate documentation updates during continuous integration pipeline runs using Claude APIs.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Generate dynamic release notes automatically based on merged pull requests.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Ensure updated functions contain accurate docstrings before reaching production servers.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Maintain synchronized architectural documentation automatically when structural changes are merged.</a:t>
            </a:r>
            <a:endParaRPr/>
          </a:p>
        </p:txBody>
      </p:sp>
      <p:pic>
        <p:nvPicPr>
          <p:cNvPr id="254" name="Google Shape;25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703471" y="2358747"/>
            <a:ext cx="5591175" cy="420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5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CI/CD Automated Checks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1" name="Google Shape;261;p25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2" name="Google Shape;262;p25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63" name="Google Shape;263;p25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5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5" name="Google Shape;265;p25"/>
          <p:cNvSpPr txBox="1"/>
          <p:nvPr/>
        </p:nvSpPr>
        <p:spPr>
          <a:xfrm>
            <a:off x="6858915" y="2593571"/>
            <a:ext cx="9999267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Implement intelligent static analysis checks to review code style during execution.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Utilize Claude to flag potential security vulnerabilities before staging deployments.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Suggest automated remediation steps for failed builds directly in pipeline logs.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Reduce manual code review time by prioritizing critical issues highlighted.</a:t>
            </a:r>
            <a:endParaRPr/>
          </a:p>
        </p:txBody>
      </p:sp>
      <p:pic>
        <p:nvPicPr>
          <p:cNvPr id="266" name="Google Shape;26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391" y="2173715"/>
            <a:ext cx="5410200" cy="486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Generating Migration Scripts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3" name="Google Shape;273;p2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4" name="Google Shape;274;p2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75" name="Google Shape;275;p2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7" name="Google Shape;277;p26"/>
          <p:cNvSpPr/>
          <p:nvPr/>
        </p:nvSpPr>
        <p:spPr>
          <a:xfrm>
            <a:off x="1614186" y="2128708"/>
            <a:ext cx="5409764" cy="2769083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Describe schema changes to generate database migration scripts automatically using Claude.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8" name="Google Shape;278;p26"/>
          <p:cNvSpPr/>
          <p:nvPr/>
        </p:nvSpPr>
        <p:spPr>
          <a:xfrm>
            <a:off x="8709878" y="2128708"/>
            <a:ext cx="5409764" cy="2769083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Validate generated migration code against best practices to prevent data loss.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9" name="Google Shape;279;p26"/>
          <p:cNvSpPr/>
          <p:nvPr/>
        </p:nvSpPr>
        <p:spPr>
          <a:xfrm>
            <a:off x="3821187" y="5711082"/>
            <a:ext cx="5409764" cy="2769083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Create complex data transformation logic across formats without manual coding efforts.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0" name="Google Shape;280;p26"/>
          <p:cNvSpPr/>
          <p:nvPr/>
        </p:nvSpPr>
        <p:spPr>
          <a:xfrm>
            <a:off x="10860408" y="5711081"/>
            <a:ext cx="5409764" cy="2769083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Draft safe rollback scripts simultaneously to ensure zero downtime during failures.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7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DevOps and Infrastructure as Code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7" name="Google Shape;287;p27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8" name="Google Shape;288;p27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89" name="Google Shape;289;p27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7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1" name="Google Shape;291;p27"/>
          <p:cNvSpPr txBox="1"/>
          <p:nvPr/>
        </p:nvSpPr>
        <p:spPr>
          <a:xfrm>
            <a:off x="502391" y="2167708"/>
            <a:ext cx="10064009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Formulate robust Terraform configurations from simple text descriptions of cloud architecture.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Generate Dockerfiles tailored specifically to your application dependencies and runtime requirements.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Create resilient Kubernetes deployment manifests without consulting extensive external reference documentation.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Optimize cloud infrastructure by asking Claude to identify potential cost-saving configurations.</a:t>
            </a:r>
            <a:endParaRPr/>
          </a:p>
        </p:txBody>
      </p:sp>
      <p:pic>
        <p:nvPicPr>
          <p:cNvPr id="292" name="Google Shape;29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71200" y="2167708"/>
            <a:ext cx="6168572" cy="4687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8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Capstone Mini-Project Overview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9" name="Google Shape;299;p28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0" name="Google Shape;300;p28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01" name="Google Shape;301;p28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8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3" name="Google Shape;303;p28"/>
          <p:cNvSpPr txBox="1"/>
          <p:nvPr/>
        </p:nvSpPr>
        <p:spPr>
          <a:xfrm>
            <a:off x="7208538" y="2394825"/>
            <a:ext cx="10337039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Apply learned concepts to build a comprehensive end-to-end application from scratch.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Experience a complete development lifecycle utilizing Claude as your coding assistant.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Transform your initial architectural ideas into fully functional code and scripts.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Demonstrate proficiency in advanced prompt engineering and reliable API integration techniques.</a:t>
            </a:r>
            <a:endParaRPr/>
          </a:p>
        </p:txBody>
      </p:sp>
      <p:pic>
        <p:nvPicPr>
          <p:cNvPr id="304" name="Google Shape;304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391" y="2289411"/>
            <a:ext cx="6162675" cy="443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9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Capstone Phase 1 - Prompt Design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1" name="Google Shape;311;p29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2" name="Google Shape;312;p29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13" name="Google Shape;313;p29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9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5" name="Google Shape;315;p29"/>
          <p:cNvSpPr/>
          <p:nvPr/>
        </p:nvSpPr>
        <p:spPr>
          <a:xfrm>
            <a:off x="809580" y="1926001"/>
            <a:ext cx="16668839" cy="119536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Craft robust system prompts to establish consistent personas and boundaries.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6" name="Google Shape;316;p29"/>
          <p:cNvSpPr/>
          <p:nvPr/>
        </p:nvSpPr>
        <p:spPr>
          <a:xfrm>
            <a:off x="809580" y="3819476"/>
            <a:ext cx="16668839" cy="119536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Utilize zero-shot and few-shot prompting to guide accurate code generation.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7" name="Google Shape;317;p29"/>
          <p:cNvSpPr/>
          <p:nvPr/>
        </p:nvSpPr>
        <p:spPr>
          <a:xfrm>
            <a:off x="809580" y="5712951"/>
            <a:ext cx="16668839" cy="119536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Implement context window management strategies to maintain state across complex tasks.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8" name="Google Shape;318;p29"/>
          <p:cNvSpPr/>
          <p:nvPr/>
        </p:nvSpPr>
        <p:spPr>
          <a:xfrm>
            <a:off x="809580" y="7606426"/>
            <a:ext cx="16668686" cy="119538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Iteratively refine instructional prompts to reduce hallucination and ensure predictable outputs.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0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Capstone Phase 2 - API Integration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5" name="Google Shape;325;p30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6" name="Google Shape;326;p30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27" name="Google Shape;327;p30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0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9" name="Google Shape;329;p30"/>
          <p:cNvSpPr txBox="1"/>
          <p:nvPr/>
        </p:nvSpPr>
        <p:spPr>
          <a:xfrm>
            <a:off x="502391" y="2234258"/>
            <a:ext cx="9686638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Connect your application backend securely to the required external programming interfaces.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Handle rate limits and connection timeouts gracefully using exponential backoff logic.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Securely manage authentication tokens and credentials using environment variable best practices.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Process unstructured textual responses into standardized JSON formats for predictable rendering.</a:t>
            </a:r>
            <a:endParaRPr/>
          </a:p>
        </p:txBody>
      </p:sp>
      <p:pic>
        <p:nvPicPr>
          <p:cNvPr id="330" name="Google Shape;330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74771" y="2179258"/>
            <a:ext cx="6619875" cy="477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1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Capstone Phase 3 - Testing the Application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7" name="Google Shape;337;p31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8" name="Google Shape;338;p31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39" name="Google Shape;339;p31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31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1" name="Google Shape;341;p31"/>
          <p:cNvSpPr/>
          <p:nvPr/>
        </p:nvSpPr>
        <p:spPr>
          <a:xfrm>
            <a:off x="1581842" y="2362438"/>
            <a:ext cx="4777700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Prompt Claude to generate comprehensive unit tests covering all business logic.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2" name="Google Shape;342;p31"/>
          <p:cNvSpPr/>
          <p:nvPr/>
        </p:nvSpPr>
        <p:spPr>
          <a:xfrm>
            <a:off x="8329554" y="2362438"/>
            <a:ext cx="4777700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Design mocked API responses to simulate network errors and edge cases.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3" name="Google Shape;343;p31"/>
          <p:cNvSpPr/>
          <p:nvPr/>
        </p:nvSpPr>
        <p:spPr>
          <a:xfrm>
            <a:off x="4288513" y="6029072"/>
            <a:ext cx="4777700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Validate end-to-end user workflows using automated integration tests generated by AI.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4" name="Google Shape;344;p31"/>
          <p:cNvSpPr/>
          <p:nvPr/>
        </p:nvSpPr>
        <p:spPr>
          <a:xfrm>
            <a:off x="11210136" y="6029072"/>
            <a:ext cx="4777700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Measure code coverage automatically and address missing test cases via prompts.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2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Evaluation Criteria - Correctness &amp; Robustness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1" name="Google Shape;351;p32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2" name="Google Shape;352;p32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53" name="Google Shape;353;p32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2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5" name="Google Shape;355;p32"/>
          <p:cNvSpPr txBox="1"/>
          <p:nvPr/>
        </p:nvSpPr>
        <p:spPr>
          <a:xfrm>
            <a:off x="7099267" y="2135613"/>
            <a:ext cx="10195379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Verify your application strictly adheres to functional and architectural requirements.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Ensure generated code compiles successfully and executes without unexpected runtime exceptions.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Validate the system handles erroneous inputs securely without exposing sensitive data.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Confirm proper error handling logic maintains application stability during service outages.</a:t>
            </a:r>
            <a:endParaRPr/>
          </a:p>
        </p:txBody>
      </p:sp>
      <p:pic>
        <p:nvPicPr>
          <p:cNvPr id="356" name="Google Shape;356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391" y="2135613"/>
            <a:ext cx="5953125" cy="424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3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Evaluation Criteria - Clarity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3" name="Google Shape;363;p33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4" name="Google Shape;364;p33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65" name="Google Shape;365;p33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33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7" name="Google Shape;367;p33"/>
          <p:cNvSpPr txBox="1"/>
          <p:nvPr/>
        </p:nvSpPr>
        <p:spPr>
          <a:xfrm>
            <a:off x="502391" y="2039948"/>
            <a:ext cx="9918866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Ensure code remains readable, modular, and follows standard language styling conventions.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Maintain clear inline documentation explaining complex logic and specific design choices.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Structure your project directories logically to enable intuitive navigation for developers.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Provide an extensive readme file outlining complete setup and deployment instructions.</a:t>
            </a:r>
            <a:endParaRPr/>
          </a:p>
        </p:txBody>
      </p:sp>
      <p:pic>
        <p:nvPicPr>
          <p:cNvPr id="368" name="Google Shape;368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38767" y="1902788"/>
            <a:ext cx="6124575" cy="471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4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Evaluation Criteria - Responsible Practices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5" name="Google Shape;375;p34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6" name="Google Shape;376;p34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77" name="Google Shape;377;p34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4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9" name="Google Shape;379;p34"/>
          <p:cNvSpPr txBox="1"/>
          <p:nvPr/>
        </p:nvSpPr>
        <p:spPr>
          <a:xfrm>
            <a:off x="7099267" y="2135613"/>
            <a:ext cx="10195379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Demonstrate safe prompt engineering by sanitizing user inputs before API calls.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Implement ethical safeguards preventing applications from generating harmful or biased content.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Securely protect user privacy by anonymizing personal data before cloud processing.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Document transparent AI usage guidelines clearly within your final project repository.</a:t>
            </a:r>
            <a:endParaRPr/>
          </a:p>
        </p:txBody>
      </p:sp>
      <p:pic>
        <p:nvPicPr>
          <p:cNvPr id="380" name="Google Shape;380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0404" y="1925063"/>
            <a:ext cx="5429250" cy="470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5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Key Takeaways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35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8" name="Google Shape;388;p35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89" name="Google Shape;389;p35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35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1" name="Google Shape;391;p35"/>
          <p:cNvSpPr txBox="1"/>
          <p:nvPr/>
        </p:nvSpPr>
        <p:spPr>
          <a:xfrm>
            <a:off x="502391" y="2227530"/>
            <a:ext cx="9815089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Leveraged Claude as a collaborative pair architect to plan complex systems.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Integrated AI seamlessly into daily tooling spanning code editors and pipelines.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Automated infrastructure tasks like generating migration scripts and terraform deployment files.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Validated practical skills by deploying a robust, fully tested capstone application.</a:t>
            </a:r>
            <a:endParaRPr/>
          </a:p>
        </p:txBody>
      </p:sp>
      <p:pic>
        <p:nvPicPr>
          <p:cNvPr id="392" name="Google Shape;392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14064" y="2272761"/>
            <a:ext cx="5649278" cy="4193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8" name="Google Shape;398;p36"/>
          <p:cNvGrpSpPr/>
          <p:nvPr/>
        </p:nvGrpSpPr>
        <p:grpSpPr>
          <a:xfrm>
            <a:off x="-378374" y="-159439"/>
            <a:ext cx="19123574" cy="10605878"/>
            <a:chOff x="0" y="0"/>
            <a:chExt cx="24451818" cy="13783818"/>
          </a:xfrm>
        </p:grpSpPr>
        <p:sp>
          <p:nvSpPr>
            <p:cNvPr id="399" name="Google Shape;399;p36"/>
            <p:cNvSpPr/>
            <p:nvPr/>
          </p:nvSpPr>
          <p:spPr>
            <a:xfrm>
              <a:off x="33909" y="33909"/>
              <a:ext cx="24384001" cy="13716001"/>
            </a:xfrm>
            <a:custGeom>
              <a:rect b="b" l="l" r="r" t="t"/>
              <a:pathLst>
                <a:path extrusionOk="0" h="1371600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3716001"/>
                  </a:lnTo>
                  <a:lnTo>
                    <a:pt x="0" y="13716001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400" name="Google Shape;400;p36"/>
            <p:cNvSpPr/>
            <p:nvPr/>
          </p:nvSpPr>
          <p:spPr>
            <a:xfrm>
              <a:off x="0" y="0"/>
              <a:ext cx="24451818" cy="13783818"/>
            </a:xfrm>
            <a:custGeom>
              <a:rect b="b" l="l" r="r" t="t"/>
              <a:pathLst>
                <a:path extrusionOk="0" h="13783818" w="24451818">
                  <a:moveTo>
                    <a:pt x="33909" y="0"/>
                  </a:moveTo>
                  <a:lnTo>
                    <a:pt x="24417910" y="0"/>
                  </a:lnTo>
                  <a:cubicBezTo>
                    <a:pt x="24436578" y="0"/>
                    <a:pt x="24451818" y="15113"/>
                    <a:pt x="24451818" y="33909"/>
                  </a:cubicBezTo>
                  <a:lnTo>
                    <a:pt x="24451818" y="13749910"/>
                  </a:lnTo>
                  <a:cubicBezTo>
                    <a:pt x="24451818" y="13768578"/>
                    <a:pt x="24436705" y="13783818"/>
                    <a:pt x="24417910" y="13783818"/>
                  </a:cubicBezTo>
                  <a:lnTo>
                    <a:pt x="33909" y="13783818"/>
                  </a:lnTo>
                  <a:cubicBezTo>
                    <a:pt x="15240" y="13783818"/>
                    <a:pt x="0" y="13768705"/>
                    <a:pt x="0" y="13749910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13749910"/>
                  </a:lnTo>
                  <a:lnTo>
                    <a:pt x="33909" y="13749910"/>
                  </a:lnTo>
                  <a:lnTo>
                    <a:pt x="33909" y="13716000"/>
                  </a:lnTo>
                  <a:lnTo>
                    <a:pt x="24417910" y="13716000"/>
                  </a:lnTo>
                  <a:lnTo>
                    <a:pt x="24417910" y="13749910"/>
                  </a:lnTo>
                  <a:lnTo>
                    <a:pt x="24384000" y="13749910"/>
                  </a:lnTo>
                  <a:lnTo>
                    <a:pt x="24384000" y="33909"/>
                  </a:lnTo>
                  <a:lnTo>
                    <a:pt x="24417910" y="33909"/>
                  </a:lnTo>
                  <a:lnTo>
                    <a:pt x="24417910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0F24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1" name="Google Shape;401;p36"/>
          <p:cNvSpPr txBox="1"/>
          <p:nvPr/>
        </p:nvSpPr>
        <p:spPr>
          <a:xfrm>
            <a:off x="10582298" y="6464001"/>
            <a:ext cx="3196186" cy="453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www.zarantech.com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36"/>
          <p:cNvSpPr/>
          <p:nvPr/>
        </p:nvSpPr>
        <p:spPr>
          <a:xfrm>
            <a:off x="10134151" y="6485798"/>
            <a:ext cx="381880" cy="399958"/>
          </a:xfrm>
          <a:custGeom>
            <a:rect b="b" l="l" r="r" t="t"/>
            <a:pathLst>
              <a:path extrusionOk="0" h="399958" w="381880">
                <a:moveTo>
                  <a:pt x="0" y="0"/>
                </a:moveTo>
                <a:lnTo>
                  <a:pt x="381880" y="0"/>
                </a:lnTo>
                <a:lnTo>
                  <a:pt x="381880" y="399958"/>
                </a:lnTo>
                <a:lnTo>
                  <a:pt x="0" y="3999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3" name="Google Shape;403;p36"/>
          <p:cNvSpPr/>
          <p:nvPr/>
        </p:nvSpPr>
        <p:spPr>
          <a:xfrm>
            <a:off x="15775388" y="330356"/>
            <a:ext cx="2238872" cy="461178"/>
          </a:xfrm>
          <a:custGeom>
            <a:rect b="b" l="l" r="r" t="t"/>
            <a:pathLst>
              <a:path extrusionOk="0" h="461178" w="2238872">
                <a:moveTo>
                  <a:pt x="0" y="0"/>
                </a:moveTo>
                <a:lnTo>
                  <a:pt x="2238872" y="0"/>
                </a:lnTo>
                <a:lnTo>
                  <a:pt x="2238872" y="461178"/>
                </a:lnTo>
                <a:lnTo>
                  <a:pt x="0" y="4611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4" name="Google Shape;404;p36"/>
          <p:cNvSpPr txBox="1"/>
          <p:nvPr/>
        </p:nvSpPr>
        <p:spPr>
          <a:xfrm>
            <a:off x="10134151" y="3262096"/>
            <a:ext cx="6115454" cy="2736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3998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t/>
            </a:r>
            <a:endParaRPr b="1" i="0" sz="72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9958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C000"/>
                </a:solidFill>
                <a:latin typeface="Open Sans"/>
                <a:ea typeface="Open Sans"/>
                <a:cs typeface="Open Sans"/>
                <a:sym typeface="Open Sans"/>
              </a:rPr>
              <a:t>For more informative Videos, Subscribe to our YouTube Channel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36"/>
          <p:cNvSpPr txBox="1"/>
          <p:nvPr/>
        </p:nvSpPr>
        <p:spPr>
          <a:xfrm>
            <a:off x="9702583" y="97705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6" name="Google Shape;406;p36"/>
          <p:cNvPicPr preferRelativeResize="0"/>
          <p:nvPr/>
        </p:nvPicPr>
        <p:blipFill rotWithShape="1">
          <a:blip r:embed="rId5">
            <a:alphaModFix/>
          </a:blip>
          <a:srcRect b="0" l="0" r="41821" t="0"/>
          <a:stretch/>
        </p:blipFill>
        <p:spPr>
          <a:xfrm>
            <a:off x="-392265" y="-185528"/>
            <a:ext cx="9275007" cy="106281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