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14"/>
    <p:sldId id="276" r:id="rId13"/>
    <p:sldId id="277" r:id="rId12"/>
    <p:sldId id="278" r:id="rId11"/>
    <p:sldId id="279" r:id="rId10"/>
    <p:sldId id="280" r:id="rId8"/>
    <p:sldId id="281" r:id="rId7"/>
    <p:sldId id="282" r:id="rId6"/>
    <p:sldId id="283" r:id="rId38"/>
  </p:sldIdLst>
  <p:sldSz cy="10287000" cx="18288000"/>
  <p:notesSz cx="6858000" cy="9144000"/>
  <p:embeddedFontLst>
    <p:embeddedFont>
      <p:font typeface="Lato"/>
      <p:regular r:id="rId30"/>
      <p:bold r:id="rId31"/>
      <p:italic r:id="rId32"/>
      <p:boldItalic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4.xml"/><Relationship Id="rId7" Type="http://schemas.openxmlformats.org/officeDocument/2006/relationships/slide" Target="slides/slide23.xml"/><Relationship Id="rId8" Type="http://schemas.openxmlformats.org/officeDocument/2006/relationships/slide" Target="slides/slide22.xml"/><Relationship Id="rId10" Type="http://schemas.openxmlformats.org/officeDocument/2006/relationships/slide" Target="slides/slide21.xml"/><Relationship Id="rId11" Type="http://schemas.openxmlformats.org/officeDocument/2006/relationships/slide" Target="slides/slide20.xml"/><Relationship Id="rId12" Type="http://schemas.openxmlformats.org/officeDocument/2006/relationships/slide" Target="slides/slide19.xml"/><Relationship Id="rId13" Type="http://schemas.openxmlformats.org/officeDocument/2006/relationships/slide" Target="slides/slide18.xml"/><Relationship Id="rId14" Type="http://schemas.openxmlformats.org/officeDocument/2006/relationships/slide" Target="slides/slide17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font" Target="fonts/Lato-regular.fntdata"/><Relationship Id="rId31" Type="http://schemas.openxmlformats.org/officeDocument/2006/relationships/font" Target="fonts/Lato-bold.fntdata"/><Relationship Id="rId32" Type="http://schemas.openxmlformats.org/officeDocument/2006/relationships/font" Target="fonts/Lato-italic.fntdata"/><Relationship Id="rId33" Type="http://schemas.openxmlformats.org/officeDocument/2006/relationships/font" Target="fonts/Lato-boldItalic.fntdata"/><Relationship Id="rId34" Type="http://schemas.openxmlformats.org/officeDocument/2006/relationships/font" Target="fonts/OpenSans-regular.fntdata"/><Relationship Id="rId35" Type="http://schemas.openxmlformats.org/officeDocument/2006/relationships/font" Target="fonts/OpenSans-bold.fntdata"/><Relationship Id="rId36" Type="http://schemas.openxmlformats.org/officeDocument/2006/relationships/font" Target="fonts/OpenSans-italic.fntdata"/><Relationship Id="rId37" Type="http://schemas.openxmlformats.org/officeDocument/2006/relationships/font" Target="fonts/OpenSans-boldItalic.fntdata"/><Relationship Id="rId38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9" name="Google Shape;19;p2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Module 5 Facilitator Recording Deck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Advanced Developer Workflows and Capstone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Total runtime: 100 minutes across 12 videos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TRAINER ONLY. Do not publish and do not show on camera.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deck names planted defects. A learner who sees it loses the exercises.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Full narration is in 02-facilitator/recording-script.md.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Breakdown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5.1: Module opening, section map, planning as a pair architect, specs, sequence... (7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5.2: Task breakdowns, agile backlogs, sprint tasks (5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5.3: Tooling, git workflows, CI and CD, migrations, infrastructure as code (8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5.4: Capstone scope and the three phases (6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5.5: How the capstone is marked (6 min)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Breakdown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5.6: Exercise 13 Part 1, questions first, then the spec (9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5.7: Exercise 13 Part 2, design, diagram, tickets, trace (9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5.8: Exercise 14, generate one config file and review it by reading (12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5.9: Exercise 15 Part 1, scaffold the service and record the baseline (12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5.10: Exercise 15 Part 2, integrate the API and design the prompt (12 min)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Breakdown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5.11: Exercise 15 Part 3, the failing test, more tests, the README (11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5.12: Module and programme close (3 min)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5.1: Planning with Claude, and specifications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 minutes |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3 through 7. Hold on slide 4 while you say the Exercise 15 line.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preview the weak-versus-strong prompt pair from Exercise 13. The learner is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Slide 7's bullets sit inside grouped shapes, so the on-screen reading order is not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imply anything in this module deploys. Nothing in the programme deploys.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5.2: Backlogs and task breakdown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 minutes |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8, 9, 10.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open a real issue tracker at any point in this module. The labs deliberately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Slide 9 says Claude can prioritise a backlog by analysing business metrics. Do not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5.3: Tooling, git, CI and CD, and infrastructure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 minutes |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11 through 16. Hold on 16 for the Exercise 14 scope statement.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Slide 16 is the frame that makes learners install a container runtime they do not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This slide was flagged in 03-labs/README.md for a scope note and the revised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name a cloud provider's pricing or a specific product tier.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5.4: The capstone, scoped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 minutes |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17 through 20.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read a finished summarisation prompt onto slide 18, and do not describe one in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Slide 19 mentions exponential backoff. It is a "going further" item in the lab, not a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Slide 20 says integration tests generated by AI validate end-to-end workflows. Do not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5.5: How the capstone is marked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 minutes | deck, then docs/capstone-brief.md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23 first, held.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docs/capstone-brief.md, the rubric table, then the gates table.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21. Then 22 and 24 briefly.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The new slide 23 sits between slides 22 and 24, which are the unrewritten adjective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5.5: How the capstone is marked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restate a threshold in a form the brief does not use. Two numbers that nearly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put a submission date on screen.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5.6: Exercise 13 Part 1, questions before prompts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9 minutes | browser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one-line brief, written in the conversation.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Both columns and the question list, in a markdown file.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weak prompt and its answer, skimmed.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strong prompt in a new conversation, and spec.md saved.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5.6: Exercise 13 Part 1, questions before prompts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The Claude sidebar, the conversation list and the project list are in frame for this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The model picker is on screen in the browser labs whether you want it or not, and it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open the account menu. Email address and plan tier.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5.7: Exercise 13 Part 2, design, diagram, tickets,...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9 minutes | browser, then editor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design.md being built, with one visible correction round.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Mermaid block pasted into the renderer and drawing.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tickets.md, and one ticket failing a check and being split.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One trace run end to end, in both directions.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5.7: Exercise 13 Part 2, design, diagram, tickets,...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Same browser hygiene as 5.6. Sidebar, tab strip, no model picker, no account menu.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A Mermaid block that will not render is a real risk on camera. Have a known-good small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fix a ticket silently. The correction is the content.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5.8: Exercise 14, generate one config file and...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12 minutes | browser, then editor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nine stack fact lines, typed out.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Both generated files side by side.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Five checklist rows worked against the file, marked pass or fix.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Two or three hand corrections.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5.8: Exercise 14, generate one config file and...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run a build, do not show a build command, and do not mention having a runtime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Twelve minutes is the cap and this lab has seven steps with a fifteen-row table in the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If the generated file happens to be correct on a row, say so and move on. Do not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5.9: Exercise 15 Part 1, scaffold and baseline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12 minutes | terminal, then editor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cp -r into a folder outside the repo, then git init and .gitignore before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Setup, then python app.py in one terminal and curl -s localhost:5000/health in a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app.py read top to bottom, slowly, with the response table filled in as you go.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pytest, with the 3 passed, 1 failed line and assert 502 == 200 in frame.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5.9: Exercise 15 Part 1, scaffold and baseline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.env is on screen again in this module and it carries both the key and the model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The skeleton runs with debug=True in app.run, so an unhandled exception renders the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app.py line 17 carries a comment beginning "Trap 1". If you read the file top to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5.10: Exercise 15 Part 2, the API and the prompt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12 minutes | editor, then terminal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summariser.py, with the module boundary explained.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four lines written out, on screen, as four lines. Not a prompt.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Enough of the prompt going into the file to show it is a real template, without the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injection curl, and the response.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5.10: Exercise 15 Part 2, the API and the prompt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The single hardest constraint in this module: do not put a finished, copyable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trigger an unhandled exception. debug=True renders the interactive debugger.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The 3 MB body needed for the framework 413 has to be constructed, not typed. Prepare the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5.11: Exercise 15 Part 3, the failing test and the...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11 minutes | terminal, then editor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pytest, with 3 passed, 1 failed and assert 502 == 200.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Both tests in one frame, side by side, with the targets visible.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mechanism prompt, sent, with the explanation on screen.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generation prompt for the extra tests, and the full suite green.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5.11: Exercise 15 Part 3, the failing test and the...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fix the failing test on camera and do not name the fix. The register, the lab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The failing test's body carries a comment that names the cause of the failure in plain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show the git log of your own recording repository. Show the learner's fresh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5.12: Module and programme close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 minutes |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25, then slide 26.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Slide 25's "deploying a robust, fully tested capstone application" wording was flagged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Slide 25 also says "terraform deployment files", which overstates what Exercise 14 did.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No employability claim, no certification claim, no ZaranTech statistic that is not on the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What This Module Fails Without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value of a generated spec is in its assumptions section, and the instruction that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Configuration is reviewed by reading, never by building, which is why a checklist beats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413 is a body-size rejection rather than a rate limit or a context-window problem, and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generated test that fails is usually pointing at the wrong name rather than finding a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Stale grounding fails silently: change the design without changing the project context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9830" y="1743131"/>
            <a:ext cx="4944608" cy="569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