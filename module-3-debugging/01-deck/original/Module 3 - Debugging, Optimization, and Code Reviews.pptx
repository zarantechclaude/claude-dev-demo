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0287000" cx="18288000"/>
  <p:notesSz cx="6858000" cy="9144000"/>
  <p:embeddedFontLst>
    <p:embeddedFont>
      <p:font typeface="Lato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35" Type="http://schemas.openxmlformats.org/officeDocument/2006/relationships/font" Target="fonts/OpenSans-regular.fntdata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italic.fntdata"/><Relationship Id="rId14" Type="http://schemas.openxmlformats.org/officeDocument/2006/relationships/slide" Target="slides/slide9.xml"/><Relationship Id="rId36" Type="http://schemas.openxmlformats.org/officeDocument/2006/relationships/font" Target="fonts/Open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2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2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2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2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2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9" name="Google Shape;19;p2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3"/>
          <p:cNvGrpSpPr/>
          <p:nvPr/>
        </p:nvGrpSpPr>
        <p:grpSpPr>
          <a:xfrm>
            <a:off x="-448267" y="0"/>
            <a:ext cx="19123574" cy="10605878"/>
            <a:chOff x="0" y="0"/>
            <a:chExt cx="24451818" cy="13783818"/>
          </a:xfrm>
        </p:grpSpPr>
        <p:sp>
          <p:nvSpPr>
            <p:cNvPr id="93" name="Google Shape;93;p13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94" name="Google Shape;94;p13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9395642" y="3246048"/>
            <a:ext cx="7716702" cy="3397792"/>
            <a:chOff x="9645115" y="130296"/>
            <a:chExt cx="7838651" cy="3397792"/>
          </a:xfrm>
        </p:grpSpPr>
        <p:sp>
          <p:nvSpPr>
            <p:cNvPr id="96" name="Google Shape;96;p13"/>
            <p:cNvSpPr txBox="1"/>
            <p:nvPr/>
          </p:nvSpPr>
          <p:spPr>
            <a:xfrm>
              <a:off x="9645115" y="130296"/>
              <a:ext cx="7838651" cy="2862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00"/>
                <a:buFont typeface="Arial"/>
                <a:buNone/>
              </a:pPr>
              <a:r>
                <a:rPr b="1" i="0" lang="en-US" sz="6200" u="none" cap="none" strike="noStrike">
                  <a:solidFill>
                    <a:srgbClr val="FFC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Debugging, Optimization, and Code Reviews</a:t>
              </a:r>
              <a:endParaRPr b="1" i="0" sz="62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97" name="Google Shape;97;p13"/>
            <p:cNvGrpSpPr/>
            <p:nvPr/>
          </p:nvGrpSpPr>
          <p:grpSpPr>
            <a:xfrm>
              <a:off x="9729879" y="3114482"/>
              <a:ext cx="3735772" cy="413606"/>
              <a:chOff x="9870618" y="3713509"/>
              <a:chExt cx="3735772" cy="413606"/>
            </a:xfrm>
          </p:grpSpPr>
          <p:sp>
            <p:nvSpPr>
              <p:cNvPr id="98" name="Google Shape;98;p13"/>
              <p:cNvSpPr txBox="1"/>
              <p:nvPr/>
            </p:nvSpPr>
            <p:spPr>
              <a:xfrm>
                <a:off x="10410190" y="3713509"/>
                <a:ext cx="31962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995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www.zarantech.com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9870618" y="3727157"/>
                <a:ext cx="381880" cy="399958"/>
              </a:xfrm>
              <a:custGeom>
                <a:rect b="b" l="l" r="r" t="t"/>
                <a:pathLst>
                  <a:path extrusionOk="0" h="399958" w="381880">
                    <a:moveTo>
                      <a:pt x="0" y="0"/>
                    </a:moveTo>
                    <a:lnTo>
                      <a:pt x="381880" y="0"/>
                    </a:lnTo>
                    <a:lnTo>
                      <a:pt x="381880" y="399958"/>
                    </a:lnTo>
                    <a:lnTo>
                      <a:pt x="0" y="399958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</p:sp>
        </p:grpSp>
      </p:grpSp>
      <p:sp>
        <p:nvSpPr>
          <p:cNvPr id="100" name="Google Shape;100;p13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508831" y="-1"/>
            <a:ext cx="9255542" cy="1060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9144000" y="583020"/>
            <a:ext cx="9448800" cy="9710538"/>
          </a:xfrm>
          <a:custGeom>
            <a:rect b="b" l="l" r="r" t="t"/>
            <a:pathLst>
              <a:path extrusionOk="0" h="12689306" w="12689306">
                <a:moveTo>
                  <a:pt x="0" y="0"/>
                </a:moveTo>
                <a:lnTo>
                  <a:pt x="12689306" y="0"/>
                </a:lnTo>
                <a:lnTo>
                  <a:pt x="12689306" y="12689306"/>
                </a:lnTo>
                <a:lnTo>
                  <a:pt x="0" y="12689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28" l="-22357" r="-16672" t="-15062"/>
            </a:stretch>
          </a:blipFill>
          <a:ln>
            <a:noFill/>
          </a:ln>
        </p:spPr>
      </p:sp>
      <p:grpSp>
        <p:nvGrpSpPr>
          <p:cNvPr id="110" name="Google Shape;110;p14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11" name="Google Shape;111;p14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4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Disclaimer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323850" y="1460370"/>
            <a:ext cx="882015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presentation, including examples, images, and references are provided for informational purposes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Complying with all applicable copyrights laws is the responsibility of the user.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Without limiting the rights under copyright, no part of this document may be  reproduced, stored or introduced into a retrieval system, or transmitted in any form or by any means.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Credits shall be given to the images taken from the open-source and cannot be used for promotional activities.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16" name="Google Shape;116;p1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17114219" y="9163493"/>
            <a:ext cx="34324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24" name="Google Shape;124;p15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15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02391" y="2066255"/>
            <a:ext cx="10209152" cy="5318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Welcome to Module three covering debugging, optimization, and AI-assisted code review techniques.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Learn how to present errors and logs to Claude for rapid troubleshooting.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Discover strategies to improve algorithmic complexity and overall application memory usage seamlessly.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Master prompt patterns to integrate Claude effectively into your pull request workflows.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10893284" y="-38176"/>
            <a:ext cx="7187978" cy="10325176"/>
          </a:xfrm>
          <a:custGeom>
            <a:rect b="b" l="l" r="r" t="t"/>
            <a:pathLst>
              <a:path extrusionOk="0" h="10325176" w="7187978">
                <a:moveTo>
                  <a:pt x="0" y="0"/>
                </a:moveTo>
                <a:lnTo>
                  <a:pt x="7187978" y="0"/>
                </a:lnTo>
                <a:lnTo>
                  <a:pt x="7187978" y="10325176"/>
                </a:lnTo>
                <a:lnTo>
                  <a:pt x="0" y="10325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30" name="Google Shape;130;p1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02391" y="1458435"/>
            <a:ext cx="2507429" cy="45719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Presenting Errors to Claude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quickly identifies code mistakes, explains underlying issues, and suggests actionable improvements.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Share complete error messages instead of partial snippets to ensure accurate context.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Provide the exact environment details where the specific software error originally occurred.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Include related code segments surrounding the failing line to improve AI comprehension.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Sharing Stack Traces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53" name="Google Shape;153;p1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7"/>
          <p:cNvSpPr txBox="1"/>
          <p:nvPr/>
        </p:nvSpPr>
        <p:spPr>
          <a:xfrm>
            <a:off x="502391" y="2446064"/>
            <a:ext cx="10683769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the entire stack trace rather than just the final error line.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Highlight custom application code within the trace to focus Claude on specifics.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explain the exact sequence of events leading to failure.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Filter out irrelevant framework warnings before pasting to maintain strict context limits.</a:t>
            </a:r>
            <a:endParaRPr/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23685" y="1902788"/>
            <a:ext cx="4619401" cy="4162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Crafting Clear Repro Steps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1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65" name="Google Shape;165;p1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7" name="Google Shape;167;p18"/>
          <p:cNvGrpSpPr/>
          <p:nvPr/>
        </p:nvGrpSpPr>
        <p:grpSpPr>
          <a:xfrm>
            <a:off x="1476592" y="2205945"/>
            <a:ext cx="14858611" cy="1382806"/>
            <a:chOff x="2292567" y="3922998"/>
            <a:chExt cx="13991635" cy="1583760"/>
          </a:xfrm>
        </p:grpSpPr>
        <p:sp>
          <p:nvSpPr>
            <p:cNvPr id="168" name="Google Shape;168;p18"/>
            <p:cNvSpPr/>
            <p:nvPr/>
          </p:nvSpPr>
          <p:spPr>
            <a:xfrm>
              <a:off x="2292567" y="3922998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2458402" y="4075398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Detail the exact user actions required to reproduce the bug consistently today.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0" name="Google Shape;170;p18"/>
          <p:cNvGrpSpPr/>
          <p:nvPr/>
        </p:nvGrpSpPr>
        <p:grpSpPr>
          <a:xfrm>
            <a:off x="1476592" y="4110306"/>
            <a:ext cx="14858611" cy="1382806"/>
            <a:chOff x="2292567" y="5702612"/>
            <a:chExt cx="13991635" cy="1583760"/>
          </a:xfrm>
        </p:grpSpPr>
        <p:sp>
          <p:nvSpPr>
            <p:cNvPr id="171" name="Google Shape;171;p18"/>
            <p:cNvSpPr/>
            <p:nvPr/>
          </p:nvSpPr>
          <p:spPr>
            <a:xfrm>
              <a:off x="2292567" y="5702612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2458402" y="5855012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Provide sample inputs or payload data necessary to trigger the unexpected behavior.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1476592" y="6014667"/>
            <a:ext cx="14858611" cy="1382806"/>
            <a:chOff x="2292567" y="7564986"/>
            <a:chExt cx="13991635" cy="1583760"/>
          </a:xfrm>
        </p:grpSpPr>
        <p:sp>
          <p:nvSpPr>
            <p:cNvPr id="174" name="Google Shape;174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List active database states or mock data required for accurate bug reproduction.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6" name="Google Shape;176;p18"/>
          <p:cNvGrpSpPr/>
          <p:nvPr/>
        </p:nvGrpSpPr>
        <p:grpSpPr>
          <a:xfrm>
            <a:off x="1476591" y="7919027"/>
            <a:ext cx="14858611" cy="1382806"/>
            <a:chOff x="2292567" y="7564986"/>
            <a:chExt cx="13991635" cy="1583760"/>
          </a:xfrm>
        </p:grpSpPr>
        <p:sp>
          <p:nvSpPr>
            <p:cNvPr id="177" name="Google Shape;177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Ask Claude to simulate the repro steps conceptually to verify complete understanding.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/>
        </p:nvSpPr>
        <p:spPr>
          <a:xfrm>
            <a:off x="502391" y="637523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Isolating Root Causes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1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87" name="Google Shape;187;p1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9"/>
          <p:cNvSpPr/>
          <p:nvPr/>
        </p:nvSpPr>
        <p:spPr>
          <a:xfrm>
            <a:off x="1858692" y="3990891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targeted questions to eliminate impossible scenarios and narrow down the problem.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1858692" y="2406524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Instruct Claude to list potential failure points based on the provided logs.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1858692" y="5575258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Ask Claude to explain the code reasoning to uncover hidden logic errors.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1754532" y="7159624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Request focused logging statements to extract more details from the failing function.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Binary Search Debugging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01" name="Google Shape;201;p2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20"/>
          <p:cNvSpPr txBox="1"/>
          <p:nvPr/>
        </p:nvSpPr>
        <p:spPr>
          <a:xfrm>
            <a:off x="477775" y="2104355"/>
            <a:ext cx="17019300" cy="214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Apply binary search principles by commenting out halves of the application code.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where to place strategic breakpoints to split the execution flow.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Feed interim log results back to Claude to determine the next halving.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Continue halving the suspected code until the exact buggy line is isolated.</a:t>
            </a:r>
            <a:endParaRPr/>
          </a:p>
        </p:txBody>
      </p:sp>
      <p:pic>
        <p:nvPicPr>
          <p:cNvPr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01950" y="4668097"/>
            <a:ext cx="7084100" cy="4677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Generating Debugging Hypotheses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13" name="Google Shape;213;p2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21"/>
          <p:cNvSpPr/>
          <p:nvPr/>
        </p:nvSpPr>
        <p:spPr>
          <a:xfrm>
            <a:off x="1447801" y="247560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 Claude to generate three distinct hypotheses for why the code fails.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8474557" y="2482332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rank the generated hypotheses by their probability of occurrence.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3807795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Review each hypothesis against the known facts and existing runtime error logs.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11824767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Develop a quick test for the most probable hypothesis to confirm validity.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Evaluating Alternative Fixes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p2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27" name="Google Shape;227;p2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22"/>
          <p:cNvSpPr txBox="1"/>
          <p:nvPr/>
        </p:nvSpPr>
        <p:spPr>
          <a:xfrm>
            <a:off x="502391" y="2294510"/>
            <a:ext cx="104704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provide multiple solution options ranging from quick to comprehensive.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Compare the potential side effects of each proposed fix before implementing one.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Claude to explain the trade-offs between the different alternative code solutions.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Select the fix that aligns best with your current system architecture guidelines.</a:t>
            </a:r>
            <a:endParaRPr/>
          </a:p>
        </p:txBody>
      </p:sp>
      <p:pic>
        <p:nvPicPr>
          <p:cNvPr id="230" name="Google Shape;2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85625" y="2355422"/>
            <a:ext cx="5086350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Spotting Performance Bottlenecks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2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39" name="Google Shape;239;p2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23"/>
          <p:cNvSpPr txBox="1"/>
          <p:nvPr/>
        </p:nvSpPr>
        <p:spPr>
          <a:xfrm>
            <a:off x="7702321" y="2777960"/>
            <a:ext cx="959232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Share execution times and profiling logs for Claude to analyze potential slowdowns.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pinpoint specific functions causing major latency in the application.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Identify redundant database queries and ask Claude for efficient batching alternative methods.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Review heavy computational tasks and request lighter processing strategies from the AI.</a:t>
            </a:r>
            <a:endParaRPr/>
          </a:p>
        </p:txBody>
      </p:sp>
      <p:pic>
        <p:nvPicPr>
          <p:cNvPr id="242" name="Google Shape;24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558" y="2563868"/>
            <a:ext cx="6448425" cy="47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Eliminating N² Loops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2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51" name="Google Shape;251;p2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24"/>
          <p:cNvSpPr txBox="1"/>
          <p:nvPr/>
        </p:nvSpPr>
        <p:spPr>
          <a:xfrm>
            <a:off x="502391" y="2275022"/>
            <a:ext cx="1063910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 Claude to locate nested loops that cause exponential execution time growth.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for refactoring suggestions using hash maps or dictionaries to reduce complexity.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Compare the before and after execution times of the refactored loop structures.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the new flat data structures maintain the original expected output perfectly.</a:t>
            </a:r>
            <a:endParaRPr/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70608" y="2275022"/>
            <a:ext cx="5829300" cy="48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Reducing Unnecessary I/O Operations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1" name="Google Shape;261;p2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63" name="Google Shape;263;p2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25"/>
          <p:cNvSpPr txBox="1"/>
          <p:nvPr/>
        </p:nvSpPr>
        <p:spPr>
          <a:xfrm>
            <a:off x="6848970" y="2593571"/>
            <a:ext cx="10114372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Identify excessive network calls and ask Claude to design an efficient cache.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strategies for combining multiple small database reads into single bulk queries.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review file reading logic for potential memory buffering improvements.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asynchronous I/O patterns following Claude's concurrent programming and structural code suggestions.</a:t>
            </a:r>
            <a:endParaRPr/>
          </a:p>
        </p:txBody>
      </p:sp>
      <p:pic>
        <p:nvPicPr>
          <p:cNvPr id="266" name="Google Shape;26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7477" y="2127165"/>
            <a:ext cx="5331976" cy="5217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Improving Algorithmic Complexity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2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2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75" name="Google Shape;275;p2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26"/>
          <p:cNvSpPr/>
          <p:nvPr/>
        </p:nvSpPr>
        <p:spPr>
          <a:xfrm>
            <a:off x="1187465" y="2550262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Provide current algorithms and ask Claude to calculate their Big-O time complexity.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7970858" y="2550262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Analyze the mathematical trade-offs between processing speed and algorithmic data structure choices.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4036735" y="5823196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Request algorithmic alternatives that reduce time complexity from linear to logarithmic scales.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11034196" y="5807635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Verify that the optimized algorithm handles edge cases as flawlessly as before.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Enhancing Memory Usage Efficiency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7" name="Google Shape;287;p2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2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89" name="Google Shape;289;p2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27"/>
          <p:cNvSpPr txBox="1"/>
          <p:nvPr/>
        </p:nvSpPr>
        <p:spPr>
          <a:xfrm>
            <a:off x="502391" y="2167708"/>
            <a:ext cx="103688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identify memory leaks caused by unclosed connections or streams.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suggestions for processing massive datasets using generators instead of memory arrays.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garbage collection best practices recommended by Claude for your specific language.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Optimize object creation within loops to reduce unnecessary memory allocation overhead costs.</a:t>
            </a:r>
            <a:endParaRPr/>
          </a:p>
        </p:txBody>
      </p:sp>
      <p:pic>
        <p:nvPicPr>
          <p:cNvPr id="292" name="Google Shape;29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17721" y="1961920"/>
            <a:ext cx="5876925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Proposing Code Patterns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2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2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01" name="Google Shape;301;p2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28"/>
          <p:cNvSpPr txBox="1"/>
          <p:nvPr/>
        </p:nvSpPr>
        <p:spPr>
          <a:xfrm>
            <a:off x="7237568" y="2797409"/>
            <a:ext cx="1033703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 Claude to recommend appropriate design patterns for your specific structural challenges.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how a Singleton or Factory pattern could improve your current implementation.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advanced refactoring advice to transition procedural code into object-oriented architectural structures.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the proposed patterns align cleanly with modern framework conventions and standards.</a:t>
            </a:r>
            <a:endParaRPr/>
          </a:p>
        </p:txBody>
      </p:sp>
      <p:pic>
        <p:nvPicPr>
          <p:cNvPr id="304" name="Google Shape;30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423" y="2297688"/>
            <a:ext cx="5589109" cy="501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Driving Design Improvements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2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2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13" name="Google Shape;313;p2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29"/>
          <p:cNvSpPr/>
          <p:nvPr/>
        </p:nvSpPr>
        <p:spPr>
          <a:xfrm>
            <a:off x="809580" y="2277168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Share your class architecture and ask Claude to suggest decoupling strategy methods.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809580" y="3819479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advice on applying SOLID principles to your existing messy code base.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809580" y="5361790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Claude to generate interface definitions that abstract complex underlying business logic.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809583" y="6904097"/>
            <a:ext cx="16668686" cy="119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 architectural changes by discussing long-term maintenance implications with the AI assistant.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Claude as a Pull Request Partner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27" name="Google Shape;327;p3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30"/>
          <p:cNvSpPr txBox="1"/>
          <p:nvPr/>
        </p:nvSpPr>
        <p:spPr>
          <a:xfrm>
            <a:off x="502391" y="2234258"/>
            <a:ext cx="9686638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Treat Claude as a dedicated reviewer by pasting pending pull request changes.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 effective AI prompt focuses on critical bugs, performance, security, and correctness. 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summarize the core changes to verify your intended logic.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feedback from the perspective of a senior developer evaluating junior code.</a:t>
            </a:r>
            <a:endParaRPr/>
          </a:p>
        </p:txBody>
      </p:sp>
      <p:pic>
        <p:nvPicPr>
          <p:cNvPr id="330" name="Google Shape;33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51739" y="1651233"/>
            <a:ext cx="5105400" cy="48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Prompts for Code Correctness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3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39" name="Google Shape;339;p3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31"/>
          <p:cNvSpPr/>
          <p:nvPr/>
        </p:nvSpPr>
        <p:spPr>
          <a:xfrm>
            <a:off x="1525845" y="2400220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 Claude to verify if the new logic breaks existing test cases.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8948470" y="2400220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a checklist of potential logical failures introduced by the new commit.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4486633" y="6050117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specifically if all edge cases and null values are handled properly.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11704370" y="6007744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Verify that the implemented solution perfectly matches the original business requirement ticket.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Reviewing for Clarity and Style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3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3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53" name="Google Shape;353;p3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32"/>
          <p:cNvSpPr txBox="1"/>
          <p:nvPr/>
        </p:nvSpPr>
        <p:spPr>
          <a:xfrm>
            <a:off x="6949621" y="2258483"/>
            <a:ext cx="1034502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if the variable names accurately describe their contained data values.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suggestions to simplify overly complex conditional statements into readable format structures.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the code strictly follows the established team linting and formatting guidelines.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overly verbose prompts that generate minor stylistic feedback and review overload.</a:t>
            </a:r>
            <a:endParaRPr/>
          </a:p>
        </p:txBody>
      </p:sp>
      <p:pic>
        <p:nvPicPr>
          <p:cNvPr id="356" name="Google Shape;35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516529"/>
            <a:ext cx="6031502" cy="4026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Security Vulnerability Scanning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3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65" name="Google Shape;365;p3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7" name="Google Shape;367;p33"/>
          <p:cNvSpPr txBox="1"/>
          <p:nvPr/>
        </p:nvSpPr>
        <p:spPr>
          <a:xfrm>
            <a:off x="502392" y="2446064"/>
            <a:ext cx="9918866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 Claude to scan the pull request for hardcoded secrets or passwords.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for a specific review identifying potential SQL injection or cross-site scripting.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validation that user inputs are properly sanitized before internal database processing.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Verify that authentication and authorization checks are correctly applied to new endpoints.</a:t>
            </a:r>
            <a:endParaRPr/>
          </a:p>
        </p:txBody>
      </p:sp>
      <p:pic>
        <p:nvPicPr>
          <p:cNvPr id="368" name="Google Shape;36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52192" y="2652125"/>
            <a:ext cx="5842454" cy="3826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Structuring AI Review Output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3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3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77" name="Google Shape;377;p3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9" name="Google Shape;379;p34"/>
          <p:cNvSpPr/>
          <p:nvPr/>
        </p:nvSpPr>
        <p:spPr>
          <a:xfrm>
            <a:off x="861347" y="2585558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Command Claude to output reviews using bullet points for quick human scanning.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8138952" y="2585558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Include a clear sign-off format like an approved emoji for quick scanning.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3238459" y="5875523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Require the AI to categorize feedback into critical issues and minor suggestions.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10783356" y="5875522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Instruct Claude to provide specific code snippets illustrating the proposed review changes.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Integrating AI with Human Processes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9" name="Google Shape;389;p3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" name="Google Shape;390;p3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91" name="Google Shape;391;p3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3" name="Google Shape;393;p35"/>
          <p:cNvSpPr/>
          <p:nvPr/>
        </p:nvSpPr>
        <p:spPr>
          <a:xfrm>
            <a:off x="1343220" y="257210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Claude as the first defense line before assigning a human reviewer.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4" name="Google Shape;394;p35"/>
          <p:cNvSpPr/>
          <p:nvPr/>
        </p:nvSpPr>
        <p:spPr>
          <a:xfrm>
            <a:off x="1343220" y="4143071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Share Claude's summarized findings with the team to accelerate the review process.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5" name="Google Shape;395;p35"/>
          <p:cNvSpPr/>
          <p:nvPr/>
        </p:nvSpPr>
        <p:spPr>
          <a:xfrm>
            <a:off x="1343220" y="5714038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Encourage developers to debate Claude's suggestions to foster deeper technical team understanding.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6" name="Google Shape;396;p35"/>
          <p:cNvSpPr/>
          <p:nvPr/>
        </p:nvSpPr>
        <p:spPr>
          <a:xfrm>
            <a:off x="1343220" y="728500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Maintain human accountability for final approvals regardless of the AI assistant's recommendations.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p3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405" name="Google Shape;405;p3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7" name="Google Shape;407;p36"/>
          <p:cNvSpPr txBox="1"/>
          <p:nvPr/>
        </p:nvSpPr>
        <p:spPr>
          <a:xfrm>
            <a:off x="502391" y="2227530"/>
            <a:ext cx="99370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accelerates debugging by analyzing logs and testing hypotheses to find bugs.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Performance bottlenecks and algorithmic complexity are easily optimized using targeted AI prompts.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AI-assisted code reviews ensure higher correctness, security, and clarity before final merging.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Integrating Claude into daily workflows empowers developers to write reliable, efficient code.</a:t>
            </a:r>
            <a:endParaRPr/>
          </a:p>
        </p:txBody>
      </p:sp>
      <p:pic>
        <p:nvPicPr>
          <p:cNvPr id="408" name="Google Shape;40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45368" y="2317993"/>
            <a:ext cx="5649278" cy="419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37"/>
          <p:cNvGrpSpPr/>
          <p:nvPr/>
        </p:nvGrpSpPr>
        <p:grpSpPr>
          <a:xfrm>
            <a:off x="-378374" y="-159439"/>
            <a:ext cx="19123574" cy="10605878"/>
            <a:chOff x="0" y="0"/>
            <a:chExt cx="24451818" cy="13783818"/>
          </a:xfrm>
        </p:grpSpPr>
        <p:sp>
          <p:nvSpPr>
            <p:cNvPr id="415" name="Google Shape;415;p37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416" name="Google Shape;416;p37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7" name="Google Shape;417;p37"/>
          <p:cNvSpPr txBox="1"/>
          <p:nvPr/>
        </p:nvSpPr>
        <p:spPr>
          <a:xfrm>
            <a:off x="10582298" y="6464001"/>
            <a:ext cx="3196186" cy="453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www.zarantech.com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7"/>
          <p:cNvSpPr/>
          <p:nvPr/>
        </p:nvSpPr>
        <p:spPr>
          <a:xfrm>
            <a:off x="10134151" y="6485798"/>
            <a:ext cx="381880" cy="399958"/>
          </a:xfrm>
          <a:custGeom>
            <a:rect b="b" l="l" r="r" t="t"/>
            <a:pathLst>
              <a:path extrusionOk="0" h="399958" w="381880">
                <a:moveTo>
                  <a:pt x="0" y="0"/>
                </a:moveTo>
                <a:lnTo>
                  <a:pt x="381880" y="0"/>
                </a:lnTo>
                <a:lnTo>
                  <a:pt x="381880" y="399958"/>
                </a:lnTo>
                <a:lnTo>
                  <a:pt x="0" y="399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9" name="Google Shape;419;p37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0" name="Google Shape;420;p37"/>
          <p:cNvSpPr txBox="1"/>
          <p:nvPr/>
        </p:nvSpPr>
        <p:spPr>
          <a:xfrm>
            <a:off x="10134151" y="3262096"/>
            <a:ext cx="6115454" cy="2736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9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For more informative Videos, Subscribe to our YouTube Channel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7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2" name="Google Shape;422;p37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392265" y="-185528"/>
            <a:ext cx="9275007" cy="10628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