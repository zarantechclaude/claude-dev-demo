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81" r:id="rId39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82" r:id="rId40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83" r:id="rId41"/>
    <p:sldId id="275" r:id="rId25"/>
    <p:sldId id="276" r:id="rId26"/>
    <p:sldId id="277" r:id="rId27"/>
    <p:sldId id="278" r:id="rId28"/>
    <p:sldId id="279" r:id="rId29"/>
    <p:sldId id="280" r:id="rId30"/>
  </p:sldIdLst>
  <p:sldSz cy="10287000" cx="18288000"/>
  <p:notesSz cx="6858000" cy="9144000"/>
  <p:embeddedFontLst>
    <p:embeddedFont>
      <p:font typeface="Lato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font" Target="fonts/Lato-regular.fntdata"/><Relationship Id="rId32" Type="http://schemas.openxmlformats.org/officeDocument/2006/relationships/font" Target="fonts/Lato-bold.fntdata"/><Relationship Id="rId33" Type="http://schemas.openxmlformats.org/officeDocument/2006/relationships/font" Target="fonts/Lato-italic.fntdata"/><Relationship Id="rId34" Type="http://schemas.openxmlformats.org/officeDocument/2006/relationships/font" Target="fonts/Lato-boldItalic.fntdata"/><Relationship Id="rId35" Type="http://schemas.openxmlformats.org/officeDocument/2006/relationships/font" Target="fonts/OpenSans-regular.fntdata"/><Relationship Id="rId36" Type="http://schemas.openxmlformats.org/officeDocument/2006/relationships/font" Target="fonts/OpenSans-bold.fntdata"/><Relationship Id="rId37" Type="http://schemas.openxmlformats.org/officeDocument/2006/relationships/font" Target="fonts/OpenSans-italic.fntdata"/><Relationship Id="rId38" Type="http://schemas.openxmlformats.org/officeDocument/2006/relationships/font" Target="fonts/OpenSans-boldItalic.fntdata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7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8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9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0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17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8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9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20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7" name="Google Shape;36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2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2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2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2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3" name="Google Shape;42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2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9" name="Google Shape;19;p2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6809592" y="9161103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9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9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3"/>
          <p:cNvGrpSpPr/>
          <p:nvPr/>
        </p:nvGrpSpPr>
        <p:grpSpPr>
          <a:xfrm>
            <a:off x="-448267" y="0"/>
            <a:ext cx="19123574" cy="10605878"/>
            <a:chOff x="0" y="0"/>
            <a:chExt cx="24451818" cy="13783818"/>
          </a:xfrm>
        </p:grpSpPr>
        <p:sp>
          <p:nvSpPr>
            <p:cNvPr id="93" name="Google Shape;93;p13"/>
            <p:cNvSpPr/>
            <p:nvPr/>
          </p:nvSpPr>
          <p:spPr>
            <a:xfrm>
              <a:off x="33909" y="33909"/>
              <a:ext cx="24384001" cy="13716001"/>
            </a:xfrm>
            <a:custGeom>
              <a:rect b="b" l="l" r="r" t="t"/>
              <a:pathLst>
                <a:path extrusionOk="0"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94" name="Google Shape;94;p13"/>
            <p:cNvSpPr/>
            <p:nvPr/>
          </p:nvSpPr>
          <p:spPr>
            <a:xfrm>
              <a:off x="0" y="0"/>
              <a:ext cx="24451818" cy="13783818"/>
            </a:xfrm>
            <a:custGeom>
              <a:rect b="b" l="l" r="r" t="t"/>
              <a:pathLst>
                <a:path extrusionOk="0" h="13783818" w="24451818">
                  <a:moveTo>
                    <a:pt x="33909" y="0"/>
                  </a:moveTo>
                  <a:lnTo>
                    <a:pt x="24417910" y="0"/>
                  </a:lnTo>
                  <a:cubicBezTo>
                    <a:pt x="24436578" y="0"/>
                    <a:pt x="24451818" y="15113"/>
                    <a:pt x="24451818" y="33909"/>
                  </a:cubicBezTo>
                  <a:lnTo>
                    <a:pt x="24451818" y="13749910"/>
                  </a:lnTo>
                  <a:cubicBezTo>
                    <a:pt x="24451818" y="13768578"/>
                    <a:pt x="24436705" y="13783818"/>
                    <a:pt x="24417910" y="13783818"/>
                  </a:cubicBezTo>
                  <a:lnTo>
                    <a:pt x="33909" y="13783818"/>
                  </a:lnTo>
                  <a:cubicBezTo>
                    <a:pt x="15240" y="13783818"/>
                    <a:pt x="0" y="13768705"/>
                    <a:pt x="0" y="13749910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3749910"/>
                  </a:lnTo>
                  <a:lnTo>
                    <a:pt x="33909" y="13749910"/>
                  </a:lnTo>
                  <a:lnTo>
                    <a:pt x="33909" y="13716000"/>
                  </a:lnTo>
                  <a:lnTo>
                    <a:pt x="24417910" y="13716000"/>
                  </a:lnTo>
                  <a:lnTo>
                    <a:pt x="24417910" y="13749910"/>
                  </a:lnTo>
                  <a:lnTo>
                    <a:pt x="24384000" y="13749910"/>
                  </a:lnTo>
                  <a:lnTo>
                    <a:pt x="24384000" y="33909"/>
                  </a:lnTo>
                  <a:lnTo>
                    <a:pt x="24417910" y="33909"/>
                  </a:lnTo>
                  <a:lnTo>
                    <a:pt x="244179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F24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" name="Google Shape;95;p13"/>
          <p:cNvGrpSpPr/>
          <p:nvPr/>
        </p:nvGrpSpPr>
        <p:grpSpPr>
          <a:xfrm>
            <a:off x="9395642" y="3246048"/>
            <a:ext cx="8618618" cy="3397792"/>
            <a:chOff x="9645115" y="130296"/>
            <a:chExt cx="8754820" cy="3397792"/>
          </a:xfrm>
        </p:grpSpPr>
        <p:sp>
          <p:nvSpPr>
            <p:cNvPr id="96" name="Google Shape;96;p13"/>
            <p:cNvSpPr txBox="1"/>
            <p:nvPr/>
          </p:nvSpPr>
          <p:spPr>
            <a:xfrm>
              <a:off x="9645115" y="130296"/>
              <a:ext cx="8754820" cy="2862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00"/>
                <a:buFont typeface="Arial"/>
                <a:buNone/>
              </a:pPr>
              <a:r>
                <a:rPr b="1" i="0" lang="en-US" sz="6200" u="none" cap="none" strike="noStrike">
                  <a:solidFill>
                    <a:srgbClr val="FFC000"/>
                  </a:solidFill>
                  <a:latin typeface="Open Sans"/>
                  <a:ea typeface="Open Sans"/>
                  <a:cs typeface="Open Sans"/>
                  <a:sym typeface="Open Sans"/>
                </a:rPr>
                <a:t>Building with the Claude API (Backend &amp; Integration)</a:t>
              </a:r>
              <a:endParaRPr b="1" i="0" sz="6200" u="none" cap="none" strike="noStrike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97" name="Google Shape;97;p13"/>
            <p:cNvGrpSpPr/>
            <p:nvPr/>
          </p:nvGrpSpPr>
          <p:grpSpPr>
            <a:xfrm>
              <a:off x="9729879" y="3114482"/>
              <a:ext cx="3735772" cy="413606"/>
              <a:chOff x="9870618" y="3713509"/>
              <a:chExt cx="3735772" cy="413606"/>
            </a:xfrm>
          </p:grpSpPr>
          <p:sp>
            <p:nvSpPr>
              <p:cNvPr id="98" name="Google Shape;98;p13"/>
              <p:cNvSpPr txBox="1"/>
              <p:nvPr/>
            </p:nvSpPr>
            <p:spPr>
              <a:xfrm>
                <a:off x="10410190" y="3713509"/>
                <a:ext cx="31962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995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www.zarantech.com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9870618" y="3727157"/>
                <a:ext cx="381880" cy="399958"/>
              </a:xfrm>
              <a:custGeom>
                <a:rect b="b" l="l" r="r" t="t"/>
                <a:pathLst>
                  <a:path extrusionOk="0" h="399958" w="381880">
                    <a:moveTo>
                      <a:pt x="0" y="0"/>
                    </a:moveTo>
                    <a:lnTo>
                      <a:pt x="381880" y="0"/>
                    </a:lnTo>
                    <a:lnTo>
                      <a:pt x="381880" y="399958"/>
                    </a:lnTo>
                    <a:lnTo>
                      <a:pt x="0" y="399958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1">
                <a:blip r:embed="rId3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</p:sp>
        </p:grpSp>
      </p:grpSp>
      <p:sp>
        <p:nvSpPr>
          <p:cNvPr id="100" name="Google Shape;100;p13"/>
          <p:cNvSpPr/>
          <p:nvPr/>
        </p:nvSpPr>
        <p:spPr>
          <a:xfrm>
            <a:off x="15775388" y="330356"/>
            <a:ext cx="2238872" cy="461178"/>
          </a:xfrm>
          <a:custGeom>
            <a:rect b="b" l="l" r="r" t="t"/>
            <a:pathLst>
              <a:path extrusionOk="0" h="461178" w="2238872">
                <a:moveTo>
                  <a:pt x="0" y="0"/>
                </a:moveTo>
                <a:lnTo>
                  <a:pt x="2238872" y="0"/>
                </a:lnTo>
                <a:lnTo>
                  <a:pt x="2238872" y="461178"/>
                </a:lnTo>
                <a:lnTo>
                  <a:pt x="0" y="461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3"/>
          <p:cNvSpPr txBox="1"/>
          <p:nvPr/>
        </p:nvSpPr>
        <p:spPr>
          <a:xfrm>
            <a:off x="9702583" y="97705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3"/>
          <p:cNvPicPr preferRelativeResize="0"/>
          <p:nvPr/>
        </p:nvPicPr>
        <p:blipFill rotWithShape="1">
          <a:blip r:embed="rId5">
            <a:alphaModFix/>
          </a:blip>
          <a:srcRect b="0" l="0" r="41821" t="0"/>
          <a:stretch/>
        </p:blipFill>
        <p:spPr>
          <a:xfrm>
            <a:off x="-508831" y="-1"/>
            <a:ext cx="9255542" cy="10605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/>
          <p:nvPr/>
        </p:nvSpPr>
        <p:spPr>
          <a:xfrm>
            <a:off x="9144000" y="583020"/>
            <a:ext cx="9448800" cy="9710538"/>
          </a:xfrm>
          <a:custGeom>
            <a:rect b="b" l="l" r="r" t="t"/>
            <a:pathLst>
              <a:path extrusionOk="0" h="12689306" w="12689306">
                <a:moveTo>
                  <a:pt x="0" y="0"/>
                </a:moveTo>
                <a:lnTo>
                  <a:pt x="12689306" y="0"/>
                </a:lnTo>
                <a:lnTo>
                  <a:pt x="12689306" y="12689306"/>
                </a:lnTo>
                <a:lnTo>
                  <a:pt x="0" y="12689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428" l="-22357" r="-16672" t="-15062"/>
            </a:stretch>
          </a:blipFill>
          <a:ln>
            <a:noFill/>
          </a:ln>
        </p:spPr>
      </p:sp>
      <p:grpSp>
        <p:nvGrpSpPr>
          <p:cNvPr id="110" name="Google Shape;110;p14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11" name="Google Shape;111;p14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14"/>
          <p:cNvSpPr txBox="1"/>
          <p:nvPr/>
        </p:nvSpPr>
        <p:spPr>
          <a:xfrm>
            <a:off x="502391" y="404547"/>
            <a:ext cx="14900900" cy="1055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Disclaimer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323850" y="1460370"/>
            <a:ext cx="8820150" cy="6647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presentation, including examples, images, and references are provided for informational purposes only.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Complying with all applicable copyrights laws is the responsibility of the user.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Without limiting the rights under copyright, no part of this document may be  reproduced, stored or introduced into a retrieval system, or transmitted in any form or by any means.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Credits shall be given to the images taken from the open-source and cannot be used for promotional activities.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58" t="0"/>
            </a:stretch>
          </a:blipFill>
          <a:ln>
            <a:noFill/>
          </a:ln>
        </p:spPr>
      </p:sp>
      <p:sp>
        <p:nvSpPr>
          <p:cNvPr id="116" name="Google Shape;116;p1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 txBox="1"/>
          <p:nvPr>
            <p:ph idx="12" type="sldNum"/>
          </p:nvPr>
        </p:nvSpPr>
        <p:spPr>
          <a:xfrm>
            <a:off x="17114219" y="9163493"/>
            <a:ext cx="34324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5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24" name="Google Shape;124;p15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p15"/>
          <p:cNvSpPr txBox="1"/>
          <p:nvPr/>
        </p:nvSpPr>
        <p:spPr>
          <a:xfrm>
            <a:off x="502391" y="404547"/>
            <a:ext cx="14900900" cy="1055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502391" y="2066255"/>
            <a:ext cx="10209152" cy="6647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Understand core Claude API mechanics, including authentication and model selection.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Configure secure environment variables for your application development workspace.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Implement dynamic prompt templates with programmatic system and user instructions.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Maintain robust conversation state across multiple user interaction turns.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Evaluate model suggestions critically and justify architectural integration choices.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10893284" y="-38176"/>
            <a:ext cx="7187978" cy="10325176"/>
          </a:xfrm>
          <a:custGeom>
            <a:rect b="b" l="l" r="r" t="t"/>
            <a:pathLst>
              <a:path extrusionOk="0" h="10325176" w="7187978">
                <a:moveTo>
                  <a:pt x="0" y="0"/>
                </a:moveTo>
                <a:lnTo>
                  <a:pt x="7187978" y="0"/>
                </a:lnTo>
                <a:lnTo>
                  <a:pt x="7187978" y="10325176"/>
                </a:lnTo>
                <a:lnTo>
                  <a:pt x="0" y="103251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1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58" t="0"/>
            </a:stretch>
          </a:blipFill>
          <a:ln>
            <a:noFill/>
          </a:ln>
        </p:spPr>
      </p:sp>
      <p:sp>
        <p:nvSpPr>
          <p:cNvPr id="130" name="Google Shape;130;p1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02391" y="1458435"/>
            <a:ext cx="2507429" cy="45719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15"/>
          <p:cNvSpPr txBox="1"/>
          <p:nvPr>
            <p:ph idx="12" type="sldNum"/>
          </p:nvPr>
        </p:nvSpPr>
        <p:spPr>
          <a:xfrm>
            <a:off x="16809592" y="9161103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Overview of Claude API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Claude API enables developers to integrate advanced language capabilities natively.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 operates using a standardized RESTful interface for straightforward backend communication.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There is a single messages endpoint. The model is a parameter in the request body.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Responses are delivered in JSON format for easy parsing and manipulation.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API supports streaming responses for real-time application user experiences.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API Authentication Principles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17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53" name="Google Shape;153;p17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5" name="Google Shape;155;p17"/>
          <p:cNvGrpSpPr/>
          <p:nvPr/>
        </p:nvGrpSpPr>
        <p:grpSpPr>
          <a:xfrm>
            <a:off x="1476591" y="1975437"/>
            <a:ext cx="14858611" cy="1382806"/>
            <a:chOff x="2292567" y="3922998"/>
            <a:chExt cx="13991635" cy="1583760"/>
          </a:xfrm>
        </p:grpSpPr>
        <p:sp>
          <p:nvSpPr>
            <p:cNvPr id="156" name="Google Shape;156;p17"/>
            <p:cNvSpPr/>
            <p:nvPr/>
          </p:nvSpPr>
          <p:spPr>
            <a:xfrm>
              <a:off x="2292567" y="3922998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2458402" y="4075398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Every API request requires a unique cryptographic key for reliable authentication.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58" name="Google Shape;158;p17"/>
          <p:cNvGrpSpPr/>
          <p:nvPr/>
        </p:nvGrpSpPr>
        <p:grpSpPr>
          <a:xfrm>
            <a:off x="1476592" y="3461334"/>
            <a:ext cx="14858611" cy="1382806"/>
            <a:chOff x="2292567" y="5702612"/>
            <a:chExt cx="13991635" cy="1583760"/>
          </a:xfrm>
        </p:grpSpPr>
        <p:sp>
          <p:nvSpPr>
            <p:cNvPr id="159" name="Google Shape;159;p17"/>
            <p:cNvSpPr/>
            <p:nvPr/>
          </p:nvSpPr>
          <p:spPr>
            <a:xfrm>
              <a:off x="2292567" y="5702612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2458402" y="5855012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Send the key in the x-api-key header, alongside a required anthropic-version header.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1" name="Google Shape;161;p17"/>
          <p:cNvGrpSpPr/>
          <p:nvPr/>
        </p:nvGrpSpPr>
        <p:grpSpPr>
          <a:xfrm>
            <a:off x="1476592" y="4947231"/>
            <a:ext cx="14858611" cy="1382806"/>
            <a:chOff x="2292567" y="7564986"/>
            <a:chExt cx="13991635" cy="1583760"/>
          </a:xfrm>
        </p:grpSpPr>
        <p:sp>
          <p:nvSpPr>
            <p:cNvPr id="162" name="Google Shape;162;p17"/>
            <p:cNvSpPr/>
            <p:nvPr/>
          </p:nvSpPr>
          <p:spPr>
            <a:xfrm>
              <a:off x="2292567" y="7564986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2458402" y="7717386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Never hardcode authentication keys directly within your application source files.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4" name="Google Shape;164;p17"/>
          <p:cNvGrpSpPr/>
          <p:nvPr/>
        </p:nvGrpSpPr>
        <p:grpSpPr>
          <a:xfrm>
            <a:off x="1476591" y="7919027"/>
            <a:ext cx="14858611" cy="1382806"/>
            <a:chOff x="2292567" y="7564986"/>
            <a:chExt cx="13991635" cy="1583760"/>
          </a:xfrm>
        </p:grpSpPr>
        <p:sp>
          <p:nvSpPr>
            <p:cNvPr id="165" name="Google Shape;165;p17"/>
            <p:cNvSpPr/>
            <p:nvPr/>
          </p:nvSpPr>
          <p:spPr>
            <a:xfrm>
              <a:off x="2292567" y="7564986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2458402" y="7717386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Monitor dashboard usage regularly to detect any unauthorized request anomalies.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7" name="Google Shape;167;p17"/>
          <p:cNvGrpSpPr/>
          <p:nvPr/>
        </p:nvGrpSpPr>
        <p:grpSpPr>
          <a:xfrm>
            <a:off x="1476591" y="6433128"/>
            <a:ext cx="14858611" cy="1382806"/>
            <a:chOff x="2292567" y="7564986"/>
            <a:chExt cx="13991635" cy="1583760"/>
          </a:xfrm>
        </p:grpSpPr>
        <p:sp>
          <p:nvSpPr>
            <p:cNvPr id="168" name="Google Shape;168;p17"/>
            <p:cNvSpPr/>
            <p:nvPr/>
          </p:nvSpPr>
          <p:spPr>
            <a:xfrm>
              <a:off x="2292567" y="7564986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2458402" y="7717386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Rotate your credentials periodically to maintain strict access control standards.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/>
          <p:nvPr/>
        </p:nvSpPr>
        <p:spPr>
          <a:xfrm>
            <a:off x="502391" y="637523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Choosing the Right Model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18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78" name="Google Shape;178;p18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18"/>
          <p:cNvSpPr/>
          <p:nvPr/>
        </p:nvSpPr>
        <p:spPr>
          <a:xfrm>
            <a:off x="1806612" y="3471427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Haiku is optimized for incredible speed and highly cost-effective tasks.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1806612" y="2029152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Claude offers a diverse family of models tailored for different complexities.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1806612" y="4913702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Sonnet provides an excellent balance between cognitive performance and latency.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1806612" y="7798251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Select by tier, then read the current version identifier from configuration.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1806612" y="6355977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Opus delivers maximum intelligence for highly complex reasoning and coding.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Key API Parameters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p19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93" name="Google Shape;193;p19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19"/>
          <p:cNvSpPr txBox="1"/>
          <p:nvPr/>
        </p:nvSpPr>
        <p:spPr>
          <a:xfrm>
            <a:off x="477775" y="2104355"/>
            <a:ext cx="1701930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Max tokens define the absolute upper limit for generated text responses.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Temperature controls the randomness and creative variance of the model output.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lower temperature yields highly deterministic and analytically precise results.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Top-K and Top-P parameters further refine the token selection probability distribution.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Stop sequences force the model to halt generation at specific characters.</a:t>
            </a:r>
            <a:endParaRPr/>
          </a:p>
        </p:txBody>
      </p:sp>
      <p:pic>
        <p:nvPicPr>
          <p:cNvPr id="196" name="Google Shape;19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0562" y="5027216"/>
            <a:ext cx="5184458" cy="483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Setting Up Environment Variables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20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05" name="Google Shape;205;p20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20"/>
          <p:cNvSpPr/>
          <p:nvPr/>
        </p:nvSpPr>
        <p:spPr>
          <a:xfrm>
            <a:off x="1447801" y="2475606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Environment variables isolate sensitive configuration data securely from your codebase.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6803824" y="2482332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Create a local configuration file to store your specific API keys.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3807795" y="5927086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language-specific libraries to load these variables into memory securely.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9676711" y="5927086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Cloud deployment platforms provide dedicated secure vaults for external variable management.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12159848" y="2465684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Add this configuration file to your version control exclusion list immediately.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Basic Request and Response Flow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21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20" name="Google Shape;220;p21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21"/>
          <p:cNvSpPr txBox="1"/>
          <p:nvPr/>
        </p:nvSpPr>
        <p:spPr>
          <a:xfrm>
            <a:off x="502391" y="2294510"/>
            <a:ext cx="11278129" cy="3748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Initialize the official Claude SDK within your Python or Node environment.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Construct a message object containing your specific role and textual content.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Send the asynchronous request to the designated API endpoint securely.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Extract the generated text content from the returned JSON response object.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Implement robust error handling to manage rate limits and network timeouts.</a:t>
            </a:r>
            <a:endParaRPr/>
          </a:p>
        </p:txBody>
      </p:sp>
      <p:pic>
        <p:nvPicPr>
          <p:cNvPr id="223" name="Google Shape;22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79746" y="1997169"/>
            <a:ext cx="4914900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Prompt Engineering in Code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0" name="Google Shape;230;p22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32" name="Google Shape;232;p22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22"/>
          <p:cNvSpPr txBox="1"/>
          <p:nvPr/>
        </p:nvSpPr>
        <p:spPr>
          <a:xfrm>
            <a:off x="7702321" y="2355302"/>
            <a:ext cx="9592325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Programmatic prompts require structured formatting unlike standard web interface interactions.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Backend logic must construct prompts dynamically based on incoming application state.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Clear separation between instructions and data prevents unexpected model behaviors.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Version control your prompt definitions alongside your standard application code.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Test prompt variations systematically to measure output consistency and accuracy.</a:t>
            </a:r>
            <a:endParaRPr/>
          </a:p>
        </p:txBody>
      </p:sp>
      <p:pic>
        <p:nvPicPr>
          <p:cNvPr id="235" name="Google Shape;23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309574"/>
            <a:ext cx="5762780" cy="5355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Encoding System and User Instructions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2" name="Google Shape;242;p23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3" name="Google Shape;243;p23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44" name="Google Shape;244;p23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23"/>
          <p:cNvSpPr txBox="1"/>
          <p:nvPr/>
        </p:nvSpPr>
        <p:spPr>
          <a:xfrm>
            <a:off x="502391" y="2275022"/>
            <a:ext cx="10639105" cy="4819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System prompts define the core persona, boundaries, and rules for Claude.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User instructions represent the specific immediate task or query to resolve.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Always place overarching constraints within the dedicated system prompt parameter.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Keep user prompts strictly focused on the current dynamic input data.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strict separation enhances security against potential prompt injection attacks.</a:t>
            </a:r>
            <a:endParaRPr/>
          </a:p>
        </p:txBody>
      </p:sp>
      <p:pic>
        <p:nvPicPr>
          <p:cNvPr id="247" name="Google Shape;24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89055" y="2541787"/>
            <a:ext cx="603885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Managing Structured Prompt Templates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4" name="Google Shape;254;p24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56" name="Google Shape;256;p2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24"/>
          <p:cNvSpPr txBox="1"/>
          <p:nvPr/>
        </p:nvSpPr>
        <p:spPr>
          <a:xfrm>
            <a:off x="6429453" y="2325805"/>
            <a:ext cx="11058030" cy="4819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Templates allow developers to reuse common prompt structures across multiple requests.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modern string interpolation to inject variables into predefined text blocks.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Maintain separate template files for cleaner code organization and easier updates.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Utilize standard formatting structures like XML tags to segment prompt sections.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Validate template outputs thoroughly before sending them to the live API.</a:t>
            </a:r>
            <a:endParaRPr/>
          </a:p>
        </p:txBody>
      </p:sp>
      <p:pic>
        <p:nvPicPr>
          <p:cNvPr id="259" name="Google Shape;25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325805"/>
            <a:ext cx="5267325" cy="47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5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Inserting Dynamic Variables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6" name="Google Shape;266;p25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" name="Google Shape;267;p2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68" name="Google Shape;268;p2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0" name="Google Shape;270;p25"/>
          <p:cNvSpPr/>
          <p:nvPr/>
        </p:nvSpPr>
        <p:spPr>
          <a:xfrm>
            <a:off x="806466" y="2165770"/>
            <a:ext cx="5409764" cy="2769083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Dynamic variables bridge the gap between user input and backend prompts.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6439118" y="2165770"/>
            <a:ext cx="5409764" cy="2769083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Sanitize all user-provided variables before insertion to maintain application security.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3303027" y="5473824"/>
            <a:ext cx="5409764" cy="2769083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Ensure variable data strictly adheres to expected formatting and length limits.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9366888" y="5473823"/>
            <a:ext cx="5409764" cy="2769083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Log the final assembled prompts during debugging to verify correct insertion.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12071770" y="2165770"/>
            <a:ext cx="5409764" cy="2769083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Inject relevant contextual data like user history or retrieved database records.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Handling Tokens and Truncation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1" name="Google Shape;281;p2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2" name="Google Shape;282;p2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83" name="Google Shape;283;p2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5" name="Google Shape;285;p26"/>
          <p:cNvSpPr txBox="1"/>
          <p:nvPr/>
        </p:nvSpPr>
        <p:spPr>
          <a:xfrm>
            <a:off x="502391" y="2167708"/>
            <a:ext cx="1036880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Every API request is constrained by strict maximum token processing limits.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dedicated tokenizer libraries to count tokens before sending the request.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Implement intelligent truncation strategies to shorten text without losing critical meaning.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Prioritize retaining the most recent or relevant information during content truncation.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Monitor token usage continuously to optimize ongoing operational API costs.</a:t>
            </a:r>
            <a:endParaRPr/>
          </a:p>
        </p:txBody>
      </p:sp>
      <p:pic>
        <p:nvPicPr>
          <p:cNvPr id="286" name="Google Shape;28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38638" y="2678924"/>
            <a:ext cx="5679758" cy="4332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Managing Long-Context Prompts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3" name="Google Shape;293;p27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4" name="Google Shape;294;p27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95" name="Google Shape;295;p27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7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27"/>
          <p:cNvSpPr txBox="1"/>
          <p:nvPr/>
        </p:nvSpPr>
        <p:spPr>
          <a:xfrm>
            <a:off x="7208538" y="2394825"/>
            <a:ext cx="10337039" cy="4819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Claude supports massive context windows for analyzing extensive documents simultaneously.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Place the most crucial instructions at the very end of long prompts.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Structure long texts with clear headings and distinct structural XML markers.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Provide explicit indexing or reference points within the provided large context.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Avoid including irrelevant filler data that might distract the model's attention.</a:t>
            </a:r>
            <a:endParaRPr/>
          </a:p>
        </p:txBody>
      </p:sp>
      <p:pic>
        <p:nvPicPr>
          <p:cNvPr id="298" name="Google Shape;29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156459"/>
            <a:ext cx="6109133" cy="5204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Context Management Strategies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5" name="Google Shape;305;p28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6" name="Google Shape;306;p28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07" name="Google Shape;307;p28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9" name="Google Shape;309;p28"/>
          <p:cNvSpPr/>
          <p:nvPr/>
        </p:nvSpPr>
        <p:spPr>
          <a:xfrm>
            <a:off x="809580" y="1926001"/>
            <a:ext cx="16668839" cy="11953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APIs are inherently stateless and forget previous interactions immediately after completion.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809580" y="3346104"/>
            <a:ext cx="16668839" cy="11953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Developers must manually supply the necessary conversational context with every request.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809580" y="4766207"/>
            <a:ext cx="16668839" cy="11953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Careful context management prevents exceeding limits while maintaining conversational coherence.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2" name="Google Shape;312;p28"/>
          <p:cNvSpPr/>
          <p:nvPr/>
        </p:nvSpPr>
        <p:spPr>
          <a:xfrm>
            <a:off x="809583" y="6186310"/>
            <a:ext cx="16668686" cy="119538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Determine exactly how much historical data is strictly necessary for success.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3" name="Google Shape;313;p28"/>
          <p:cNvSpPr/>
          <p:nvPr/>
        </p:nvSpPr>
        <p:spPr>
          <a:xfrm>
            <a:off x="809580" y="7606426"/>
            <a:ext cx="16668686" cy="119538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Balance context richness against the increased latency and higher processing costs.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9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Preserving Conversation State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p29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1" name="Google Shape;321;p29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22" name="Google Shape;322;p29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9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4" name="Google Shape;324;p29"/>
          <p:cNvSpPr txBox="1"/>
          <p:nvPr/>
        </p:nvSpPr>
        <p:spPr>
          <a:xfrm>
            <a:off x="502391" y="2234258"/>
            <a:ext cx="9686638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Assign unique session identifiers to track individual user conversation threads effectively.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Store conversation logs securely within a robust backend database infrastructure.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Append each new user message and model response to the active array.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Fetch and inject this organized array structure into subsequent API calls.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Implement automatic expiration policies for inactive conversation sessions to save storage.</a:t>
            </a:r>
            <a:endParaRPr/>
          </a:p>
        </p:txBody>
      </p:sp>
      <p:pic>
        <p:nvPicPr>
          <p:cNvPr id="325" name="Google Shape;32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03391" y="2714625"/>
            <a:ext cx="6019800" cy="48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Passing Documents and Code Snippets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2" name="Google Shape;332;p30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3" name="Google Shape;333;p30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34" name="Google Shape;334;p30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0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6" name="Google Shape;336;p30"/>
          <p:cNvSpPr/>
          <p:nvPr/>
        </p:nvSpPr>
        <p:spPr>
          <a:xfrm>
            <a:off x="1155122" y="2362438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Inject entire documents directly into the prompt using clear delimiting tags.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7" name="Google Shape;337;p30"/>
          <p:cNvSpPr/>
          <p:nvPr/>
        </p:nvSpPr>
        <p:spPr>
          <a:xfrm>
            <a:off x="6836034" y="2362438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 code snippets, explicitly state the programming language for better formatting.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8" name="Google Shape;338;p30"/>
          <p:cNvSpPr/>
          <p:nvPr/>
        </p:nvSpPr>
        <p:spPr>
          <a:xfrm>
            <a:off x="3861793" y="6029072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Extract and pass only the relevant document chunks to drastically save tokens.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9" name="Google Shape;339;p30"/>
          <p:cNvSpPr/>
          <p:nvPr/>
        </p:nvSpPr>
        <p:spPr>
          <a:xfrm>
            <a:off x="9503256" y="6029072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the model to cite specific lines when analyzing provided code.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12516946" y="2383482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Group related documents together chronologically or logically to aid model comprehension.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1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Optimizing Context Limits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7" name="Google Shape;347;p31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8" name="Google Shape;348;p31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49" name="Google Shape;349;p31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1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1" name="Google Shape;351;p31"/>
          <p:cNvSpPr txBox="1"/>
          <p:nvPr/>
        </p:nvSpPr>
        <p:spPr>
          <a:xfrm>
            <a:off x="7099267" y="2135613"/>
            <a:ext cx="1019537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Implement a sliding window approach to drop the oldest conversation turns.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Summarize older interactions periodically to retain core meaning using fewer tokens.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semantic search to retrieve only contextually relevant data chunks dynamically.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Compress repetitive code patterns before sending them to the API endpoint.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Constantly evaluate if your chosen context optimization degrades the output quality.</a:t>
            </a:r>
            <a:endParaRPr/>
          </a:p>
        </p:txBody>
      </p:sp>
      <p:pic>
        <p:nvPicPr>
          <p:cNvPr id="352" name="Google Shape;35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551081"/>
            <a:ext cx="6410325" cy="452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2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Model Context Protocol (MCP) Basics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9" name="Google Shape;359;p32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0" name="Google Shape;360;p32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61" name="Google Shape;361;p32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2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3" name="Google Shape;363;p32"/>
          <p:cNvSpPr txBox="1"/>
          <p:nvPr/>
        </p:nvSpPr>
        <p:spPr>
          <a:xfrm>
            <a:off x="502391" y="2039948"/>
            <a:ext cx="9918866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MCP is an open standard connecting AI models securely to external data.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 standardizes how models request and consume information from distinct systems.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MCP eliminates the need to build custom integration bridges from scratch.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 creates a unified framework for seamless tool and data orchestration.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protocol dramatically accelerates the development of complex agentic AI applications.</a:t>
            </a:r>
            <a:endParaRPr/>
          </a:p>
        </p:txBody>
      </p:sp>
      <p:pic>
        <p:nvPicPr>
          <p:cNvPr id="364" name="Google Shape;364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55846" y="2436366"/>
            <a:ext cx="5162550" cy="45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3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Integrating MCP Tools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1" name="Google Shape;371;p33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2" name="Google Shape;372;p33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73" name="Google Shape;373;p33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3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5" name="Google Shape;375;p33"/>
          <p:cNvSpPr/>
          <p:nvPr/>
        </p:nvSpPr>
        <p:spPr>
          <a:xfrm>
            <a:off x="136954" y="2453640"/>
            <a:ext cx="5759928" cy="2822669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Configure basic tools to grant Claude specific actions like database queries.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6" name="Google Shape;376;p33"/>
          <p:cNvSpPr/>
          <p:nvPr/>
        </p:nvSpPr>
        <p:spPr>
          <a:xfrm>
            <a:off x="6197763" y="2453640"/>
            <a:ext cx="5759928" cy="2822669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Define exact input schemas so the model understands required tool parameters.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7" name="Google Shape;377;p33"/>
          <p:cNvSpPr/>
          <p:nvPr/>
        </p:nvSpPr>
        <p:spPr>
          <a:xfrm>
            <a:off x="3056929" y="5787130"/>
            <a:ext cx="5759928" cy="2822669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Your backend executes the chosen tool and returns results to Claude.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8" name="Google Shape;378;p33"/>
          <p:cNvSpPr/>
          <p:nvPr/>
        </p:nvSpPr>
        <p:spPr>
          <a:xfrm>
            <a:off x="9197078" y="5787129"/>
            <a:ext cx="5759928" cy="2822669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Handle tool execution failures gracefully to maintain a stable user experience.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9" name="Google Shape;379;p33"/>
          <p:cNvSpPr/>
          <p:nvPr/>
        </p:nvSpPr>
        <p:spPr>
          <a:xfrm>
            <a:off x="12258572" y="2481767"/>
            <a:ext cx="5759928" cy="2822669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model decides autonomously when invoking a specific tool is appropriate.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4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Activity - Reviewing API Architecture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6" name="Google Shape;386;p34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7" name="Google Shape;387;p3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88" name="Google Shape;388;p3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4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0" name="Google Shape;390;p34"/>
          <p:cNvSpPr/>
          <p:nvPr/>
        </p:nvSpPr>
        <p:spPr>
          <a:xfrm>
            <a:off x="1343220" y="1977744"/>
            <a:ext cx="15320891" cy="12947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Compare your Exercise 11 CLI against the supplied reference implementation.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Analyze the provided code snippets for potential prompt injection vulnerability risks.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Examine the context management strategy you chose in Exercise 12, and its cost.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Identify flaws in how your own design handles session state persistence.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Prepare notes on efficiency, security, and scalability for your capstone design.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1" name="Google Shape;391;p34"/>
          <p:cNvSpPr/>
          <p:nvPr/>
        </p:nvSpPr>
        <p:spPr>
          <a:xfrm>
            <a:off x="1343220" y="3492454"/>
            <a:ext cx="15320891" cy="12947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Analyze the provided code snippets for potential prompt injection vulnerability risks.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2" name="Google Shape;392;p34"/>
          <p:cNvSpPr/>
          <p:nvPr/>
        </p:nvSpPr>
        <p:spPr>
          <a:xfrm>
            <a:off x="1343220" y="5007164"/>
            <a:ext cx="15320891" cy="12947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Examine the context management strategy proposed for an enterprise chatbot solution.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3" name="Google Shape;393;p34"/>
          <p:cNvSpPr/>
          <p:nvPr/>
        </p:nvSpPr>
        <p:spPr>
          <a:xfrm>
            <a:off x="1343220" y="6521874"/>
            <a:ext cx="15320891" cy="12947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Identify flaws in how the suggested architectures handle session state persistence.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4" name="Google Shape;394;p34"/>
          <p:cNvSpPr/>
          <p:nvPr/>
        </p:nvSpPr>
        <p:spPr>
          <a:xfrm>
            <a:off x="1343220" y="8036585"/>
            <a:ext cx="15320891" cy="12947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Prepare notes on efficiency, security, and scalability for each proposed solution.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5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Activity - Decision and Justification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1" name="Google Shape;401;p35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2" name="Google Shape;402;p3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403" name="Google Shape;403;p3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5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5" name="Google Shape;405;p35"/>
          <p:cNvSpPr txBox="1"/>
          <p:nvPr/>
        </p:nvSpPr>
        <p:spPr>
          <a:xfrm>
            <a:off x="7099267" y="2135613"/>
            <a:ext cx="1019537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Decide which of the suggestions you received you will accept, and say why.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Compare your chosen approach against latency, cost and complexity.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Explain how your design handles context persistence and untrusted input.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Write the decision down. It becomes the design note in your capstone README.</a:t>
            </a:r>
            <a:endParaRPr/>
          </a:p>
        </p:txBody>
      </p:sp>
      <p:grpSp>
        <p:nvGrpSpPr>
          <p:cNvPr id="406" name="Google Shape;406;p35"/>
          <p:cNvGrpSpPr/>
          <p:nvPr/>
        </p:nvGrpSpPr>
        <p:grpSpPr>
          <a:xfrm>
            <a:off x="502391" y="2480929"/>
            <a:ext cx="5591175" cy="4664679"/>
            <a:chOff x="993354" y="2377440"/>
            <a:chExt cx="5591175" cy="4664679"/>
          </a:xfrm>
        </p:grpSpPr>
        <p:pic>
          <p:nvPicPr>
            <p:cNvPr id="407" name="Google Shape;407;p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93354" y="2584419"/>
              <a:ext cx="5591175" cy="445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5"/>
            <p:cNvSpPr/>
            <p:nvPr/>
          </p:nvSpPr>
          <p:spPr>
            <a:xfrm>
              <a:off x="993354" y="2377440"/>
              <a:ext cx="766300" cy="6248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Key Takeaways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6" name="Google Shape;416;p3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417" name="Google Shape;417;p3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9" name="Google Shape;419;p36"/>
          <p:cNvSpPr txBox="1"/>
          <p:nvPr/>
        </p:nvSpPr>
        <p:spPr>
          <a:xfrm>
            <a:off x="502391" y="2227530"/>
            <a:ext cx="981508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explored core API concepts including secure authentication and endpoint routing.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You learned to implement programmatic prompt engineering using dynamic variable templates.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covered vital strategies for handling tokens and managing long contexts.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discussed preserving state and utilizing the Model Context Protocol effectively.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You practiced making architectural decisions by accepting and justifying specific suggestions.</a:t>
            </a:r>
            <a:endParaRPr/>
          </a:p>
        </p:txBody>
      </p:sp>
      <p:pic>
        <p:nvPicPr>
          <p:cNvPr id="420" name="Google Shape;420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99643" y="2592656"/>
            <a:ext cx="6222779" cy="4619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37"/>
          <p:cNvGrpSpPr/>
          <p:nvPr/>
        </p:nvGrpSpPr>
        <p:grpSpPr>
          <a:xfrm>
            <a:off x="-378374" y="-159439"/>
            <a:ext cx="19123574" cy="10605878"/>
            <a:chOff x="0" y="0"/>
            <a:chExt cx="24451818" cy="13783818"/>
          </a:xfrm>
        </p:grpSpPr>
        <p:sp>
          <p:nvSpPr>
            <p:cNvPr id="427" name="Google Shape;427;p37"/>
            <p:cNvSpPr/>
            <p:nvPr/>
          </p:nvSpPr>
          <p:spPr>
            <a:xfrm>
              <a:off x="33909" y="33909"/>
              <a:ext cx="24384001" cy="13716001"/>
            </a:xfrm>
            <a:custGeom>
              <a:rect b="b" l="l" r="r" t="t"/>
              <a:pathLst>
                <a:path extrusionOk="0"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428" name="Google Shape;428;p37"/>
            <p:cNvSpPr/>
            <p:nvPr/>
          </p:nvSpPr>
          <p:spPr>
            <a:xfrm>
              <a:off x="0" y="0"/>
              <a:ext cx="24451818" cy="13783818"/>
            </a:xfrm>
            <a:custGeom>
              <a:rect b="b" l="l" r="r" t="t"/>
              <a:pathLst>
                <a:path extrusionOk="0" h="13783818" w="24451818">
                  <a:moveTo>
                    <a:pt x="33909" y="0"/>
                  </a:moveTo>
                  <a:lnTo>
                    <a:pt x="24417910" y="0"/>
                  </a:lnTo>
                  <a:cubicBezTo>
                    <a:pt x="24436578" y="0"/>
                    <a:pt x="24451818" y="15113"/>
                    <a:pt x="24451818" y="33909"/>
                  </a:cubicBezTo>
                  <a:lnTo>
                    <a:pt x="24451818" y="13749910"/>
                  </a:lnTo>
                  <a:cubicBezTo>
                    <a:pt x="24451818" y="13768578"/>
                    <a:pt x="24436705" y="13783818"/>
                    <a:pt x="24417910" y="13783818"/>
                  </a:cubicBezTo>
                  <a:lnTo>
                    <a:pt x="33909" y="13783818"/>
                  </a:lnTo>
                  <a:cubicBezTo>
                    <a:pt x="15240" y="13783818"/>
                    <a:pt x="0" y="13768705"/>
                    <a:pt x="0" y="13749910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3749910"/>
                  </a:lnTo>
                  <a:lnTo>
                    <a:pt x="33909" y="13749910"/>
                  </a:lnTo>
                  <a:lnTo>
                    <a:pt x="33909" y="13716000"/>
                  </a:lnTo>
                  <a:lnTo>
                    <a:pt x="24417910" y="13716000"/>
                  </a:lnTo>
                  <a:lnTo>
                    <a:pt x="24417910" y="13749910"/>
                  </a:lnTo>
                  <a:lnTo>
                    <a:pt x="24384000" y="13749910"/>
                  </a:lnTo>
                  <a:lnTo>
                    <a:pt x="24384000" y="33909"/>
                  </a:lnTo>
                  <a:lnTo>
                    <a:pt x="24417910" y="33909"/>
                  </a:lnTo>
                  <a:lnTo>
                    <a:pt x="244179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F24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9" name="Google Shape;429;p37"/>
          <p:cNvSpPr txBox="1"/>
          <p:nvPr/>
        </p:nvSpPr>
        <p:spPr>
          <a:xfrm>
            <a:off x="10582298" y="6464001"/>
            <a:ext cx="3196186" cy="453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www.zarantech.com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7"/>
          <p:cNvSpPr/>
          <p:nvPr/>
        </p:nvSpPr>
        <p:spPr>
          <a:xfrm>
            <a:off x="10134151" y="6485798"/>
            <a:ext cx="381880" cy="399958"/>
          </a:xfrm>
          <a:custGeom>
            <a:rect b="b" l="l" r="r" t="t"/>
            <a:pathLst>
              <a:path extrusionOk="0" h="399958" w="381880">
                <a:moveTo>
                  <a:pt x="0" y="0"/>
                </a:moveTo>
                <a:lnTo>
                  <a:pt x="381880" y="0"/>
                </a:lnTo>
                <a:lnTo>
                  <a:pt x="381880" y="399958"/>
                </a:lnTo>
                <a:lnTo>
                  <a:pt x="0" y="399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1" name="Google Shape;431;p37"/>
          <p:cNvSpPr/>
          <p:nvPr/>
        </p:nvSpPr>
        <p:spPr>
          <a:xfrm>
            <a:off x="15775388" y="330356"/>
            <a:ext cx="2238872" cy="461178"/>
          </a:xfrm>
          <a:custGeom>
            <a:rect b="b" l="l" r="r" t="t"/>
            <a:pathLst>
              <a:path extrusionOk="0" h="461178" w="2238872">
                <a:moveTo>
                  <a:pt x="0" y="0"/>
                </a:moveTo>
                <a:lnTo>
                  <a:pt x="2238872" y="0"/>
                </a:lnTo>
                <a:lnTo>
                  <a:pt x="2238872" y="461178"/>
                </a:lnTo>
                <a:lnTo>
                  <a:pt x="0" y="461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2" name="Google Shape;432;p37"/>
          <p:cNvSpPr txBox="1"/>
          <p:nvPr/>
        </p:nvSpPr>
        <p:spPr>
          <a:xfrm>
            <a:off x="10134151" y="3262096"/>
            <a:ext cx="6115454" cy="2736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399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b="1" i="0" sz="72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9958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rPr>
              <a:t>For more informative Videos, Subscribe to our YouTube Channel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7"/>
          <p:cNvSpPr txBox="1"/>
          <p:nvPr/>
        </p:nvSpPr>
        <p:spPr>
          <a:xfrm>
            <a:off x="9702583" y="97705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4" name="Google Shape;434;p37"/>
          <p:cNvPicPr preferRelativeResize="0"/>
          <p:nvPr/>
        </p:nvPicPr>
        <p:blipFill rotWithShape="1">
          <a:blip r:embed="rId5">
            <a:alphaModFix/>
          </a:blip>
          <a:srcRect b="0" l="0" r="41821" t="0"/>
          <a:stretch/>
        </p:blipFill>
        <p:spPr>
          <a:xfrm>
            <a:off x="-392265" y="-185528"/>
            <a:ext cx="9275007" cy="10628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Exercises in This Module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 10: Configure a key in .env and make a first call. 12 minutes.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 11: Build a CLI with a structured prompt template. 22 minutes.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 12: Manage conversation history by relevance. 18 minutes.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module needs an API key with credit. Set it up before you start.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Shaping the Response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Messages must alternate between the user role and the assistant role.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Two user messages in a row is a common cause of a confusing API error.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You can start the assistant's reply for it, which constrains the format tightly.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Prefilling an opening brace is a reliable way to get JSON and nothing else.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system prompt is a top-level parameter, not the first message in the list.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Reusing a Stable Prefix: Prompt Caching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Long prompts often repeat a large, unchanging prefix on every request.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Caching that prefix means you are not billed to reprocess it each time.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Order matters: put the stable material first and the variable material last.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 is a cost and latency optimisation, not a way to raise a context limit.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Check the current caching mechanics in the API documentation before you rely on them.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