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2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-448267" y="0"/>
            <a:ext cx="19123574" cy="10605878"/>
            <a:chOff x="0" y="0"/>
            <a:chExt cx="24451818" cy="13783818"/>
          </a:xfrm>
        </p:grpSpPr>
        <p:sp>
          <p:nvSpPr>
            <p:cNvPr id="93" name="Google Shape;93;p13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9395642" y="3246048"/>
            <a:ext cx="8618618" cy="3397792"/>
            <a:chOff x="9645115" y="130296"/>
            <a:chExt cx="8754820" cy="339779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9645115" y="130296"/>
              <a:ext cx="8754820" cy="286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b="1" i="0" lang="en-US" sz="62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Building with the Claude API (Backend &amp; Integration)</a:t>
              </a:r>
              <a:endParaRPr b="1" i="0" sz="62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9729879" y="3114482"/>
              <a:ext cx="3735772" cy="413606"/>
              <a:chOff x="9870618" y="3713509"/>
              <a:chExt cx="3735772" cy="413606"/>
            </a:xfrm>
          </p:grpSpPr>
          <p:sp>
            <p:nvSpPr>
              <p:cNvPr id="98" name="Google Shape;98;p13"/>
              <p:cNvSpPr txBox="1"/>
              <p:nvPr/>
            </p:nvSpPr>
            <p:spPr>
              <a:xfrm>
                <a:off x="10410190" y="3713509"/>
                <a:ext cx="3196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995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www.zarantech.com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9870618" y="3727157"/>
                <a:ext cx="381880" cy="399958"/>
              </a:xfrm>
              <a:custGeom>
                <a:rect b="b" l="l" r="r" t="t"/>
                <a:pathLst>
                  <a:path extrusionOk="0" h="399958" w="381880">
                    <a:moveTo>
                      <a:pt x="0" y="0"/>
                    </a:moveTo>
                    <a:lnTo>
                      <a:pt x="381880" y="0"/>
                    </a:lnTo>
                    <a:lnTo>
                      <a:pt x="381880" y="399958"/>
                    </a:lnTo>
                    <a:lnTo>
                      <a:pt x="0" y="39995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</p:sp>
        </p:grpSp>
      </p:grpSp>
      <p:sp>
        <p:nvSpPr>
          <p:cNvPr id="100" name="Google Shape;100;p13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508831" y="-1"/>
            <a:ext cx="9255542" cy="1060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144000" y="583020"/>
            <a:ext cx="9448800" cy="9710538"/>
          </a:xfrm>
          <a:custGeom>
            <a:rect b="b" l="l" r="r" t="t"/>
            <a:pathLst>
              <a:path extrusionOk="0" h="12689306" w="12689306">
                <a:moveTo>
                  <a:pt x="0" y="0"/>
                </a:moveTo>
                <a:lnTo>
                  <a:pt x="12689306" y="0"/>
                </a:lnTo>
                <a:lnTo>
                  <a:pt x="12689306" y="12689306"/>
                </a:lnTo>
                <a:lnTo>
                  <a:pt x="0" y="1268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28" l="-22357" r="-16672" t="-15062"/>
            </a:stretch>
          </a:blipFill>
          <a:ln>
            <a:noFill/>
          </a:ln>
        </p:spPr>
      </p:sp>
      <p:grpSp>
        <p:nvGrpSpPr>
          <p:cNvPr id="110" name="Google Shape;110;p14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11" name="Google Shape;111;p14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Disclaimer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23850" y="1460370"/>
            <a:ext cx="882015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presentation, including examples, images, and references are provided for informational purposes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Complying with all applicable copyrights laws is the responsibility of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Without limiting the rights under copyright, no part of this document may be  reproduced, stored or introduced into a retrieval system, or transmitted in any form or by any means.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Credits shall be given to the images taken from the open-source and cannot be used for promotional activities.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7114219" y="9163493"/>
            <a:ext cx="3432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24" name="Google Shape;124;p15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02391" y="2066255"/>
            <a:ext cx="10209152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Understand core Claude API mechanics, including authentication and model selection.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Configure secure environment variables for your application development workspace.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 dynamic prompt templates with programmatic system and user instructions.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Maintain robust conversation state across multiple user interaction turns.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Evaluate model suggestions critically and justify architectural integration choices.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893284" y="-38176"/>
            <a:ext cx="7187978" cy="10325176"/>
          </a:xfrm>
          <a:custGeom>
            <a:rect b="b" l="l" r="r" t="t"/>
            <a:pathLst>
              <a:path extrusionOk="0" h="10325176" w="7187978">
                <a:moveTo>
                  <a:pt x="0" y="0"/>
                </a:moveTo>
                <a:lnTo>
                  <a:pt x="7187978" y="0"/>
                </a:lnTo>
                <a:lnTo>
                  <a:pt x="7187978" y="10325176"/>
                </a:lnTo>
                <a:lnTo>
                  <a:pt x="0" y="1032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30" name="Google Shape;130;p1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2391" y="1458435"/>
            <a:ext cx="2507429" cy="45719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Overview of Claude API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170292"/>
            <a:ext cx="1068376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Claude API enables developers to integrate advanced language capabilities natively.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operates using a standardized RESTful interface for straightforward backend communication.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Requests require specific endpoints depending on the chosen model and task.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Responses are delivered in JSON format for easy parsing and manipulation.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API supports streaming responses for real-time application user experiences.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0571" y="2848879"/>
            <a:ext cx="593407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API Authentication Principles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53" name="Google Shape;153;p1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5" name="Google Shape;155;p17"/>
          <p:cNvGrpSpPr/>
          <p:nvPr/>
        </p:nvGrpSpPr>
        <p:grpSpPr>
          <a:xfrm>
            <a:off x="1476591" y="1975437"/>
            <a:ext cx="14858611" cy="1382806"/>
            <a:chOff x="2292567" y="3922998"/>
            <a:chExt cx="13991635" cy="1583760"/>
          </a:xfrm>
        </p:grpSpPr>
        <p:sp>
          <p:nvSpPr>
            <p:cNvPr id="156" name="Google Shape;156;p17"/>
            <p:cNvSpPr/>
            <p:nvPr/>
          </p:nvSpPr>
          <p:spPr>
            <a:xfrm>
              <a:off x="2292567" y="3922998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2458402" y="4075398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Every API request requires a unique cryptographic key for reliable authentication.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1476592" y="3461334"/>
            <a:ext cx="14858611" cy="1382806"/>
            <a:chOff x="2292567" y="5702612"/>
            <a:chExt cx="13991635" cy="1583760"/>
          </a:xfrm>
        </p:grpSpPr>
        <p:sp>
          <p:nvSpPr>
            <p:cNvPr id="159" name="Google Shape;159;p17"/>
            <p:cNvSpPr/>
            <p:nvPr/>
          </p:nvSpPr>
          <p:spPr>
            <a:xfrm>
              <a:off x="2292567" y="5702612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2458402" y="5855012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Pass your API key securely through the standard HTTP authorization header.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1476592" y="4947231"/>
            <a:ext cx="14858611" cy="1382806"/>
            <a:chOff x="2292567" y="7564986"/>
            <a:chExt cx="13991635" cy="1583760"/>
          </a:xfrm>
        </p:grpSpPr>
        <p:sp>
          <p:nvSpPr>
            <p:cNvPr id="162" name="Google Shape;162;p17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Never hardcode authentication keys directly within your application source files.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1476591" y="7919027"/>
            <a:ext cx="14858611" cy="1382806"/>
            <a:chOff x="2292567" y="7564986"/>
            <a:chExt cx="13991635" cy="1583760"/>
          </a:xfrm>
        </p:grpSpPr>
        <p:sp>
          <p:nvSpPr>
            <p:cNvPr id="165" name="Google Shape;165;p17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Monitor dashboard usage regularly to detect any unauthorized request anomalies.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1476591" y="6433128"/>
            <a:ext cx="14858611" cy="1382806"/>
            <a:chOff x="2292567" y="7564986"/>
            <a:chExt cx="13991635" cy="1583760"/>
          </a:xfrm>
        </p:grpSpPr>
        <p:sp>
          <p:nvSpPr>
            <p:cNvPr id="168" name="Google Shape;168;p17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Rotate your credentials periodically to maintain strict access control standards.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/>
        </p:nvSpPr>
        <p:spPr>
          <a:xfrm>
            <a:off x="502391" y="637523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Choosing the Right Model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1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78" name="Google Shape;178;p1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8"/>
          <p:cNvSpPr/>
          <p:nvPr/>
        </p:nvSpPr>
        <p:spPr>
          <a:xfrm>
            <a:off x="1806612" y="3471427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Haiku is optimized for incredible speed and highly cost-effective tasks.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1806612" y="2029152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Claude offers a diverse family of models tailored for different complexities.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806612" y="4913702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Sonnet provides an excellent balance between cognitive performance and latency.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1806612" y="7798251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Select your model based on specific application budget and latency constraints.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1806612" y="6355977"/>
            <a:ext cx="14570616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Opus delivers maximum intelligence for highly complex reasoning and coding.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API Parameters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1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93" name="Google Shape;193;p1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9"/>
          <p:cNvSpPr txBox="1"/>
          <p:nvPr/>
        </p:nvSpPr>
        <p:spPr>
          <a:xfrm>
            <a:off x="477775" y="2104355"/>
            <a:ext cx="170193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Max tokens define the absolute upper limit for generated text responses.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Temperature controls the randomness and creative variance of the model output.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lower temperature yields highly deterministic and analytically precise results.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Top-K and Top-P parameters further refine the token selection probability distribution.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Stop sequences force the model to halt generation at specific characters.</a:t>
            </a:r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0562" y="5027216"/>
            <a:ext cx="5184458" cy="483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Setting Up Environment Variables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05" name="Google Shape;205;p2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20"/>
          <p:cNvSpPr/>
          <p:nvPr/>
        </p:nvSpPr>
        <p:spPr>
          <a:xfrm>
            <a:off x="1447801" y="247560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Environment variables isolate sensitive configuration data securely from your codebase.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803824" y="2482332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Create a local configuration file to store your specific API keys.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807795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language-specific libraries to load these variables into memory securely.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9676711" y="5927086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Cloud deployment platforms provide dedicated secure vaults for external variable management.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2159848" y="2465684"/>
            <a:ext cx="4803494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Add this configuration file to your version control exclusion list immediately.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Basic Request and Response Flow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20" name="Google Shape;220;p2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21"/>
          <p:cNvSpPr txBox="1"/>
          <p:nvPr/>
        </p:nvSpPr>
        <p:spPr>
          <a:xfrm>
            <a:off x="502391" y="2294510"/>
            <a:ext cx="11278129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Initialize the official Claude SDK within your Python or Node environment.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Construct a message object containing your specific role and textual content.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Send the asynchronous request to the designated API endpoint securely.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Extract the generated text content from the returned JSON response object.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robust error handling to manage rate limits and network timeouts.</a:t>
            </a:r>
            <a:endParaRPr/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79746" y="1997169"/>
            <a:ext cx="49149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Prompt Engineering in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2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32" name="Google Shape;232;p2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22"/>
          <p:cNvSpPr txBox="1"/>
          <p:nvPr/>
        </p:nvSpPr>
        <p:spPr>
          <a:xfrm>
            <a:off x="7702321" y="2355302"/>
            <a:ext cx="9592325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Programmatic prompts require structured formatting unlike standard web interface interactions.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Backend logic must construct prompts dynamically based on incoming application state.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Clear separation between instructions and data prevents unexpected model behaviors.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Version control your prompt definitions alongside your standard application code.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 prompt variations systematically to measure output consistency and accuracy.</a:t>
            </a:r>
            <a:endParaRPr/>
          </a:p>
        </p:txBody>
      </p:sp>
      <p:pic>
        <p:nvPicPr>
          <p:cNvPr id="235" name="Google Shape;23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309574"/>
            <a:ext cx="5762780" cy="5355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Encoding System and User Instructions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2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44" name="Google Shape;244;p2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23"/>
          <p:cNvSpPr txBox="1"/>
          <p:nvPr/>
        </p:nvSpPr>
        <p:spPr>
          <a:xfrm>
            <a:off x="502391" y="2275022"/>
            <a:ext cx="10639105" cy="4819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System prompts define the core persona, boundaries, and rules for Claude.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User instructions represent the specific immediate task or query to resolve.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Always place overarching constraints within the dedicated system prompt parameter.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Keep user prompts strictly focused on the current dynamic input data.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strict separation enhances security against potential prompt injection attacks.</a:t>
            </a:r>
            <a:endParaRPr/>
          </a:p>
        </p:txBody>
      </p:sp>
      <p:pic>
        <p:nvPicPr>
          <p:cNvPr id="247" name="Google Shape;2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89055" y="2541787"/>
            <a:ext cx="60388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Managing Structured Prompt Templates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" name="Google Shape;254;p2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56" name="Google Shape;256;p2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24"/>
          <p:cNvSpPr txBox="1"/>
          <p:nvPr/>
        </p:nvSpPr>
        <p:spPr>
          <a:xfrm>
            <a:off x="6429453" y="2325805"/>
            <a:ext cx="11058030" cy="4819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Templates allow developers to reuse common prompt structures across multiple requests.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modern string interpolation to inject variables into predefined text blocks.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Maintain separate template files for cleaner code organization and easier updates.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Utilize standard formatting structures like XML tags to segment prompt sections.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template outputs thoroughly before sending them to the live API.</a:t>
            </a:r>
            <a:endParaRPr/>
          </a:p>
        </p:txBody>
      </p:sp>
      <p:pic>
        <p:nvPicPr>
          <p:cNvPr id="259" name="Google Shape;25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325805"/>
            <a:ext cx="5267325" cy="47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Inserting Dynamic Variables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2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68" name="Google Shape;268;p2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25"/>
          <p:cNvSpPr/>
          <p:nvPr/>
        </p:nvSpPr>
        <p:spPr>
          <a:xfrm>
            <a:off x="806466" y="2165770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Dynamic variables bridge the gap between user input and backend prompts.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6439118" y="2165770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Sanitize all user-provided variables before insertion to maintain application security.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3303027" y="5473824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Ensure variable data strictly adheres to expected formatting and length limits.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9366888" y="5473823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 the final assembled prompts during debugging to verify correct insertion.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12071770" y="2165770"/>
            <a:ext cx="5409764" cy="2769083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Inject relevant contextual data like user history or retrieved database records.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Handling Tokens and Truncation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2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83" name="Google Shape;283;p2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26"/>
          <p:cNvSpPr txBox="1"/>
          <p:nvPr/>
        </p:nvSpPr>
        <p:spPr>
          <a:xfrm>
            <a:off x="502391" y="2167708"/>
            <a:ext cx="1036880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Every API request is constrained by strict maximum token processing limits.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dedicated tokenizer libraries to count tokens before sending the request.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intelligent truncation strategies to shorten text without losing critical meaning.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Prioritize retaining the most recent or relevant information during content truncation.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Monitor token usage continuously to optimize ongoing operational API costs.</a:t>
            </a:r>
            <a:endParaRPr/>
          </a:p>
        </p:txBody>
      </p:sp>
      <p:pic>
        <p:nvPicPr>
          <p:cNvPr id="286" name="Google Shape;28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8638" y="2678924"/>
            <a:ext cx="5679758" cy="433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Managing Long-Context Prompts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2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95" name="Google Shape;295;p2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27"/>
          <p:cNvSpPr txBox="1"/>
          <p:nvPr/>
        </p:nvSpPr>
        <p:spPr>
          <a:xfrm>
            <a:off x="7208538" y="2394825"/>
            <a:ext cx="10337039" cy="4819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supports massive context windows for analyzing extensive documents simultaneously.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Place the most crucial instructions at the very end of long prompts.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Structure long texts with clear headings and distinct structural XML markers.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Provide explicit indexing or reference points within the provided large context.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including irrelevant filler data that might distract the model's attention.</a:t>
            </a:r>
            <a:endParaRPr/>
          </a:p>
        </p:txBody>
      </p:sp>
      <p:pic>
        <p:nvPicPr>
          <p:cNvPr id="298" name="Google Shape;29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156459"/>
            <a:ext cx="6109133" cy="5204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Context Management Strategies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2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07" name="Google Shape;307;p2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28"/>
          <p:cNvSpPr/>
          <p:nvPr/>
        </p:nvSpPr>
        <p:spPr>
          <a:xfrm>
            <a:off x="809580" y="1926001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APIs are inherently stateless and forget previous interactions immediately after completion.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809580" y="3346104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Developers must manually supply the necessary conversational context with every request.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809580" y="4766207"/>
            <a:ext cx="16668839" cy="119536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Careful context management prevents exceeding limits while maintaining conversational coherence.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809583" y="6186310"/>
            <a:ext cx="16668686" cy="119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Determine exactly how much historical data is strictly necessary for success.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809580" y="7606426"/>
            <a:ext cx="16668686" cy="119538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Balance context richness against the increased latency and higher processing costs.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Preserving Conversation State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2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22" name="Google Shape;322;p2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29"/>
          <p:cNvSpPr txBox="1"/>
          <p:nvPr/>
        </p:nvSpPr>
        <p:spPr>
          <a:xfrm>
            <a:off x="502391" y="2234258"/>
            <a:ext cx="9686638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Assign unique session identifiers to track individual user conversation threads effectively.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Store conversation logs securely within a robust backend database infrastructure.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Append each new user message and model response to the active array.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Fetch and inject this organized array structure into subsequent API calls.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automatic expiration policies for inactive conversation sessions to save storage.</a:t>
            </a:r>
            <a:endParaRPr/>
          </a:p>
        </p:txBody>
      </p:sp>
      <p:pic>
        <p:nvPicPr>
          <p:cNvPr id="325" name="Google Shape;32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03391" y="2714625"/>
            <a:ext cx="6019800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Passing Documents and Code Snippets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3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34" name="Google Shape;334;p3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30"/>
          <p:cNvSpPr/>
          <p:nvPr/>
        </p:nvSpPr>
        <p:spPr>
          <a:xfrm>
            <a:off x="1155122" y="2362438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Inject entire documents directly into the prompt using clear delimiting tags.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6836034" y="2362438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code snippets, explicitly state the programming language for better formatting.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3861793" y="6029072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Extract and pass only the relevant document chunks to drastically save tokens.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9503256" y="6029072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 the model to cite specific lines when analyzing provided code.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12516946" y="2383482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Group related documents together chronologically or logically to aid model comprehension.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Optimizing Context Limits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3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3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49" name="Google Shape;349;p3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31"/>
          <p:cNvSpPr txBox="1"/>
          <p:nvPr/>
        </p:nvSpPr>
        <p:spPr>
          <a:xfrm>
            <a:off x="7099267" y="2135613"/>
            <a:ext cx="1019537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a sliding window approach to drop the oldest conversation turns.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Summarize older interactions periodically to retain core meaning using fewer tokens.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semantic search to retrieve only contextually relevant data chunks dynamically.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Compress repetitive code patterns before sending them to the API endpoint.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Constantly evaluate if your chosen context optimization degrades the output quality.</a:t>
            </a:r>
            <a:endParaRPr/>
          </a:p>
        </p:txBody>
      </p:sp>
      <p:pic>
        <p:nvPicPr>
          <p:cNvPr id="352" name="Google Shape;35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551081"/>
            <a:ext cx="6410325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Model Context Protocol (MCP) Basics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" name="Google Shape;359;p3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3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61" name="Google Shape;361;p3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32"/>
          <p:cNvSpPr txBox="1"/>
          <p:nvPr/>
        </p:nvSpPr>
        <p:spPr>
          <a:xfrm>
            <a:off x="502391" y="2039948"/>
            <a:ext cx="9918866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MCP is an open standard connecting AI models securely to external data.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standardizes how models request and consume information from distinct systems.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MCP eliminates the need to build custom integration bridges from scratch.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creates a unified framework for seamless tool and data orchestration.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protocol dramatically accelerates the development of complex agentic AI applications.</a:t>
            </a:r>
            <a:endParaRPr/>
          </a:p>
        </p:txBody>
      </p:sp>
      <p:pic>
        <p:nvPicPr>
          <p:cNvPr id="364" name="Google Shape;36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55846" y="2436366"/>
            <a:ext cx="51625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Integrating MCP Tools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" name="Google Shape;371;p3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73" name="Google Shape;373;p3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5" name="Google Shape;375;p33"/>
          <p:cNvSpPr/>
          <p:nvPr/>
        </p:nvSpPr>
        <p:spPr>
          <a:xfrm>
            <a:off x="136954" y="2453640"/>
            <a:ext cx="5759928" cy="2822669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Configure basic tools to grant Claude specific actions like database queries.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6197763" y="2453640"/>
            <a:ext cx="5759928" cy="2822669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Define exact input schemas so the model understands required tool parameters.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3056929" y="5787130"/>
            <a:ext cx="5759928" cy="2822669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Your backend executes the chosen tool and returns results to Claude.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9197078" y="5787129"/>
            <a:ext cx="5759928" cy="2822669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Handle tool execution failures gracefully to maintain a stable user experience.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12258572" y="2481767"/>
            <a:ext cx="5759928" cy="2822669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model decides autonomously when invoking a specific tool is appropriate.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Activity - Reviewing API Architecture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6" name="Google Shape;386;p3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88" name="Google Shape;388;p3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34"/>
          <p:cNvSpPr/>
          <p:nvPr/>
        </p:nvSpPr>
        <p:spPr>
          <a:xfrm>
            <a:off x="1343220" y="197774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Review three different proposed architectures for integrating the Claude API securely.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1343220" y="349245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Analyze the provided code snippets for potential prompt injection vulnerability risks.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1343220" y="500716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Examine the context management strategy proposed for an enterprise chatbot solution.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1343220" y="6521874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flaws in how the suggested architectures handle session state persistence.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1343220" y="8036585"/>
            <a:ext cx="15320891" cy="12947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Prepare notes on efficiency, security, and scalability for each proposed solution.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Activity - Decision and Justification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3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p3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403" name="Google Shape;403;p3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35"/>
          <p:cNvSpPr txBox="1"/>
          <p:nvPr/>
        </p:nvSpPr>
        <p:spPr>
          <a:xfrm>
            <a:off x="7099267" y="2135613"/>
            <a:ext cx="1019537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Trainees must now evaluate the previously generated AI architecture integration suggestions.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They then decide which suggestions to accept and justify why explicitly.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Compare the chosen approach against critical performance metrics and budget constraints.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Explain how the selected architecture best handles context persistence and security.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Present the final validated architecture decision to the group for feedback.</a:t>
            </a:r>
            <a:endParaRPr/>
          </a:p>
        </p:txBody>
      </p:sp>
      <p:grpSp>
        <p:nvGrpSpPr>
          <p:cNvPr id="406" name="Google Shape;406;p35"/>
          <p:cNvGrpSpPr/>
          <p:nvPr/>
        </p:nvGrpSpPr>
        <p:grpSpPr>
          <a:xfrm>
            <a:off x="502391" y="2480929"/>
            <a:ext cx="5591175" cy="4664679"/>
            <a:chOff x="993354" y="2377440"/>
            <a:chExt cx="5591175" cy="4664679"/>
          </a:xfrm>
        </p:grpSpPr>
        <p:pic>
          <p:nvPicPr>
            <p:cNvPr id="407" name="Google Shape;407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93354" y="2584419"/>
              <a:ext cx="5591175" cy="44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5"/>
            <p:cNvSpPr/>
            <p:nvPr/>
          </p:nvSpPr>
          <p:spPr>
            <a:xfrm>
              <a:off x="993354" y="2377440"/>
              <a:ext cx="766300" cy="6248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p3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417" name="Google Shape;417;p3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36"/>
          <p:cNvSpPr txBox="1"/>
          <p:nvPr/>
        </p:nvSpPr>
        <p:spPr>
          <a:xfrm>
            <a:off x="502391" y="2227530"/>
            <a:ext cx="981508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explored core API concepts including secure authentication and endpoint routing.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learned to implement programmatic prompt engineering using dynamic variable templates.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covered vital strategies for handling tokens and managing long contexts.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discussed preserving state and utilizing the Model Context Protocol effectively.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practiced making architectural decisions by accepting and justifying specific suggestions.</a:t>
            </a:r>
            <a:endParaRPr/>
          </a:p>
        </p:txBody>
      </p:sp>
      <p:pic>
        <p:nvPicPr>
          <p:cNvPr id="420" name="Google Shape;42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99643" y="2592656"/>
            <a:ext cx="6222779" cy="4619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37"/>
          <p:cNvGrpSpPr/>
          <p:nvPr/>
        </p:nvGrpSpPr>
        <p:grpSpPr>
          <a:xfrm>
            <a:off x="-378374" y="-159439"/>
            <a:ext cx="19123574" cy="10605878"/>
            <a:chOff x="0" y="0"/>
            <a:chExt cx="24451818" cy="13783818"/>
          </a:xfrm>
        </p:grpSpPr>
        <p:sp>
          <p:nvSpPr>
            <p:cNvPr id="427" name="Google Shape;427;p37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28" name="Google Shape;428;p37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37"/>
          <p:cNvSpPr txBox="1"/>
          <p:nvPr/>
        </p:nvSpPr>
        <p:spPr>
          <a:xfrm>
            <a:off x="10582298" y="6464001"/>
            <a:ext cx="3196186" cy="45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www.zarantech.com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10134151" y="6485798"/>
            <a:ext cx="381880" cy="399958"/>
          </a:xfrm>
          <a:custGeom>
            <a:rect b="b" l="l" r="r" t="t"/>
            <a:pathLst>
              <a:path extrusionOk="0" h="399958" w="381880">
                <a:moveTo>
                  <a:pt x="0" y="0"/>
                </a:moveTo>
                <a:lnTo>
                  <a:pt x="381880" y="0"/>
                </a:lnTo>
                <a:lnTo>
                  <a:pt x="381880" y="399958"/>
                </a:lnTo>
                <a:lnTo>
                  <a:pt x="0" y="399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1" name="Google Shape;431;p37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2" name="Google Shape;432;p37"/>
          <p:cNvSpPr txBox="1"/>
          <p:nvPr/>
        </p:nvSpPr>
        <p:spPr>
          <a:xfrm>
            <a:off x="10134151" y="3262096"/>
            <a:ext cx="6115454" cy="2736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For more informative Videos, Subscribe to our YouTube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7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4" name="Google Shape;434;p37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392265" y="-185528"/>
            <a:ext cx="9275007" cy="1062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