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14"/>
    <p:sldId id="277" r:id="rId13"/>
    <p:sldId id="278" r:id="rId12"/>
    <p:sldId id="279" r:id="rId11"/>
    <p:sldId id="280" r:id="rId10"/>
    <p:sldId id="281" r:id="rId8"/>
  </p:sldIdLst>
  <p:sldSz cy="10287000" cx="18288000"/>
  <p:notesSz cx="6858000" cy="9144000"/>
  <p:embeddedFontLst>
    <p:embeddedFont>
      <p:font typeface="Lato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23.xml"/><Relationship Id="rId10" Type="http://schemas.openxmlformats.org/officeDocument/2006/relationships/slide" Target="slides/slide22.xml"/><Relationship Id="rId11" Type="http://schemas.openxmlformats.org/officeDocument/2006/relationships/slide" Target="slides/slide21.xml"/><Relationship Id="rId12" Type="http://schemas.openxmlformats.org/officeDocument/2006/relationships/slide" Target="slides/slide20.xml"/><Relationship Id="rId13" Type="http://schemas.openxmlformats.org/officeDocument/2006/relationships/slide" Target="slides/slide19.xml"/><Relationship Id="rId14" Type="http://schemas.openxmlformats.org/officeDocument/2006/relationships/slide" Target="slides/slide18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font" Target="fonts/Lato-regular.fntdata"/><Relationship Id="rId32" Type="http://schemas.openxmlformats.org/officeDocument/2006/relationships/font" Target="fonts/Lato-bold.fntdata"/><Relationship Id="rId33" Type="http://schemas.openxmlformats.org/officeDocument/2006/relationships/font" Target="fonts/Lato-italic.fntdata"/><Relationship Id="rId34" Type="http://schemas.openxmlformats.org/officeDocument/2006/relationships/font" Target="fonts/Lato-boldItalic.fntdata"/><Relationship Id="rId35" Type="http://schemas.openxmlformats.org/officeDocument/2006/relationships/font" Target="fonts/OpenSans-regular.fntdata"/><Relationship Id="rId36" Type="http://schemas.openxmlformats.org/officeDocument/2006/relationships/font" Target="fonts/OpenSans-bold.fntdata"/><Relationship Id="rId37" Type="http://schemas.openxmlformats.org/officeDocument/2006/relationships/font" Target="fonts/OpenSans-italic.fntdata"/><Relationship Id="rId38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Module 4 Facilitator Recording Deck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Building with the Claude API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Total runtime: 87 minutes across 11 videos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TRAINER ONLY. Do not publish and do not show on camera.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deck names planted defects. A learner who sees it loses the exercises.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Full narration is in 02-facilitator/recording-script.md.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Breakdown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4.1: Module opening, the key check, what the API actually is, authentication headers (7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4.2: Tier selection, request parameters, environment configuration, request and... (6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4.3: Prompt engineering in code, system versus user, shaping the response,... (7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4.4: Tokens and truncation, long context, context management, conversation state,... (6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4.5: Prompt caching, and MCP as context rather than as a task (4 min)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Breakdown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4.6: Exercise 10, configure the key and make the first call (12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4.7: Exercise 11 Part 1, build the CLI and the two templates (11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4.8: Exercise 11 Part 2, attack it, then compare against the reference (11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4.9: Exercise 12 Part 1, statelessness, crude multi-turn, the naive window (9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4.10: Exercise 12 Part 2, why recency failed, relevance rules, assembly (9 min)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Breakdown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4.11: Module close and the capstone brief handover (5 min)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4.1: The key check, and what the API actually is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 minutes | deck, then terminal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3, agenda, briefly.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4, the section map. Read the three exercise durations off it and the line about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Cut to the terminal. python verify_key.py. Let the full output sit on screen.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Back to slide 5, then slide 6.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4.1: The key check, and what the API actually is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open .env in this video. It is opened once, in video 4.6, deliberately.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run echo $ANTHROPIC_API_KEY, env, printenv or cat .env, not even to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verify_key.py makes a live call, so it can fail on camera for reasons that are not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4.2: Tiers, parameters, and configuration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7, 8, 9, 10 in order. Nothing but the deck.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7 carries the three tier names in its body text. Tier names are not version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read any model identifier aloud at any point in this video.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7's shapes are laid out as a diagram rather than a bullet list, so the reading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4.3: Prompt engineering in code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11 through 15. Hold on slide 13 for around 2 minutes of the 7.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demonstrate prefill in a live call here. There is no terminal in this video,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preview Exercise 11's strong template on this slide. The learner is supposed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4.4: Tokens, long context, and conversation state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16 through 21, six slides, one minute each.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spoil Exercise 12. No mention of recency being a poor proxy for importance,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17 says "massive context windows". Do not quote a number. Numbers here date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4.5: Prompt caching, and MCP in one shot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22, held. Then 23 and 24 quickly.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quote cache pricing, a discount percentage, a minimum token count or a cache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open a pricing or usage page to illustrate the saving.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promise a cost reduction figure. Describe the mechanism.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4.6: Exercise 10, the key and the first call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 minutes | terminal, then editor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cd into the Exercise 10 starter folder. Short path, no home directory in it.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Create the virtual environment, activate, install the two packages. Cut the install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echo ".env" &gt; .gitignore, then cat .gitignore. That is a safe file to display.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Create .env in the editor. Type the two variable names. Paste the key value.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4.6: Exercise 10, the key and the first call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.env frame is the single highest-risk frame in the programme. It carries both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read the model identifier aloud while .env is on screen. Say "the identifier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curl response body is short and safe. Confirm off camera that your terminal is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4.7: Exercise 11 Part 1, build the CLI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 minutes | editor, then terminal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four-file project layout in a folder outside the course repo.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prompt_template.py with both versions in it, weak above strong.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call function, kept separate. Say that Exercise 15 depends on that separation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__main__ guard with the usage exit.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4.7: Exercise 11 Part 1, build the CLI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Copy .env across, and write .gitignore before you do. If you copy .env into a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open starter/cli_reference.py in this video. The comparison in Part 2 is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cli_reference.py's header comment says "Module 4, Lab B target state". "Lab B" is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4.8: Exercise 11 Part 2, attack it and compare it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 minutes | terminal, then editor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A published video cannot promise how a model will behave. Say "watch what changes"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put a real injection payload aimed at a real system on screen. The two in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exit-code discussion needs echo $? in frame. That is safe. echo of anything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4.9: Exercise 12 Part 1, statelessness and the...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 minutes | editor, then terminal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two-call script and its failure.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crude history version working.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history_starter.py, scrolled to show HISTORY and CURRENT_REQUEST only.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three-line select_messages window, and the printed selection.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4.9: Exercise 12 Part 1, statelessness and the...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spoil which messages matter. Do not slow down on any individual message,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history_starter.py line 40 carries a comment reading "decisions are the signal, and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mention word overlap, relevance, or pinning in this video. Both bad proxies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4.10: Exercise 12 Part 2, why recency failed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 minutes | editor, then terminal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relevance rules, written out.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overlap filter wired into select_messages, and the selection it prints.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classification prompt in the browser or in a comment block, and the selection that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Two responses side by side, the Step 5 one and the new one.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4.10: Exercise 12 Part 2, why recency failed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Keep the Step 5 response from video 4.9 available. You cannot show a comparison you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change the filter and the prompt in the same step on camera. Two changes give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Still do not show the bottom of history_starter.py.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4.11: Module close, and your capstone brief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 minutes | deck, then docs/capstone-brief.md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25, 26, 27.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docs/capstone-brief.md, scrolled to the rubric table and then to the gates table.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25 in the revised deck has a defect. The rewritten five-bullet block was added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read the rubric point by point. Read the weights and the gates, and tell them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4.11: Module close, and your capstone brief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put a submission date on screen. The brief says learners submit against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What This Module Fails Without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credential and a model identifier are both configuration, they belong outside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There is one messages endpoint with the model in the request body, the documented key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prompt boundary needs a marker and a rule together, and even then it raises the cost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API is stateless, so conversation is something you build by resending, and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Recency and word overlap are both proxies for importance and both fail in the same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